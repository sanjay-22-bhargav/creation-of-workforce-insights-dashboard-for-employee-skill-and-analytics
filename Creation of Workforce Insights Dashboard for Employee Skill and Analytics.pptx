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0"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9144000" cy="5143500" type="screen16x9"/>
  <p:notesSz cx="6858000" cy="9144000"/>
  <p:embeddedFontLst>
    <p:embeddedFont>
      <p:font typeface="Plus Jakarta Sans" panose="020B0604020202020204" charset="0"/>
      <p:regular r:id="rId15"/>
      <p:bold r:id="rId16"/>
      <p:italic r:id="rId17"/>
      <p:boldItalic r:id="rId18"/>
    </p:embeddedFont>
    <p:embeddedFont>
      <p:font typeface="Plus Jakarta Sans ExtraBold" panose="020B0604020202020204" charset="0"/>
      <p:bold r:id="rId19"/>
      <p:boldItalic r:id="rId20"/>
    </p:embeddedFont>
    <p:embeddedFont>
      <p:font typeface="Plus Jakarta Sans Medium" panose="020B0604020202020204" charset="0"/>
      <p:regular r:id="rId21"/>
      <p:bold r:id="rId22"/>
      <p:italic r:id="rId23"/>
      <p:boldItalic r:id="rId24"/>
    </p:embeddedFont>
    <p:embeddedFont>
      <p:font typeface="Plus Jakarta Sans SemiBold" panose="020B0604020202020204" charset="0"/>
      <p:regular r:id="rId25"/>
      <p:bold r:id="rId26"/>
      <p:italic r:id="rId27"/>
      <p:boldItalic r:id="rId28"/>
    </p:embeddedFont>
    <p:embeddedFont>
      <p:font typeface="Space Grotesk" panose="020B0604020202020204" charset="0"/>
      <p:bold r:id="rId29"/>
    </p:embeddedFont>
    <p:embeddedFont>
      <p:font typeface="Space Grotesk Medium" panose="020B0604020202020204" charset="0"/>
      <p:regular r:id="rId30"/>
      <p:bold r:id="rId31"/>
    </p:embeddedFont>
    <p:embeddedFont>
      <p:font typeface="Space Grotesk SemiBold" panose="020B0604020202020204" charset="0"/>
      <p:regular r:id="rId32"/>
      <p:bold r:id="rId3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9D19755-EC6E-434C-AF6B-4CC3A51894DB}" v="28" dt="2026-09-11T18:51:48.48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20" d="100"/>
          <a:sy n="120" d="100"/>
        </p:scale>
        <p:origin x="370" y="7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4.fntdata"/><Relationship Id="rId26" Type="http://schemas.openxmlformats.org/officeDocument/2006/relationships/font" Target="fonts/font12.fntdata"/><Relationship Id="rId39" Type="http://schemas.microsoft.com/office/2015/10/relationships/revisionInfo" Target="revisionInfo.xml"/><Relationship Id="rId21" Type="http://schemas.openxmlformats.org/officeDocument/2006/relationships/font" Target="fonts/font7.fntdata"/><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5" Type="http://schemas.openxmlformats.org/officeDocument/2006/relationships/font" Target="fonts/font11.fntdata"/><Relationship Id="rId33" Type="http://schemas.openxmlformats.org/officeDocument/2006/relationships/font" Target="fonts/font19.fntdata"/><Relationship Id="rId38"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font" Target="fonts/font6.fntdata"/><Relationship Id="rId29" Type="http://schemas.openxmlformats.org/officeDocument/2006/relationships/font" Target="fonts/font1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0.fntdata"/><Relationship Id="rId32" Type="http://schemas.openxmlformats.org/officeDocument/2006/relationships/font" Target="fonts/font18.fntdata"/><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font" Target="fonts/font9.fntdata"/><Relationship Id="rId28" Type="http://schemas.openxmlformats.org/officeDocument/2006/relationships/font" Target="fonts/font14.fntdata"/><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5.fntdata"/><Relationship Id="rId31" Type="http://schemas.openxmlformats.org/officeDocument/2006/relationships/font" Target="fonts/font1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font" Target="fonts/font8.fntdata"/><Relationship Id="rId27" Type="http://schemas.openxmlformats.org/officeDocument/2006/relationships/font" Target="fonts/font13.fntdata"/><Relationship Id="rId30" Type="http://schemas.openxmlformats.org/officeDocument/2006/relationships/font" Target="fonts/font16.fntdata"/><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njay bhargav" userId="a7b4d1a002f3d6b9" providerId="LiveId" clId="{CB3CD8F0-505C-4A39-9E9F-1A002F0DBC39}"/>
    <pc:docChg chg="modSld modMainMaster">
      <pc:chgData name="Sanjay bhargav" userId="a7b4d1a002f3d6b9" providerId="LiveId" clId="{CB3CD8F0-505C-4A39-9E9F-1A002F0DBC39}" dt="2026-09-11T18:51:48.486" v="41"/>
      <pc:docMkLst>
        <pc:docMk/>
      </pc:docMkLst>
      <pc:sldChg chg="modSp mod modTransition">
        <pc:chgData name="Sanjay bhargav" userId="a7b4d1a002f3d6b9" providerId="LiveId" clId="{CB3CD8F0-505C-4A39-9E9F-1A002F0DBC39}" dt="2026-09-11T18:51:48.486" v="41"/>
        <pc:sldMkLst>
          <pc:docMk/>
          <pc:sldMk cId="0" sldId="256"/>
        </pc:sldMkLst>
        <pc:spChg chg="mod">
          <ac:chgData name="Sanjay bhargav" userId="a7b4d1a002f3d6b9" providerId="LiveId" clId="{CB3CD8F0-505C-4A39-9E9F-1A002F0DBC39}" dt="2026-09-11T18:43:12.834" v="13" actId="14100"/>
          <ac:spMkLst>
            <pc:docMk/>
            <pc:sldMk cId="0" sldId="256"/>
            <ac:spMk id="69" creationId="{00000000-0000-0000-0000-000000000000}"/>
          </ac:spMkLst>
        </pc:spChg>
        <pc:spChg chg="mod">
          <ac:chgData name="Sanjay bhargav" userId="a7b4d1a002f3d6b9" providerId="LiveId" clId="{CB3CD8F0-505C-4A39-9E9F-1A002F0DBC39}" dt="2026-09-11T18:43:33.561" v="16" actId="14100"/>
          <ac:spMkLst>
            <pc:docMk/>
            <pc:sldMk cId="0" sldId="256"/>
            <ac:spMk id="70" creationId="{00000000-0000-0000-0000-000000000000}"/>
          </ac:spMkLst>
        </pc:spChg>
      </pc:sldChg>
      <pc:sldChg chg="modTransition">
        <pc:chgData name="Sanjay bhargav" userId="a7b4d1a002f3d6b9" providerId="LiveId" clId="{CB3CD8F0-505C-4A39-9E9F-1A002F0DBC39}" dt="2026-09-11T18:51:48.486" v="41"/>
        <pc:sldMkLst>
          <pc:docMk/>
          <pc:sldMk cId="0" sldId="257"/>
        </pc:sldMkLst>
      </pc:sldChg>
      <pc:sldChg chg="modTransition">
        <pc:chgData name="Sanjay bhargav" userId="a7b4d1a002f3d6b9" providerId="LiveId" clId="{CB3CD8F0-505C-4A39-9E9F-1A002F0DBC39}" dt="2026-09-11T18:51:48.486" v="41"/>
        <pc:sldMkLst>
          <pc:docMk/>
          <pc:sldMk cId="0" sldId="258"/>
        </pc:sldMkLst>
      </pc:sldChg>
      <pc:sldChg chg="modTransition">
        <pc:chgData name="Sanjay bhargav" userId="a7b4d1a002f3d6b9" providerId="LiveId" clId="{CB3CD8F0-505C-4A39-9E9F-1A002F0DBC39}" dt="2026-09-11T18:51:48.486" v="41"/>
        <pc:sldMkLst>
          <pc:docMk/>
          <pc:sldMk cId="0" sldId="259"/>
        </pc:sldMkLst>
      </pc:sldChg>
      <pc:sldChg chg="modTransition">
        <pc:chgData name="Sanjay bhargav" userId="a7b4d1a002f3d6b9" providerId="LiveId" clId="{CB3CD8F0-505C-4A39-9E9F-1A002F0DBC39}" dt="2026-09-11T18:51:48.486" v="41"/>
        <pc:sldMkLst>
          <pc:docMk/>
          <pc:sldMk cId="0" sldId="260"/>
        </pc:sldMkLst>
      </pc:sldChg>
      <pc:sldChg chg="modSp mod modTransition">
        <pc:chgData name="Sanjay bhargav" userId="a7b4d1a002f3d6b9" providerId="LiveId" clId="{CB3CD8F0-505C-4A39-9E9F-1A002F0DBC39}" dt="2026-09-11T18:51:48.486" v="41"/>
        <pc:sldMkLst>
          <pc:docMk/>
          <pc:sldMk cId="0" sldId="261"/>
        </pc:sldMkLst>
        <pc:spChg chg="mod">
          <ac:chgData name="Sanjay bhargav" userId="a7b4d1a002f3d6b9" providerId="LiveId" clId="{CB3CD8F0-505C-4A39-9E9F-1A002F0DBC39}" dt="2026-09-11T18:28:35.392" v="9" actId="20577"/>
          <ac:spMkLst>
            <pc:docMk/>
            <pc:sldMk cId="0" sldId="261"/>
            <ac:spMk id="268" creationId="{00000000-0000-0000-0000-000000000000}"/>
          </ac:spMkLst>
        </pc:spChg>
      </pc:sldChg>
      <pc:sldChg chg="modTransition">
        <pc:chgData name="Sanjay bhargav" userId="a7b4d1a002f3d6b9" providerId="LiveId" clId="{CB3CD8F0-505C-4A39-9E9F-1A002F0DBC39}" dt="2026-09-11T18:51:48.486" v="41"/>
        <pc:sldMkLst>
          <pc:docMk/>
          <pc:sldMk cId="0" sldId="262"/>
        </pc:sldMkLst>
      </pc:sldChg>
      <pc:sldChg chg="modTransition">
        <pc:chgData name="Sanjay bhargav" userId="a7b4d1a002f3d6b9" providerId="LiveId" clId="{CB3CD8F0-505C-4A39-9E9F-1A002F0DBC39}" dt="2026-09-11T18:51:48.486" v="41"/>
        <pc:sldMkLst>
          <pc:docMk/>
          <pc:sldMk cId="0" sldId="263"/>
        </pc:sldMkLst>
      </pc:sldChg>
      <pc:sldChg chg="modTransition">
        <pc:chgData name="Sanjay bhargav" userId="a7b4d1a002f3d6b9" providerId="LiveId" clId="{CB3CD8F0-505C-4A39-9E9F-1A002F0DBC39}" dt="2026-09-11T18:51:48.486" v="41"/>
        <pc:sldMkLst>
          <pc:docMk/>
          <pc:sldMk cId="0" sldId="264"/>
        </pc:sldMkLst>
      </pc:sldChg>
      <pc:sldChg chg="modTransition">
        <pc:chgData name="Sanjay bhargav" userId="a7b4d1a002f3d6b9" providerId="LiveId" clId="{CB3CD8F0-505C-4A39-9E9F-1A002F0DBC39}" dt="2026-09-11T18:51:48.486" v="41"/>
        <pc:sldMkLst>
          <pc:docMk/>
          <pc:sldMk cId="0" sldId="265"/>
        </pc:sldMkLst>
      </pc:sldChg>
      <pc:sldChg chg="modTransition">
        <pc:chgData name="Sanjay bhargav" userId="a7b4d1a002f3d6b9" providerId="LiveId" clId="{CB3CD8F0-505C-4A39-9E9F-1A002F0DBC39}" dt="2026-09-11T18:51:48.486" v="41"/>
        <pc:sldMkLst>
          <pc:docMk/>
          <pc:sldMk cId="0" sldId="266"/>
        </pc:sldMkLst>
      </pc:sldChg>
      <pc:sldChg chg="modTransition">
        <pc:chgData name="Sanjay bhargav" userId="a7b4d1a002f3d6b9" providerId="LiveId" clId="{CB3CD8F0-505C-4A39-9E9F-1A002F0DBC39}" dt="2026-09-11T18:51:48.486" v="41"/>
        <pc:sldMkLst>
          <pc:docMk/>
          <pc:sldMk cId="0" sldId="267"/>
        </pc:sldMkLst>
      </pc:sldChg>
      <pc:sldMasterChg chg="modTransition modSldLayout">
        <pc:chgData name="Sanjay bhargav" userId="a7b4d1a002f3d6b9" providerId="LiveId" clId="{CB3CD8F0-505C-4A39-9E9F-1A002F0DBC39}" dt="2026-09-11T18:51:48.486" v="41"/>
        <pc:sldMasterMkLst>
          <pc:docMk/>
          <pc:sldMasterMk cId="0" sldId="2147483660"/>
        </pc:sldMasterMkLst>
        <pc:sldLayoutChg chg="modTransition">
          <pc:chgData name="Sanjay bhargav" userId="a7b4d1a002f3d6b9" providerId="LiveId" clId="{CB3CD8F0-505C-4A39-9E9F-1A002F0DBC39}" dt="2026-09-11T18:51:48.486" v="41"/>
          <pc:sldLayoutMkLst>
            <pc:docMk/>
            <pc:sldMasterMk cId="0" sldId="2147483660"/>
            <pc:sldLayoutMk cId="0" sldId="2147483648"/>
          </pc:sldLayoutMkLst>
        </pc:sldLayoutChg>
        <pc:sldLayoutChg chg="modTransition">
          <pc:chgData name="Sanjay bhargav" userId="a7b4d1a002f3d6b9" providerId="LiveId" clId="{CB3CD8F0-505C-4A39-9E9F-1A002F0DBC39}" dt="2026-09-11T18:51:48.486" v="41"/>
          <pc:sldLayoutMkLst>
            <pc:docMk/>
            <pc:sldMasterMk cId="0" sldId="2147483660"/>
            <pc:sldLayoutMk cId="0" sldId="2147483649"/>
          </pc:sldLayoutMkLst>
        </pc:sldLayoutChg>
        <pc:sldLayoutChg chg="modTransition">
          <pc:chgData name="Sanjay bhargav" userId="a7b4d1a002f3d6b9" providerId="LiveId" clId="{CB3CD8F0-505C-4A39-9E9F-1A002F0DBC39}" dt="2026-09-11T18:51:48.486" v="41"/>
          <pc:sldLayoutMkLst>
            <pc:docMk/>
            <pc:sldMasterMk cId="0" sldId="2147483660"/>
            <pc:sldLayoutMk cId="0" sldId="2147483650"/>
          </pc:sldLayoutMkLst>
        </pc:sldLayoutChg>
        <pc:sldLayoutChg chg="modTransition">
          <pc:chgData name="Sanjay bhargav" userId="a7b4d1a002f3d6b9" providerId="LiveId" clId="{CB3CD8F0-505C-4A39-9E9F-1A002F0DBC39}" dt="2026-09-11T18:51:48.486" v="41"/>
          <pc:sldLayoutMkLst>
            <pc:docMk/>
            <pc:sldMasterMk cId="0" sldId="2147483660"/>
            <pc:sldLayoutMk cId="0" sldId="2147483651"/>
          </pc:sldLayoutMkLst>
        </pc:sldLayoutChg>
        <pc:sldLayoutChg chg="modTransition">
          <pc:chgData name="Sanjay bhargav" userId="a7b4d1a002f3d6b9" providerId="LiveId" clId="{CB3CD8F0-505C-4A39-9E9F-1A002F0DBC39}" dt="2026-09-11T18:51:48.486" v="41"/>
          <pc:sldLayoutMkLst>
            <pc:docMk/>
            <pc:sldMasterMk cId="0" sldId="2147483660"/>
            <pc:sldLayoutMk cId="0" sldId="2147483652"/>
          </pc:sldLayoutMkLst>
        </pc:sldLayoutChg>
        <pc:sldLayoutChg chg="modTransition">
          <pc:chgData name="Sanjay bhargav" userId="a7b4d1a002f3d6b9" providerId="LiveId" clId="{CB3CD8F0-505C-4A39-9E9F-1A002F0DBC39}" dt="2026-09-11T18:51:48.486" v="41"/>
          <pc:sldLayoutMkLst>
            <pc:docMk/>
            <pc:sldMasterMk cId="0" sldId="2147483660"/>
            <pc:sldLayoutMk cId="0" sldId="2147483653"/>
          </pc:sldLayoutMkLst>
        </pc:sldLayoutChg>
        <pc:sldLayoutChg chg="modTransition">
          <pc:chgData name="Sanjay bhargav" userId="a7b4d1a002f3d6b9" providerId="LiveId" clId="{CB3CD8F0-505C-4A39-9E9F-1A002F0DBC39}" dt="2026-09-11T18:51:48.486" v="41"/>
          <pc:sldLayoutMkLst>
            <pc:docMk/>
            <pc:sldMasterMk cId="0" sldId="2147483660"/>
            <pc:sldLayoutMk cId="0" sldId="2147483654"/>
          </pc:sldLayoutMkLst>
        </pc:sldLayoutChg>
        <pc:sldLayoutChg chg="modTransition">
          <pc:chgData name="Sanjay bhargav" userId="a7b4d1a002f3d6b9" providerId="LiveId" clId="{CB3CD8F0-505C-4A39-9E9F-1A002F0DBC39}" dt="2026-09-11T18:51:48.486" v="41"/>
          <pc:sldLayoutMkLst>
            <pc:docMk/>
            <pc:sldMasterMk cId="0" sldId="2147483660"/>
            <pc:sldLayoutMk cId="0" sldId="2147483655"/>
          </pc:sldLayoutMkLst>
        </pc:sldLayoutChg>
        <pc:sldLayoutChg chg="modTransition">
          <pc:chgData name="Sanjay bhargav" userId="a7b4d1a002f3d6b9" providerId="LiveId" clId="{CB3CD8F0-505C-4A39-9E9F-1A002F0DBC39}" dt="2026-09-11T18:51:48.486" v="41"/>
          <pc:sldLayoutMkLst>
            <pc:docMk/>
            <pc:sldMasterMk cId="0" sldId="2147483660"/>
            <pc:sldLayoutMk cId="0" sldId="2147483656"/>
          </pc:sldLayoutMkLst>
        </pc:sldLayoutChg>
        <pc:sldLayoutChg chg="modTransition">
          <pc:chgData name="Sanjay bhargav" userId="a7b4d1a002f3d6b9" providerId="LiveId" clId="{CB3CD8F0-505C-4A39-9E9F-1A002F0DBC39}" dt="2026-09-11T18:51:48.486" v="41"/>
          <pc:sldLayoutMkLst>
            <pc:docMk/>
            <pc:sldMasterMk cId="0" sldId="2147483660"/>
            <pc:sldLayoutMk cId="0" sldId="2147483657"/>
          </pc:sldLayoutMkLst>
        </pc:sldLayoutChg>
        <pc:sldLayoutChg chg="modTransition">
          <pc:chgData name="Sanjay bhargav" userId="a7b4d1a002f3d6b9" providerId="LiveId" clId="{CB3CD8F0-505C-4A39-9E9F-1A002F0DBC39}" dt="2026-09-11T18:51:48.486" v="41"/>
          <pc:sldLayoutMkLst>
            <pc:docMk/>
            <pc:sldMasterMk cId="0" sldId="2147483660"/>
            <pc:sldLayoutMk cId="0" sldId="2147483658"/>
          </pc:sldLayoutMkLst>
        </pc:sldLayoutChg>
        <pc:sldLayoutChg chg="modTransition">
          <pc:chgData name="Sanjay bhargav" userId="a7b4d1a002f3d6b9" providerId="LiveId" clId="{CB3CD8F0-505C-4A39-9E9F-1A002F0DBC39}" dt="2026-09-11T18:51:48.486" v="41"/>
          <pc:sldLayoutMkLst>
            <pc:docMk/>
            <pc:sldMasterMk cId="0" sldId="2147483660"/>
            <pc:sldLayoutMk cId="0" sldId="2147483659"/>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3faab4fec9b_27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 name="Google Shape;53;g3faab4fec9b_27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g3faab4fec9b_134_7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 name="Google Shape;73;g3faab4fec9b_134_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g3faab4fec9b_134_23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 name="Google Shape;98;g3faab4fec9b_134_2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g3faab4fec9b_134_42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7" name="Google Shape;147;g3faab4fec9b_134_4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g3faab4fec9b_26_0: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9" name="Google Shape;199;g3faab4fec9b_26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p:cNvGrpSpPr/>
        <p:nvPr/>
      </p:nvGrpSpPr>
      <p:grpSpPr>
        <a:xfrm>
          <a:off x="0" y="0"/>
          <a:ext cx="0" cy="0"/>
          <a:chOff x="0" y="0"/>
          <a:chExt cx="0" cy="0"/>
        </a:xfrm>
      </p:grpSpPr>
      <p:sp>
        <p:nvSpPr>
          <p:cNvPr id="246" name="Google Shape;246;g3faab4fec9b_25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7" name="Google Shape;247;g3faab4fec9b_25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3faab4fec9b_24_0: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3faab4fec9b_24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4"/>
        <p:cNvGrpSpPr/>
        <p:nvPr/>
      </p:nvGrpSpPr>
      <p:grpSpPr>
        <a:xfrm>
          <a:off x="0" y="0"/>
          <a:ext cx="0" cy="0"/>
          <a:chOff x="0" y="0"/>
          <a:chExt cx="0" cy="0"/>
        </a:xfrm>
      </p:grpSpPr>
      <p:sp>
        <p:nvSpPr>
          <p:cNvPr id="355" name="Google Shape;355;g3faab4fec9b_23_0: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6" name="Google Shape;356;g3faab4fec9b_23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7"/>
        <p:cNvGrpSpPr/>
        <p:nvPr/>
      </p:nvGrpSpPr>
      <p:grpSpPr>
        <a:xfrm>
          <a:off x="0" y="0"/>
          <a:ext cx="0" cy="0"/>
          <a:chOff x="0" y="0"/>
          <a:chExt cx="0" cy="0"/>
        </a:xfrm>
      </p:grpSpPr>
      <p:sp>
        <p:nvSpPr>
          <p:cNvPr id="408" name="Google Shape;408;g3faab4fec9b_22_0: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9" name="Google Shape;409;g3faab4fec9b_2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6"/>
        <p:cNvGrpSpPr/>
        <p:nvPr/>
      </p:nvGrpSpPr>
      <p:grpSpPr>
        <a:xfrm>
          <a:off x="0" y="0"/>
          <a:ext cx="0" cy="0"/>
          <a:chOff x="0" y="0"/>
          <a:chExt cx="0" cy="0"/>
        </a:xfrm>
      </p:grpSpPr>
      <p:sp>
        <p:nvSpPr>
          <p:cNvPr id="447" name="Google Shape;447;g3faab4fec9b_21_0: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8" name="Google Shape;448;g3faab4fec9b_2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5"/>
        <p:cNvGrpSpPr/>
        <p:nvPr/>
      </p:nvGrpSpPr>
      <p:grpSpPr>
        <a:xfrm>
          <a:off x="0" y="0"/>
          <a:ext cx="0" cy="0"/>
          <a:chOff x="0" y="0"/>
          <a:chExt cx="0" cy="0"/>
        </a:xfrm>
      </p:grpSpPr>
      <p:sp>
        <p:nvSpPr>
          <p:cNvPr id="496" name="Google Shape;496;g3faab4fec9b_20_0: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7" name="Google Shape;497;g3faab4fec9b_2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5"/>
        <p:cNvGrpSpPr/>
        <p:nvPr/>
      </p:nvGrpSpPr>
      <p:grpSpPr>
        <a:xfrm>
          <a:off x="0" y="0"/>
          <a:ext cx="0" cy="0"/>
          <a:chOff x="0" y="0"/>
          <a:chExt cx="0" cy="0"/>
        </a:xfrm>
      </p:grpSpPr>
      <p:sp>
        <p:nvSpPr>
          <p:cNvPr id="546" name="Google Shape;546;g3faab4fec9b_0_8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7" name="Google Shape;547;g3faab4fec9b_0_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Generated (g3faab4fec9b_18_0)">
  <p:cSld name="Generated (g3faab4fec9b_18_0)">
    <p:spTree>
      <p:nvGrpSpPr>
        <p:cNvPr id="1" name="Shape 9"/>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2500">
        <p14:flash/>
      </p:transition>
    </mc:Choice>
    <mc:Fallback>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0"/>
        <p:cNvGrpSpPr/>
        <p:nvPr/>
      </p:nvGrpSpPr>
      <p:grpSpPr>
        <a:xfrm>
          <a:off x="0" y="0"/>
          <a:ext cx="0" cy="0"/>
          <a:chOff x="0" y="0"/>
          <a:chExt cx="0" cy="0"/>
        </a:xfrm>
      </p:grpSpPr>
      <p:sp>
        <p:nvSpPr>
          <p:cNvPr id="11" name="Google Shape;11;p3"/>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2" name="Google Shape;12;p3"/>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3" name="Google Shape;13;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mc:AlternateContent xmlns:mc="http://schemas.openxmlformats.org/markup-compatibility/2006">
    <mc:Choice xmlns:p14="http://schemas.microsoft.com/office/powerpoint/2010/main" Requires="p14">
      <p:transition spd="slow" p14:dur="2500">
        <p14:flash/>
      </p:transition>
    </mc:Choice>
    <mc:Fallback>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4"/>
        <p:cNvGrpSpPr/>
        <p:nvPr/>
      </p:nvGrpSpPr>
      <p:grpSpPr>
        <a:xfrm>
          <a:off x="0" y="0"/>
          <a:ext cx="0" cy="0"/>
          <a:chOff x="0" y="0"/>
          <a:chExt cx="0" cy="0"/>
        </a:xfrm>
      </p:grpSpPr>
      <p:sp>
        <p:nvSpPr>
          <p:cNvPr id="15" name="Google Shape;15;p4"/>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6" name="Google Shape;16;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mc:AlternateContent xmlns:mc="http://schemas.openxmlformats.org/markup-compatibility/2006">
    <mc:Choice xmlns:p14="http://schemas.microsoft.com/office/powerpoint/2010/main" Requires="p14">
      <p:transition spd="slow" p14:dur="2500">
        <p14:flash/>
      </p:transition>
    </mc:Choice>
    <mc:Fallback>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7"/>
        <p:cNvGrpSpPr/>
        <p:nvPr/>
      </p:nvGrpSpPr>
      <p:grpSpPr>
        <a:xfrm>
          <a:off x="0" y="0"/>
          <a:ext cx="0" cy="0"/>
          <a:chOff x="0" y="0"/>
          <a:chExt cx="0" cy="0"/>
        </a:xfrm>
      </p:grpSpPr>
      <p:sp>
        <p:nvSpPr>
          <p:cNvPr id="18" name="Google Shape;18;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9" name="Google Shape;19;p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20" name="Google Shape;20;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mc:AlternateContent xmlns:mc="http://schemas.openxmlformats.org/markup-compatibility/2006">
    <mc:Choice xmlns:p14="http://schemas.microsoft.com/office/powerpoint/2010/main" Requires="p14">
      <p:transition spd="slow" p14:dur="2500">
        <p14:flash/>
      </p:transition>
    </mc:Choice>
    <mc:Fallback>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1"/>
        <p:cNvGrpSpPr/>
        <p:nvPr/>
      </p:nvGrpSpPr>
      <p:grpSpPr>
        <a:xfrm>
          <a:off x="0" y="0"/>
          <a:ext cx="0" cy="0"/>
          <a:chOff x="0" y="0"/>
          <a:chExt cx="0" cy="0"/>
        </a:xfrm>
      </p:grpSpPr>
      <p:sp>
        <p:nvSpPr>
          <p:cNvPr id="22" name="Google Shape;22;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3" name="Google Shape;23;p6"/>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6"/>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5" name="Google Shape;25;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mc:AlternateContent xmlns:mc="http://schemas.openxmlformats.org/markup-compatibility/2006">
    <mc:Choice xmlns:p14="http://schemas.microsoft.com/office/powerpoint/2010/main" Requires="p14">
      <p:transition spd="slow" p14:dur="2500">
        <p14:flash/>
      </p:transition>
    </mc:Choice>
    <mc:Fallback>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6"/>
        <p:cNvGrpSpPr/>
        <p:nvPr/>
      </p:nvGrpSpPr>
      <p:grpSpPr>
        <a:xfrm>
          <a:off x="0" y="0"/>
          <a:ext cx="0" cy="0"/>
          <a:chOff x="0" y="0"/>
          <a:chExt cx="0" cy="0"/>
        </a:xfrm>
      </p:grpSpPr>
      <p:sp>
        <p:nvSpPr>
          <p:cNvPr id="27" name="Google Shape;27;p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8" name="Google Shape;28;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mc:AlternateContent xmlns:mc="http://schemas.openxmlformats.org/markup-compatibility/2006">
    <mc:Choice xmlns:p14="http://schemas.microsoft.com/office/powerpoint/2010/main" Requires="p14">
      <p:transition spd="slow" p14:dur="2500">
        <p14:flash/>
      </p:transition>
    </mc:Choice>
    <mc:Fallback>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9"/>
        <p:cNvGrpSpPr/>
        <p:nvPr/>
      </p:nvGrpSpPr>
      <p:grpSpPr>
        <a:xfrm>
          <a:off x="0" y="0"/>
          <a:ext cx="0" cy="0"/>
          <a:chOff x="0" y="0"/>
          <a:chExt cx="0" cy="0"/>
        </a:xfrm>
      </p:grpSpPr>
      <p:sp>
        <p:nvSpPr>
          <p:cNvPr id="30" name="Google Shape;30;p8"/>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1" name="Google Shape;31;p8"/>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2" name="Google Shape;32;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mc:AlternateContent xmlns:mc="http://schemas.openxmlformats.org/markup-compatibility/2006">
    <mc:Choice xmlns:p14="http://schemas.microsoft.com/office/powerpoint/2010/main" Requires="p14">
      <p:transition spd="slow" p14:dur="2500">
        <p14:flash/>
      </p:transition>
    </mc:Choice>
    <mc:Fallback>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3"/>
        <p:cNvGrpSpPr/>
        <p:nvPr/>
      </p:nvGrpSpPr>
      <p:grpSpPr>
        <a:xfrm>
          <a:off x="0" y="0"/>
          <a:ext cx="0" cy="0"/>
          <a:chOff x="0" y="0"/>
          <a:chExt cx="0" cy="0"/>
        </a:xfrm>
      </p:grpSpPr>
      <p:sp>
        <p:nvSpPr>
          <p:cNvPr id="34" name="Google Shape;34;p9"/>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5" name="Google Shape;35;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mc:AlternateContent xmlns:mc="http://schemas.openxmlformats.org/markup-compatibility/2006">
    <mc:Choice xmlns:p14="http://schemas.microsoft.com/office/powerpoint/2010/main" Requires="p14">
      <p:transition spd="slow" p14:dur="2500">
        <p14:flash/>
      </p:transition>
    </mc:Choice>
    <mc:Fallback>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6"/>
        <p:cNvGrpSpPr/>
        <p:nvPr/>
      </p:nvGrpSpPr>
      <p:grpSpPr>
        <a:xfrm>
          <a:off x="0" y="0"/>
          <a:ext cx="0" cy="0"/>
          <a:chOff x="0" y="0"/>
          <a:chExt cx="0" cy="0"/>
        </a:xfrm>
      </p:grpSpPr>
      <p:sp>
        <p:nvSpPr>
          <p:cNvPr id="37" name="Google Shape;37;p10"/>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10"/>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9" name="Google Shape;39;p10"/>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40" name="Google Shape;40;p10"/>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1" name="Google Shape;41;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mc:AlternateContent xmlns:mc="http://schemas.openxmlformats.org/markup-compatibility/2006">
    <mc:Choice xmlns:p14="http://schemas.microsoft.com/office/powerpoint/2010/main" Requires="p14">
      <p:transition spd="slow" p14:dur="2500">
        <p14:flash/>
      </p:transition>
    </mc:Choice>
    <mc:Fallback>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2"/>
        <p:cNvGrpSpPr/>
        <p:nvPr/>
      </p:nvGrpSpPr>
      <p:grpSpPr>
        <a:xfrm>
          <a:off x="0" y="0"/>
          <a:ext cx="0" cy="0"/>
          <a:chOff x="0" y="0"/>
          <a:chExt cx="0" cy="0"/>
        </a:xfrm>
      </p:grpSpPr>
      <p:sp>
        <p:nvSpPr>
          <p:cNvPr id="43" name="Google Shape;43;p11"/>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4" name="Google Shape;44;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mc:AlternateContent xmlns:mc="http://schemas.openxmlformats.org/markup-compatibility/2006">
    <mc:Choice xmlns:p14="http://schemas.microsoft.com/office/powerpoint/2010/main" Requires="p14">
      <p:transition spd="slow" p14:dur="2500">
        <p14:flash/>
      </p:transition>
    </mc:Choice>
    <mc:Fallback>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5"/>
        <p:cNvGrpSpPr/>
        <p:nvPr/>
      </p:nvGrpSpPr>
      <p:grpSpPr>
        <a:xfrm>
          <a:off x="0" y="0"/>
          <a:ext cx="0" cy="0"/>
          <a:chOff x="0" y="0"/>
          <a:chExt cx="0" cy="0"/>
        </a:xfrm>
      </p:grpSpPr>
      <p:sp>
        <p:nvSpPr>
          <p:cNvPr id="46" name="Google Shape;46;p12"/>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7" name="Google Shape;47;p12"/>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8" name="Google Shape;48;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mc:AlternateContent xmlns:mc="http://schemas.openxmlformats.org/markup-compatibility/2006">
    <mc:Choice xmlns:p14="http://schemas.microsoft.com/office/powerpoint/2010/main" Requires="p14">
      <p:transition spd="slow" p14:dur="2500">
        <p14:flash/>
      </p:transition>
    </mc:Choice>
    <mc:Fallback>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9"/>
        <p:cNvGrpSpPr/>
        <p:nvPr/>
      </p:nvGrpSpPr>
      <p:grpSpPr>
        <a:xfrm>
          <a:off x="0" y="0"/>
          <a:ext cx="0" cy="0"/>
          <a:chOff x="0" y="0"/>
          <a:chExt cx="0" cy="0"/>
        </a:xfrm>
      </p:grpSpPr>
      <p:sp>
        <p:nvSpPr>
          <p:cNvPr id="50" name="Google Shape;50;p1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mc:AlternateContent xmlns:mc="http://schemas.openxmlformats.org/markup-compatibility/2006">
    <mc:Choice xmlns:p14="http://schemas.microsoft.com/office/powerpoint/2010/main" Requires="p14">
      <p:transition spd="slow" p14:dur="2500">
        <p14:flash/>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mc:AlternateContent xmlns:mc="http://schemas.openxmlformats.org/markup-compatibility/2006">
    <mc:Choice xmlns:p14="http://schemas.microsoft.com/office/powerpoint/2010/main" Requires="p14">
      <p:transition spd="slow" p14:dur="2500">
        <p14:flash/>
      </p:transition>
    </mc:Choice>
    <mc:Fallback>
      <p:transition spd="slow">
        <p:fade/>
      </p:transition>
    </mc:Fallback>
  </mc:AlternateConten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14"/>
          <p:cNvSpPr/>
          <p:nvPr/>
        </p:nvSpPr>
        <p:spPr>
          <a:xfrm>
            <a:off x="0" y="0"/>
            <a:ext cx="9144000" cy="5143500"/>
          </a:xfrm>
          <a:prstGeom prst="rect">
            <a:avLst/>
          </a:prstGeom>
          <a:solidFill>
            <a:srgbClr val="FF6B6B"/>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pic>
        <p:nvPicPr>
          <p:cNvPr id="56" name="Google Shape;56;p14"/>
          <p:cNvPicPr preferRelativeResize="0"/>
          <p:nvPr/>
        </p:nvPicPr>
        <p:blipFill rotWithShape="1">
          <a:blip r:embed="rId3">
            <a:alphaModFix/>
          </a:blip>
          <a:srcRect/>
          <a:stretch/>
        </p:blipFill>
        <p:spPr>
          <a:xfrm>
            <a:off x="4763" y="4763"/>
            <a:ext cx="8982000" cy="4981500"/>
          </a:xfrm>
          <a:prstGeom prst="rect">
            <a:avLst/>
          </a:prstGeom>
          <a:noFill/>
          <a:ln>
            <a:noFill/>
          </a:ln>
        </p:spPr>
      </p:pic>
      <p:sp>
        <p:nvSpPr>
          <p:cNvPr id="57" name="Google Shape;57;p14"/>
          <p:cNvSpPr/>
          <p:nvPr/>
        </p:nvSpPr>
        <p:spPr>
          <a:xfrm>
            <a:off x="6953250" y="-190500"/>
            <a:ext cx="2286000" cy="2286000"/>
          </a:xfrm>
          <a:prstGeom prst="ellipse">
            <a:avLst/>
          </a:prstGeom>
          <a:solidFill>
            <a:srgbClr val="FFD93D"/>
          </a:solidFill>
          <a:ln w="28575" cap="flat" cmpd="sng">
            <a:solidFill>
              <a:srgbClr val="1A1A24"/>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8" name="Google Shape;58;p14"/>
          <p:cNvSpPr/>
          <p:nvPr/>
        </p:nvSpPr>
        <p:spPr>
          <a:xfrm rot="900000">
            <a:off x="7620000" y="3810000"/>
            <a:ext cx="1905000" cy="1905000"/>
          </a:xfrm>
          <a:prstGeom prst="rect">
            <a:avLst/>
          </a:prstGeom>
          <a:solidFill>
            <a:srgbClr val="4ECDC4"/>
          </a:solidFill>
          <a:ln w="28575" cap="flat" cmpd="sng">
            <a:solidFill>
              <a:srgbClr val="1A1A24"/>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grpSp>
        <p:nvGrpSpPr>
          <p:cNvPr id="59" name="Google Shape;59;p14"/>
          <p:cNvGrpSpPr/>
          <p:nvPr/>
        </p:nvGrpSpPr>
        <p:grpSpPr>
          <a:xfrm>
            <a:off x="381000" y="381000"/>
            <a:ext cx="419100" cy="419100"/>
            <a:chOff x="0" y="0"/>
            <a:chExt cx="419100" cy="419100"/>
          </a:xfrm>
        </p:grpSpPr>
        <p:sp>
          <p:nvSpPr>
            <p:cNvPr id="60" name="Google Shape;60;p14"/>
            <p:cNvSpPr/>
            <p:nvPr/>
          </p:nvSpPr>
          <p:spPr>
            <a:xfrm>
              <a:off x="38100" y="38100"/>
              <a:ext cx="381000" cy="381000"/>
            </a:xfrm>
            <a:prstGeom prst="roundRect">
              <a:avLst>
                <a:gd name="adj" fmla="val 20000"/>
              </a:avLst>
            </a:prstGeom>
            <a:solidFill>
              <a:srgbClr val="1A1A24"/>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1" name="Google Shape;61;p14"/>
            <p:cNvSpPr/>
            <p:nvPr/>
          </p:nvSpPr>
          <p:spPr>
            <a:xfrm>
              <a:off x="0" y="0"/>
              <a:ext cx="381000" cy="381000"/>
            </a:xfrm>
            <a:prstGeom prst="roundRect">
              <a:avLst>
                <a:gd name="adj" fmla="val 20000"/>
              </a:avLst>
            </a:prstGeom>
            <a:solidFill>
              <a:srgbClr val="FFD93D"/>
            </a:solidFill>
            <a:ln w="28575" cap="flat" cmpd="sng">
              <a:solidFill>
                <a:srgbClr val="1A1A24"/>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2" name="Google Shape;62;p14"/>
            <p:cNvSpPr/>
            <p:nvPr/>
          </p:nvSpPr>
          <p:spPr>
            <a:xfrm>
              <a:off x="95250" y="114300"/>
              <a:ext cx="190500" cy="152400"/>
            </a:xfrm>
            <a:custGeom>
              <a:avLst/>
              <a:gdLst/>
              <a:ahLst/>
              <a:cxnLst/>
              <a:rect l="l" t="t" r="r" b="b"/>
              <a:pathLst>
                <a:path w="120000" h="120000" extrusionOk="0">
                  <a:moveTo>
                    <a:pt x="0" y="0"/>
                  </a:moveTo>
                  <a:lnTo>
                    <a:pt x="36000" y="120000"/>
                  </a:lnTo>
                  <a:lnTo>
                    <a:pt x="60000" y="60000"/>
                  </a:lnTo>
                  <a:lnTo>
                    <a:pt x="84000" y="120000"/>
                  </a:lnTo>
                  <a:lnTo>
                    <a:pt x="120000" y="0"/>
                  </a:lnTo>
                </a:path>
              </a:pathLst>
            </a:custGeom>
            <a:solidFill>
              <a:srgbClr val="000000">
                <a:alpha val="0"/>
              </a:srgbClr>
            </a:solidFill>
            <a:ln w="28575" cap="rnd" cmpd="sng">
              <a:solidFill>
                <a:srgbClr val="1A1A24"/>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grpSp>
      <p:grpSp>
        <p:nvGrpSpPr>
          <p:cNvPr id="63" name="Google Shape;63;p14"/>
          <p:cNvGrpSpPr/>
          <p:nvPr/>
        </p:nvGrpSpPr>
        <p:grpSpPr>
          <a:xfrm>
            <a:off x="762000" y="1333500"/>
            <a:ext cx="7543800" cy="2495700"/>
            <a:chOff x="762000" y="1333500"/>
            <a:chExt cx="7543800" cy="2495700"/>
          </a:xfrm>
        </p:grpSpPr>
        <p:sp>
          <p:nvSpPr>
            <p:cNvPr id="64" name="Google Shape;64;p14"/>
            <p:cNvSpPr/>
            <p:nvPr/>
          </p:nvSpPr>
          <p:spPr>
            <a:xfrm>
              <a:off x="838200" y="1409700"/>
              <a:ext cx="7467600" cy="2419500"/>
            </a:xfrm>
            <a:prstGeom prst="roundRect">
              <a:avLst>
                <a:gd name="adj" fmla="val 9448"/>
              </a:avLst>
            </a:prstGeom>
            <a:solidFill>
              <a:srgbClr val="1A1A24"/>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5" name="Google Shape;65;p14"/>
            <p:cNvSpPr/>
            <p:nvPr/>
          </p:nvSpPr>
          <p:spPr>
            <a:xfrm>
              <a:off x="762000" y="1333500"/>
              <a:ext cx="7467600" cy="2419500"/>
            </a:xfrm>
            <a:prstGeom prst="roundRect">
              <a:avLst>
                <a:gd name="adj" fmla="val 9448"/>
              </a:avLst>
            </a:prstGeom>
            <a:solidFill>
              <a:srgbClr val="F4F4F0"/>
            </a:solidFill>
            <a:ln w="38100" cap="flat" cmpd="sng">
              <a:solidFill>
                <a:srgbClr val="1A1A24"/>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grpSp>
          <p:nvGrpSpPr>
            <p:cNvPr id="66" name="Google Shape;66;p14"/>
            <p:cNvGrpSpPr/>
            <p:nvPr/>
          </p:nvGrpSpPr>
          <p:grpSpPr>
            <a:xfrm>
              <a:off x="1123950" y="1638300"/>
              <a:ext cx="285900" cy="285900"/>
              <a:chOff x="0" y="0"/>
              <a:chExt cx="285900" cy="285900"/>
            </a:xfrm>
          </p:grpSpPr>
          <p:sp>
            <p:nvSpPr>
              <p:cNvPr id="67" name="Google Shape;67;p14"/>
              <p:cNvSpPr/>
              <p:nvPr/>
            </p:nvSpPr>
            <p:spPr>
              <a:xfrm>
                <a:off x="0" y="0"/>
                <a:ext cx="285900" cy="285900"/>
              </a:xfrm>
              <a:custGeom>
                <a:avLst/>
                <a:gdLst/>
                <a:ahLst/>
                <a:cxnLst/>
                <a:rect l="l" t="t" r="r" b="b"/>
                <a:pathLst>
                  <a:path w="120000" h="120000" extrusionOk="0">
                    <a:moveTo>
                      <a:pt x="60000" y="0"/>
                    </a:moveTo>
                    <a:cubicBezTo>
                      <a:pt x="60000" y="40000"/>
                      <a:pt x="100000" y="60000"/>
                      <a:pt x="120000" y="60000"/>
                    </a:cubicBezTo>
                    <a:cubicBezTo>
                      <a:pt x="100000" y="60000"/>
                      <a:pt x="60000" y="80000"/>
                      <a:pt x="60000" y="120000"/>
                    </a:cubicBezTo>
                    <a:cubicBezTo>
                      <a:pt x="60000" y="80000"/>
                      <a:pt x="20000" y="60000"/>
                      <a:pt x="0" y="60000"/>
                    </a:cubicBezTo>
                    <a:cubicBezTo>
                      <a:pt x="20000" y="60000"/>
                      <a:pt x="60000" y="40000"/>
                      <a:pt x="60000" y="0"/>
                    </a:cubicBezTo>
                    <a:close/>
                  </a:path>
                </a:pathLst>
              </a:custGeom>
              <a:solidFill>
                <a:srgbClr val="FF6B6B"/>
              </a:solidFill>
              <a:ln w="19050" cap="flat" cmpd="sng">
                <a:solidFill>
                  <a:srgbClr val="1A1A24"/>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8" name="Google Shape;68;p14"/>
              <p:cNvSpPr/>
              <p:nvPr/>
            </p:nvSpPr>
            <p:spPr>
              <a:xfrm>
                <a:off x="104775" y="104775"/>
                <a:ext cx="76200" cy="76200"/>
              </a:xfrm>
              <a:prstGeom prst="ellipse">
                <a:avLst/>
              </a:prstGeom>
              <a:solidFill>
                <a:srgbClr val="FFD93D"/>
              </a:solidFill>
              <a:ln w="19050" cap="flat" cmpd="sng">
                <a:solidFill>
                  <a:srgbClr val="1A1A24"/>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grpSp>
        <p:sp>
          <p:nvSpPr>
            <p:cNvPr id="69" name="Google Shape;69;p14"/>
            <p:cNvSpPr txBox="1"/>
            <p:nvPr/>
          </p:nvSpPr>
          <p:spPr>
            <a:xfrm>
              <a:off x="1524000" y="1409701"/>
              <a:ext cx="6381900" cy="1028550"/>
            </a:xfrm>
            <a:prstGeom prst="rect">
              <a:avLst/>
            </a:prstGeom>
            <a:noFill/>
            <a:ln>
              <a:noFill/>
            </a:ln>
          </p:spPr>
          <p:txBody>
            <a:bodyPr spcFirstLastPara="1" wrap="square" lIns="0" tIns="0" rIns="0" bIns="0" anchor="t" anchorCtr="0">
              <a:noAutofit/>
            </a:bodyPr>
            <a:lstStyle/>
            <a:p>
              <a:pPr lvl="0"/>
              <a:r>
                <a:rPr lang="en-US" sz="3230" b="1" dirty="0">
                  <a:solidFill>
                    <a:srgbClr val="1A1A24"/>
                  </a:solidFill>
                  <a:latin typeface="Space Grotesk"/>
                  <a:ea typeface="Space Grotesk"/>
                  <a:cs typeface="Space Grotesk"/>
                  <a:sym typeface="Space Grotesk"/>
                </a:rPr>
                <a:t>Creation of Workforce Insights Dashboard for Employee Skill and Analytics</a:t>
              </a:r>
              <a:endParaRPr sz="3230" b="1" dirty="0">
                <a:solidFill>
                  <a:srgbClr val="1A1A24"/>
                </a:solidFill>
                <a:latin typeface="Space Grotesk"/>
                <a:ea typeface="Space Grotesk"/>
                <a:cs typeface="Space Grotesk"/>
                <a:sym typeface="Space Grotesk"/>
              </a:endParaRPr>
            </a:p>
          </p:txBody>
        </p:sp>
        <p:sp>
          <p:nvSpPr>
            <p:cNvPr id="70" name="Google Shape;70;p14"/>
            <p:cNvSpPr txBox="1"/>
            <p:nvPr/>
          </p:nvSpPr>
          <p:spPr>
            <a:xfrm>
              <a:off x="1143000" y="3081879"/>
              <a:ext cx="6705600" cy="671121"/>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1800" b="0" dirty="0">
                  <a:solidFill>
                    <a:srgbClr val="4A4A5A"/>
                  </a:solidFill>
                  <a:latin typeface="Space Grotesk Medium"/>
                  <a:ea typeface="Space Grotesk Medium"/>
                  <a:cs typeface="Space Grotesk Medium"/>
                  <a:sym typeface="Space Grotesk Medium"/>
                </a:rPr>
                <a:t>Empowering Data &amp; HR Analysts with centralized, actionable workforce analytics.</a:t>
              </a:r>
              <a:endParaRPr sz="1800" b="0" dirty="0">
                <a:solidFill>
                  <a:srgbClr val="4A4A5A"/>
                </a:solidFill>
                <a:latin typeface="Space Grotesk Medium"/>
                <a:ea typeface="Space Grotesk Medium"/>
                <a:cs typeface="Space Grotesk Medium"/>
                <a:sym typeface="Space Grotesk Medium"/>
              </a:endParaRPr>
            </a:p>
          </p:txBody>
        </p:sp>
      </p:grpSp>
    </p:spTree>
  </p:cSld>
  <p:clrMapOvr>
    <a:masterClrMapping/>
  </p:clrMapOvr>
  <mc:AlternateContent xmlns:mc="http://schemas.openxmlformats.org/markup-compatibility/2006">
    <mc:Choice xmlns:p14="http://schemas.microsoft.com/office/powerpoint/2010/main" Requires="p14">
      <p:transition spd="slow" p14:dur="2500">
        <p14:flash/>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5" name="Google Shape;75;p15"/>
          <p:cNvSpPr/>
          <p:nvPr/>
        </p:nvSpPr>
        <p:spPr>
          <a:xfrm>
            <a:off x="0" y="0"/>
            <a:ext cx="9144000" cy="5143500"/>
          </a:xfrm>
          <a:prstGeom prst="rect">
            <a:avLst/>
          </a:prstGeom>
          <a:solidFill>
            <a:srgbClr val="F4F4F0"/>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grpSp>
        <p:nvGrpSpPr>
          <p:cNvPr id="76" name="Google Shape;76;p15"/>
          <p:cNvGrpSpPr/>
          <p:nvPr/>
        </p:nvGrpSpPr>
        <p:grpSpPr>
          <a:xfrm>
            <a:off x="381000" y="228600"/>
            <a:ext cx="419100" cy="419100"/>
            <a:chOff x="0" y="0"/>
            <a:chExt cx="419100" cy="419100"/>
          </a:xfrm>
        </p:grpSpPr>
        <p:sp>
          <p:nvSpPr>
            <p:cNvPr id="77" name="Google Shape;77;p15"/>
            <p:cNvSpPr/>
            <p:nvPr/>
          </p:nvSpPr>
          <p:spPr>
            <a:xfrm>
              <a:off x="38100" y="38100"/>
              <a:ext cx="381000" cy="381000"/>
            </a:xfrm>
            <a:prstGeom prst="roundRect">
              <a:avLst>
                <a:gd name="adj" fmla="val 20000"/>
              </a:avLst>
            </a:prstGeom>
            <a:solidFill>
              <a:srgbClr val="1A1A24"/>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78" name="Google Shape;78;p15"/>
            <p:cNvSpPr/>
            <p:nvPr/>
          </p:nvSpPr>
          <p:spPr>
            <a:xfrm>
              <a:off x="0" y="0"/>
              <a:ext cx="381000" cy="381000"/>
            </a:xfrm>
            <a:prstGeom prst="roundRect">
              <a:avLst>
                <a:gd name="adj" fmla="val 20000"/>
              </a:avLst>
            </a:prstGeom>
            <a:solidFill>
              <a:srgbClr val="FFD93D"/>
            </a:solidFill>
            <a:ln w="28575" cap="flat" cmpd="sng">
              <a:solidFill>
                <a:srgbClr val="1A1A24"/>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79" name="Google Shape;79;p15"/>
            <p:cNvSpPr/>
            <p:nvPr/>
          </p:nvSpPr>
          <p:spPr>
            <a:xfrm>
              <a:off x="95250" y="114300"/>
              <a:ext cx="190500" cy="152400"/>
            </a:xfrm>
            <a:custGeom>
              <a:avLst/>
              <a:gdLst/>
              <a:ahLst/>
              <a:cxnLst/>
              <a:rect l="l" t="t" r="r" b="b"/>
              <a:pathLst>
                <a:path w="120000" h="120000" extrusionOk="0">
                  <a:moveTo>
                    <a:pt x="0" y="0"/>
                  </a:moveTo>
                  <a:lnTo>
                    <a:pt x="36000" y="120000"/>
                  </a:lnTo>
                  <a:lnTo>
                    <a:pt x="60000" y="60000"/>
                  </a:lnTo>
                  <a:lnTo>
                    <a:pt x="84000" y="120000"/>
                  </a:lnTo>
                  <a:lnTo>
                    <a:pt x="120000" y="0"/>
                  </a:lnTo>
                </a:path>
              </a:pathLst>
            </a:custGeom>
            <a:solidFill>
              <a:srgbClr val="000000"/>
            </a:solidFill>
            <a:ln w="28575" cap="rnd" cmpd="sng">
              <a:solidFill>
                <a:srgbClr val="1A1A24"/>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grpSp>
      <p:sp>
        <p:nvSpPr>
          <p:cNvPr id="80" name="Google Shape;80;p15"/>
          <p:cNvSpPr txBox="1"/>
          <p:nvPr/>
        </p:nvSpPr>
        <p:spPr>
          <a:xfrm>
            <a:off x="904875" y="190500"/>
            <a:ext cx="7858200" cy="7143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2200" b="1">
                <a:solidFill>
                  <a:srgbClr val="1A1A24"/>
                </a:solidFill>
                <a:latin typeface="Space Grotesk"/>
                <a:ea typeface="Space Grotesk"/>
                <a:cs typeface="Space Grotesk"/>
                <a:sym typeface="Space Grotesk"/>
              </a:rPr>
              <a:t>Addressing Data Silos to Drive Strategic HR Insights</a:t>
            </a:r>
            <a:endParaRPr sz="2200" b="1">
              <a:solidFill>
                <a:srgbClr val="1A1A24"/>
              </a:solidFill>
              <a:latin typeface="Space Grotesk"/>
              <a:ea typeface="Space Grotesk"/>
              <a:cs typeface="Space Grotesk"/>
              <a:sym typeface="Space Grotesk"/>
            </a:endParaRPr>
          </a:p>
          <a:p>
            <a:pPr marL="0" lvl="0" indent="0" algn="l" rtl="0">
              <a:spcBef>
                <a:spcPts val="200"/>
              </a:spcBef>
              <a:spcAft>
                <a:spcPts val="0"/>
              </a:spcAft>
              <a:buNone/>
            </a:pPr>
            <a:r>
              <a:rPr lang="en" sz="1100" b="0">
                <a:solidFill>
                  <a:srgbClr val="4A4A5A"/>
                </a:solidFill>
                <a:latin typeface="Plus Jakarta Sans"/>
                <a:ea typeface="Plus Jakarta Sans"/>
                <a:cs typeface="Plus Jakarta Sans"/>
                <a:sym typeface="Plus Jakarta Sans"/>
              </a:rPr>
              <a:t>Transforming manual employee tracking into an actionable, centralized analytics ecosystem</a:t>
            </a:r>
            <a:endParaRPr sz="1100" b="0">
              <a:solidFill>
                <a:srgbClr val="4A4A5A"/>
              </a:solidFill>
              <a:latin typeface="Plus Jakarta Sans"/>
              <a:ea typeface="Plus Jakarta Sans"/>
              <a:cs typeface="Plus Jakarta Sans"/>
              <a:sym typeface="Plus Jakarta Sans"/>
            </a:endParaRPr>
          </a:p>
        </p:txBody>
      </p:sp>
      <p:cxnSp>
        <p:nvCxnSpPr>
          <p:cNvPr id="81" name="Google Shape;81;p15"/>
          <p:cNvCxnSpPr/>
          <p:nvPr/>
        </p:nvCxnSpPr>
        <p:spPr>
          <a:xfrm>
            <a:off x="381000" y="971550"/>
            <a:ext cx="8382000" cy="0"/>
          </a:xfrm>
          <a:prstGeom prst="straightConnector1">
            <a:avLst/>
          </a:prstGeom>
          <a:solidFill>
            <a:srgbClr val="FFFFFF"/>
          </a:solidFill>
          <a:ln w="28575" cap="flat" cmpd="sng">
            <a:solidFill>
              <a:srgbClr val="1A1A24"/>
            </a:solidFill>
            <a:prstDash val="solid"/>
            <a:round/>
            <a:headEnd type="none" w="sm" len="sm"/>
            <a:tailEnd type="none" w="sm" len="sm"/>
          </a:ln>
        </p:spPr>
      </p:cxnSp>
      <p:grpSp>
        <p:nvGrpSpPr>
          <p:cNvPr id="82" name="Google Shape;82;p15"/>
          <p:cNvGrpSpPr/>
          <p:nvPr/>
        </p:nvGrpSpPr>
        <p:grpSpPr>
          <a:xfrm>
            <a:off x="381000" y="1143000"/>
            <a:ext cx="3676650" cy="3790950"/>
            <a:chOff x="0" y="0"/>
            <a:chExt cx="3676650" cy="3790950"/>
          </a:xfrm>
        </p:grpSpPr>
        <p:sp>
          <p:nvSpPr>
            <p:cNvPr id="83" name="Google Shape;83;p15"/>
            <p:cNvSpPr/>
            <p:nvPr/>
          </p:nvSpPr>
          <p:spPr>
            <a:xfrm>
              <a:off x="57150" y="57150"/>
              <a:ext cx="3619500" cy="3733800"/>
            </a:xfrm>
            <a:prstGeom prst="roundRect">
              <a:avLst>
                <a:gd name="adj" fmla="val 3157"/>
              </a:avLst>
            </a:prstGeom>
            <a:solidFill>
              <a:srgbClr val="1A1A24"/>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84" name="Google Shape;84;p15"/>
            <p:cNvSpPr/>
            <p:nvPr/>
          </p:nvSpPr>
          <p:spPr>
            <a:xfrm>
              <a:off x="0" y="0"/>
              <a:ext cx="3619500" cy="3733800"/>
            </a:xfrm>
            <a:prstGeom prst="roundRect">
              <a:avLst>
                <a:gd name="adj" fmla="val 3157"/>
              </a:avLst>
            </a:prstGeom>
            <a:solidFill>
              <a:srgbClr val="FFFFFF"/>
            </a:solidFill>
            <a:ln w="28575" cap="flat" cmpd="sng">
              <a:solidFill>
                <a:srgbClr val="1A1A24"/>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grpSp>
          <p:nvGrpSpPr>
            <p:cNvPr id="85" name="Google Shape;85;p15"/>
            <p:cNvGrpSpPr/>
            <p:nvPr/>
          </p:nvGrpSpPr>
          <p:grpSpPr>
            <a:xfrm>
              <a:off x="190500" y="190500"/>
              <a:ext cx="1238400" cy="228600"/>
              <a:chOff x="0" y="0"/>
              <a:chExt cx="1238400" cy="228600"/>
            </a:xfrm>
          </p:grpSpPr>
          <p:sp>
            <p:nvSpPr>
              <p:cNvPr id="86" name="Google Shape;86;p15"/>
              <p:cNvSpPr/>
              <p:nvPr/>
            </p:nvSpPr>
            <p:spPr>
              <a:xfrm>
                <a:off x="0" y="0"/>
                <a:ext cx="1238400" cy="228600"/>
              </a:xfrm>
              <a:prstGeom prst="roundRect">
                <a:avLst>
                  <a:gd name="adj" fmla="val 25000"/>
                </a:avLst>
              </a:prstGeom>
              <a:solidFill>
                <a:srgbClr val="FF6B6B"/>
              </a:solidFill>
              <a:ln w="19050" cap="flat" cmpd="sng">
                <a:solidFill>
                  <a:srgbClr val="1A1A24"/>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87" name="Google Shape;87;p15"/>
              <p:cNvSpPr txBox="1"/>
              <p:nvPr/>
            </p:nvSpPr>
            <p:spPr>
              <a:xfrm>
                <a:off x="0" y="0"/>
                <a:ext cx="1238400" cy="228600"/>
              </a:xfrm>
              <a:prstGeom prst="rect">
                <a:avLst/>
              </a:prstGeom>
              <a:solidFill>
                <a:srgbClr val="000000">
                  <a:alpha val="0"/>
                </a:srgbClr>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800" b="1">
                    <a:solidFill>
                      <a:srgbClr val="FFFFFF"/>
                    </a:solidFill>
                    <a:latin typeface="Plus Jakarta Sans"/>
                    <a:ea typeface="Plus Jakarta Sans"/>
                    <a:cs typeface="Plus Jakarta Sans"/>
                    <a:sym typeface="Plus Jakarta Sans"/>
                  </a:rPr>
                  <a:t>THE CHALLENGE</a:t>
                </a:r>
                <a:endParaRPr sz="800" b="1">
                  <a:solidFill>
                    <a:srgbClr val="FFFFFF"/>
                  </a:solidFill>
                  <a:latin typeface="Plus Jakarta Sans"/>
                  <a:ea typeface="Plus Jakarta Sans"/>
                  <a:cs typeface="Plus Jakarta Sans"/>
                  <a:sym typeface="Plus Jakarta Sans"/>
                </a:endParaRPr>
              </a:p>
            </p:txBody>
          </p:sp>
        </p:grpSp>
        <p:sp>
          <p:nvSpPr>
            <p:cNvPr id="88" name="Google Shape;88;p15"/>
            <p:cNvSpPr txBox="1"/>
            <p:nvPr/>
          </p:nvSpPr>
          <p:spPr>
            <a:xfrm>
              <a:off x="190500" y="495300"/>
              <a:ext cx="3238500" cy="3095700"/>
            </a:xfrm>
            <a:prstGeom prst="rect">
              <a:avLst/>
            </a:prstGeom>
            <a:solidFill>
              <a:srgbClr val="000000">
                <a:alpha val="0"/>
              </a:srgbClr>
            </a:solidFill>
            <a:ln>
              <a:noFill/>
            </a:ln>
          </p:spPr>
          <p:txBody>
            <a:bodyPr spcFirstLastPara="1" wrap="square" lIns="0" tIns="0" rIns="0" bIns="0" anchor="t" anchorCtr="0">
              <a:noAutofit/>
            </a:bodyPr>
            <a:lstStyle/>
            <a:p>
              <a:pPr marL="0" lvl="0" indent="0" algn="l" rtl="0">
                <a:spcBef>
                  <a:spcPts val="0"/>
                </a:spcBef>
                <a:spcAft>
                  <a:spcPts val="0"/>
                </a:spcAft>
                <a:buNone/>
              </a:pPr>
              <a:r>
                <a:rPr lang="en" sz="1500" b="1">
                  <a:solidFill>
                    <a:srgbClr val="1A1A24"/>
                  </a:solidFill>
                  <a:latin typeface="Space Grotesk"/>
                  <a:ea typeface="Space Grotesk"/>
                  <a:cs typeface="Space Grotesk"/>
                  <a:sym typeface="Space Grotesk"/>
                </a:rPr>
                <a:t>Problem Statement</a:t>
              </a:r>
              <a:endParaRPr sz="1500" b="1">
                <a:solidFill>
                  <a:srgbClr val="1A1A24"/>
                </a:solidFill>
                <a:latin typeface="Space Grotesk"/>
                <a:ea typeface="Space Grotesk"/>
                <a:cs typeface="Space Grotesk"/>
                <a:sym typeface="Space Grotesk"/>
              </a:endParaRPr>
            </a:p>
            <a:p>
              <a:pPr marL="0" lvl="0" indent="0" algn="l" rtl="0">
                <a:spcBef>
                  <a:spcPts val="800"/>
                </a:spcBef>
                <a:spcAft>
                  <a:spcPts val="0"/>
                </a:spcAft>
                <a:buNone/>
              </a:pPr>
              <a:r>
                <a:rPr lang="en" sz="950" b="0">
                  <a:solidFill>
                    <a:srgbClr val="4A4A5A"/>
                  </a:solidFill>
                  <a:latin typeface="Plus Jakarta Sans"/>
                  <a:ea typeface="Plus Jakarta Sans"/>
                  <a:cs typeface="Plus Jakarta Sans"/>
                  <a:sym typeface="Plus Jakarta Sans"/>
                </a:rPr>
                <a:t>Organizations generate vast amounts of employee data across disparate systems. Manual analysis bottlenecks make it extremely difficult to identify critical workforce trends, compare department metrics, and act on talent needs before burnout or turnover occurs.</a:t>
              </a:r>
              <a:endParaRPr sz="950" b="0">
                <a:solidFill>
                  <a:srgbClr val="4A4A5A"/>
                </a:solidFill>
                <a:latin typeface="Plus Jakarta Sans"/>
                <a:ea typeface="Plus Jakarta Sans"/>
                <a:cs typeface="Plus Jakarta Sans"/>
                <a:sym typeface="Plus Jakarta Sans"/>
              </a:endParaRPr>
            </a:p>
            <a:p>
              <a:pPr marL="0" lvl="0" indent="0" algn="l" rtl="0">
                <a:spcBef>
                  <a:spcPts val="1200"/>
                </a:spcBef>
                <a:spcAft>
                  <a:spcPts val="0"/>
                </a:spcAft>
                <a:buNone/>
              </a:pPr>
              <a:r>
                <a:rPr lang="en" sz="950" b="1">
                  <a:solidFill>
                    <a:srgbClr val="1A1A24"/>
                  </a:solidFill>
                  <a:latin typeface="Plus Jakarta Sans"/>
                  <a:ea typeface="Plus Jakarta Sans"/>
                  <a:cs typeface="Plus Jakarta Sans"/>
                  <a:sym typeface="Plus Jakarta Sans"/>
                </a:rPr>
                <a:t>Key Operational Pain Points:</a:t>
              </a:r>
              <a:endParaRPr sz="950" b="1">
                <a:solidFill>
                  <a:srgbClr val="1A1A24"/>
                </a:solidFill>
                <a:latin typeface="Plus Jakarta Sans"/>
                <a:ea typeface="Plus Jakarta Sans"/>
                <a:cs typeface="Plus Jakarta Sans"/>
                <a:sym typeface="Plus Jakarta Sans"/>
              </a:endParaRPr>
            </a:p>
            <a:p>
              <a:pPr marL="0" lvl="0" indent="0" algn="l" rtl="0">
                <a:spcBef>
                  <a:spcPts val="800"/>
                </a:spcBef>
                <a:spcAft>
                  <a:spcPts val="0"/>
                </a:spcAft>
                <a:buNone/>
              </a:pPr>
              <a:r>
                <a:rPr lang="en" sz="800" b="1">
                  <a:solidFill>
                    <a:srgbClr val="FFFFFF"/>
                  </a:solidFill>
                  <a:latin typeface="Plus Jakarta Sans"/>
                  <a:ea typeface="Plus Jakarta Sans"/>
                  <a:cs typeface="Plus Jakarta Sans"/>
                  <a:sym typeface="Plus Jakarta Sans"/>
                </a:rPr>
                <a:t>!</a:t>
              </a:r>
              <a:r>
                <a:rPr lang="en" sz="850" b="1">
                  <a:solidFill>
                    <a:srgbClr val="1A1A24"/>
                  </a:solidFill>
                  <a:latin typeface="Plus Jakarta Sans"/>
                  <a:ea typeface="Plus Jakarta Sans"/>
                  <a:cs typeface="Plus Jakarta Sans"/>
                  <a:sym typeface="Plus Jakarta Sans"/>
                </a:rPr>
                <a:t> </a:t>
              </a:r>
              <a:r>
                <a:rPr lang="en" sz="850" b="1">
                  <a:solidFill>
                    <a:srgbClr val="4A4A5A"/>
                  </a:solidFill>
                  <a:latin typeface="Plus Jakarta Sans"/>
                  <a:ea typeface="Plus Jakarta Sans"/>
                  <a:cs typeface="Plus Jakarta Sans"/>
                  <a:sym typeface="Plus Jakarta Sans"/>
                </a:rPr>
                <a:t>Delayed visibility into performance and burnout</a:t>
              </a:r>
              <a:endParaRPr sz="850" b="1">
                <a:solidFill>
                  <a:srgbClr val="1A1A24"/>
                </a:solidFill>
                <a:latin typeface="Plus Jakarta Sans"/>
                <a:ea typeface="Plus Jakarta Sans"/>
                <a:cs typeface="Plus Jakarta Sans"/>
                <a:sym typeface="Plus Jakarta Sans"/>
              </a:endParaRPr>
            </a:p>
            <a:p>
              <a:pPr marL="0" lvl="0" indent="0" algn="l" rtl="0">
                <a:spcBef>
                  <a:spcPts val="450"/>
                </a:spcBef>
                <a:spcAft>
                  <a:spcPts val="0"/>
                </a:spcAft>
                <a:buNone/>
              </a:pPr>
              <a:r>
                <a:rPr lang="en" sz="800" b="1">
                  <a:solidFill>
                    <a:srgbClr val="FFFFFF"/>
                  </a:solidFill>
                  <a:latin typeface="Plus Jakarta Sans"/>
                  <a:ea typeface="Plus Jakarta Sans"/>
                  <a:cs typeface="Plus Jakarta Sans"/>
                  <a:sym typeface="Plus Jakarta Sans"/>
                </a:rPr>
                <a:t>!</a:t>
              </a:r>
              <a:r>
                <a:rPr lang="en" sz="850" b="1">
                  <a:solidFill>
                    <a:srgbClr val="1A1A24"/>
                  </a:solidFill>
                  <a:latin typeface="Plus Jakarta Sans"/>
                  <a:ea typeface="Plus Jakarta Sans"/>
                  <a:cs typeface="Plus Jakarta Sans"/>
                  <a:sym typeface="Plus Jakarta Sans"/>
                </a:rPr>
                <a:t> </a:t>
              </a:r>
              <a:r>
                <a:rPr lang="en" sz="850" b="1">
                  <a:solidFill>
                    <a:srgbClr val="4A4A5A"/>
                  </a:solidFill>
                  <a:latin typeface="Plus Jakarta Sans"/>
                  <a:ea typeface="Plus Jakarta Sans"/>
                  <a:cs typeface="Plus Jakarta Sans"/>
                  <a:sym typeface="Plus Jakarta Sans"/>
                </a:rPr>
                <a:t>Inefficient, manual department comparisons</a:t>
              </a:r>
              <a:endParaRPr sz="850" b="1">
                <a:solidFill>
                  <a:srgbClr val="1A1A24"/>
                </a:solidFill>
                <a:latin typeface="Plus Jakarta Sans"/>
                <a:ea typeface="Plus Jakarta Sans"/>
                <a:cs typeface="Plus Jakarta Sans"/>
                <a:sym typeface="Plus Jakarta Sans"/>
              </a:endParaRPr>
            </a:p>
            <a:p>
              <a:pPr marL="0" lvl="0" indent="0" algn="l" rtl="0">
                <a:spcBef>
                  <a:spcPts val="450"/>
                </a:spcBef>
                <a:spcAft>
                  <a:spcPts val="0"/>
                </a:spcAft>
                <a:buNone/>
              </a:pPr>
              <a:r>
                <a:rPr lang="en" sz="800" b="1">
                  <a:solidFill>
                    <a:srgbClr val="FFFFFF"/>
                  </a:solidFill>
                  <a:latin typeface="Plus Jakarta Sans"/>
                  <a:ea typeface="Plus Jakarta Sans"/>
                  <a:cs typeface="Plus Jakarta Sans"/>
                  <a:sym typeface="Plus Jakarta Sans"/>
                </a:rPr>
                <a:t>!</a:t>
              </a:r>
              <a:r>
                <a:rPr lang="en" sz="850" b="1">
                  <a:solidFill>
                    <a:srgbClr val="1A1A24"/>
                  </a:solidFill>
                  <a:latin typeface="Plus Jakarta Sans"/>
                  <a:ea typeface="Plus Jakarta Sans"/>
                  <a:cs typeface="Plus Jakarta Sans"/>
                  <a:sym typeface="Plus Jakarta Sans"/>
                </a:rPr>
                <a:t> </a:t>
              </a:r>
              <a:r>
                <a:rPr lang="en" sz="850" b="1">
                  <a:solidFill>
                    <a:srgbClr val="4A4A5A"/>
                  </a:solidFill>
                  <a:latin typeface="Plus Jakarta Sans"/>
                  <a:ea typeface="Plus Jakarta Sans"/>
                  <a:cs typeface="Plus Jakarta Sans"/>
                  <a:sym typeface="Plus Jakarta Sans"/>
                </a:rPr>
                <a:t>Reactive attrition management vs proactive prevention</a:t>
              </a:r>
              <a:endParaRPr sz="850" b="1">
                <a:solidFill>
                  <a:srgbClr val="1A1A24"/>
                </a:solidFill>
                <a:latin typeface="Plus Jakarta Sans"/>
                <a:ea typeface="Plus Jakarta Sans"/>
                <a:cs typeface="Plus Jakarta Sans"/>
                <a:sym typeface="Plus Jakarta Sans"/>
              </a:endParaRPr>
            </a:p>
            <a:p>
              <a:pPr marL="0" lvl="0" indent="0" algn="l" rtl="0">
                <a:spcBef>
                  <a:spcPts val="450"/>
                </a:spcBef>
                <a:spcAft>
                  <a:spcPts val="450"/>
                </a:spcAft>
                <a:buNone/>
              </a:pPr>
              <a:r>
                <a:rPr lang="en" sz="800" b="1">
                  <a:solidFill>
                    <a:srgbClr val="FFFFFF"/>
                  </a:solidFill>
                  <a:latin typeface="Plus Jakarta Sans"/>
                  <a:ea typeface="Plus Jakarta Sans"/>
                  <a:cs typeface="Plus Jakarta Sans"/>
                  <a:sym typeface="Plus Jakarta Sans"/>
                </a:rPr>
                <a:t>!</a:t>
              </a:r>
              <a:r>
                <a:rPr lang="en" sz="850" b="1">
                  <a:solidFill>
                    <a:srgbClr val="1A1A24"/>
                  </a:solidFill>
                  <a:latin typeface="Plus Jakarta Sans"/>
                  <a:ea typeface="Plus Jakarta Sans"/>
                  <a:cs typeface="Plus Jakarta Sans"/>
                  <a:sym typeface="Plus Jakarta Sans"/>
                </a:rPr>
                <a:t> </a:t>
              </a:r>
              <a:r>
                <a:rPr lang="en" sz="850" b="1">
                  <a:solidFill>
                    <a:srgbClr val="4A4A5A"/>
                  </a:solidFill>
                  <a:latin typeface="Plus Jakarta Sans"/>
                  <a:ea typeface="Plus Jakarta Sans"/>
                  <a:cs typeface="Plus Jakarta Sans"/>
                  <a:sym typeface="Plus Jakarta Sans"/>
                </a:rPr>
                <a:t>Unclear succession planning metrics</a:t>
              </a:r>
              <a:endParaRPr sz="850" b="1">
                <a:solidFill>
                  <a:srgbClr val="1A1A24"/>
                </a:solidFill>
                <a:latin typeface="Plus Jakarta Sans"/>
                <a:ea typeface="Plus Jakarta Sans"/>
                <a:cs typeface="Plus Jakarta Sans"/>
                <a:sym typeface="Plus Jakarta Sans"/>
              </a:endParaRPr>
            </a:p>
          </p:txBody>
        </p:sp>
      </p:grpSp>
      <p:grpSp>
        <p:nvGrpSpPr>
          <p:cNvPr id="89" name="Google Shape;89;p15"/>
          <p:cNvGrpSpPr/>
          <p:nvPr/>
        </p:nvGrpSpPr>
        <p:grpSpPr>
          <a:xfrm>
            <a:off x="4095750" y="1143000"/>
            <a:ext cx="4629150" cy="3790950"/>
            <a:chOff x="0" y="0"/>
            <a:chExt cx="4629150" cy="3790950"/>
          </a:xfrm>
        </p:grpSpPr>
        <p:sp>
          <p:nvSpPr>
            <p:cNvPr id="90" name="Google Shape;90;p15"/>
            <p:cNvSpPr/>
            <p:nvPr/>
          </p:nvSpPr>
          <p:spPr>
            <a:xfrm>
              <a:off x="57150" y="57150"/>
              <a:ext cx="4572000" cy="3733800"/>
            </a:xfrm>
            <a:prstGeom prst="roundRect">
              <a:avLst>
                <a:gd name="adj" fmla="val 3060"/>
              </a:avLst>
            </a:prstGeom>
            <a:solidFill>
              <a:srgbClr val="1A1A24"/>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91" name="Google Shape;91;p15"/>
            <p:cNvSpPr/>
            <p:nvPr/>
          </p:nvSpPr>
          <p:spPr>
            <a:xfrm>
              <a:off x="0" y="0"/>
              <a:ext cx="4572000" cy="3733800"/>
            </a:xfrm>
            <a:prstGeom prst="roundRect">
              <a:avLst>
                <a:gd name="adj" fmla="val 3060"/>
              </a:avLst>
            </a:prstGeom>
            <a:solidFill>
              <a:srgbClr val="FFFFFF"/>
            </a:solidFill>
            <a:ln w="28575" cap="flat" cmpd="sng">
              <a:solidFill>
                <a:srgbClr val="1A1A24"/>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grpSp>
          <p:nvGrpSpPr>
            <p:cNvPr id="92" name="Google Shape;92;p15"/>
            <p:cNvGrpSpPr/>
            <p:nvPr/>
          </p:nvGrpSpPr>
          <p:grpSpPr>
            <a:xfrm>
              <a:off x="190500" y="190500"/>
              <a:ext cx="1428900" cy="228600"/>
              <a:chOff x="0" y="0"/>
              <a:chExt cx="1428900" cy="228600"/>
            </a:xfrm>
          </p:grpSpPr>
          <p:sp>
            <p:nvSpPr>
              <p:cNvPr id="93" name="Google Shape;93;p15"/>
              <p:cNvSpPr/>
              <p:nvPr/>
            </p:nvSpPr>
            <p:spPr>
              <a:xfrm>
                <a:off x="0" y="0"/>
                <a:ext cx="1428900" cy="228600"/>
              </a:xfrm>
              <a:prstGeom prst="roundRect">
                <a:avLst>
                  <a:gd name="adj" fmla="val 25000"/>
                </a:avLst>
              </a:prstGeom>
              <a:solidFill>
                <a:srgbClr val="4ECDC4"/>
              </a:solidFill>
              <a:ln w="19050" cap="flat" cmpd="sng">
                <a:solidFill>
                  <a:srgbClr val="1A1A24"/>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94" name="Google Shape;94;p15"/>
              <p:cNvSpPr txBox="1"/>
              <p:nvPr/>
            </p:nvSpPr>
            <p:spPr>
              <a:xfrm>
                <a:off x="0" y="0"/>
                <a:ext cx="1428900" cy="228600"/>
              </a:xfrm>
              <a:prstGeom prst="rect">
                <a:avLst/>
              </a:prstGeom>
              <a:solidFill>
                <a:srgbClr val="000000">
                  <a:alpha val="0"/>
                </a:srgbClr>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800" b="1">
                    <a:solidFill>
                      <a:srgbClr val="1A1A24"/>
                    </a:solidFill>
                    <a:latin typeface="Plus Jakarta Sans"/>
                    <a:ea typeface="Plus Jakarta Sans"/>
                    <a:cs typeface="Plus Jakarta Sans"/>
                    <a:sym typeface="Plus Jakarta Sans"/>
                  </a:rPr>
                  <a:t>STRATEGIC GOALS</a:t>
                </a:r>
                <a:endParaRPr sz="800" b="1">
                  <a:solidFill>
                    <a:srgbClr val="1A1A24"/>
                  </a:solidFill>
                  <a:latin typeface="Plus Jakarta Sans"/>
                  <a:ea typeface="Plus Jakarta Sans"/>
                  <a:cs typeface="Plus Jakarta Sans"/>
                  <a:sym typeface="Plus Jakarta Sans"/>
                </a:endParaRPr>
              </a:p>
            </p:txBody>
          </p:sp>
        </p:grpSp>
        <p:sp>
          <p:nvSpPr>
            <p:cNvPr id="95" name="Google Shape;95;p15"/>
            <p:cNvSpPr txBox="1"/>
            <p:nvPr/>
          </p:nvSpPr>
          <p:spPr>
            <a:xfrm>
              <a:off x="190500" y="495300"/>
              <a:ext cx="4191000" cy="3095700"/>
            </a:xfrm>
            <a:prstGeom prst="rect">
              <a:avLst/>
            </a:prstGeom>
            <a:solidFill>
              <a:srgbClr val="000000">
                <a:alpha val="0"/>
              </a:srgbClr>
            </a:solidFill>
            <a:ln>
              <a:noFill/>
            </a:ln>
          </p:spPr>
          <p:txBody>
            <a:bodyPr spcFirstLastPara="1" wrap="square" lIns="0" tIns="0" rIns="0" bIns="0" anchor="t" anchorCtr="0">
              <a:noAutofit/>
            </a:bodyPr>
            <a:lstStyle/>
            <a:p>
              <a:pPr marL="0" lvl="0" indent="0" algn="l" rtl="0">
                <a:spcBef>
                  <a:spcPts val="0"/>
                </a:spcBef>
                <a:spcAft>
                  <a:spcPts val="0"/>
                </a:spcAft>
                <a:buNone/>
              </a:pPr>
              <a:r>
                <a:rPr lang="en" sz="1500" b="1">
                  <a:solidFill>
                    <a:srgbClr val="1A1A24"/>
                  </a:solidFill>
                  <a:latin typeface="Space Grotesk"/>
                  <a:ea typeface="Space Grotesk"/>
                  <a:cs typeface="Space Grotesk"/>
                  <a:sym typeface="Space Grotesk"/>
                </a:rPr>
                <a:t>Project Objectives</a:t>
              </a:r>
              <a:endParaRPr sz="1500" b="1">
                <a:solidFill>
                  <a:srgbClr val="1A1A24"/>
                </a:solidFill>
                <a:latin typeface="Space Grotesk"/>
                <a:ea typeface="Space Grotesk"/>
                <a:cs typeface="Space Grotesk"/>
                <a:sym typeface="Space Grotesk"/>
              </a:endParaRPr>
            </a:p>
            <a:p>
              <a:pPr marL="0" lvl="0" indent="0" algn="l" rtl="0">
                <a:spcBef>
                  <a:spcPts val="1000"/>
                </a:spcBef>
                <a:spcAft>
                  <a:spcPts val="0"/>
                </a:spcAft>
                <a:buNone/>
              </a:pPr>
              <a:r>
                <a:rPr lang="en" sz="850" b="1">
                  <a:solidFill>
                    <a:srgbClr val="1A1A24"/>
                  </a:solidFill>
                  <a:latin typeface="Space Grotesk"/>
                  <a:ea typeface="Space Grotesk"/>
                  <a:cs typeface="Space Grotesk"/>
                  <a:sym typeface="Space Grotesk"/>
                </a:rPr>
                <a:t>01</a:t>
              </a:r>
              <a:r>
                <a:rPr lang="en" sz="850" b="1">
                  <a:solidFill>
                    <a:srgbClr val="1A1A24"/>
                  </a:solidFill>
                  <a:latin typeface="Plus Jakarta Sans"/>
                  <a:ea typeface="Plus Jakarta Sans"/>
                  <a:cs typeface="Plus Jakarta Sans"/>
                  <a:sym typeface="Plus Jakarta Sans"/>
                </a:rPr>
                <a:t> Department Analytics: </a:t>
              </a:r>
              <a:r>
                <a:rPr lang="en" sz="850" b="1">
                  <a:solidFill>
                    <a:srgbClr val="4A4A5A"/>
                  </a:solidFill>
                  <a:latin typeface="Plus Jakarta Sans"/>
                  <a:ea typeface="Plus Jakarta Sans"/>
                  <a:cs typeface="Plus Jakarta Sans"/>
                  <a:sym typeface="Plus Jakarta Sans"/>
                </a:rPr>
                <a:t>Analyze employee distribution, attendance, and department trends.</a:t>
              </a:r>
              <a:endParaRPr sz="850" b="1">
                <a:solidFill>
                  <a:srgbClr val="1A1A24"/>
                </a:solidFill>
                <a:latin typeface="Plus Jakarta Sans"/>
                <a:ea typeface="Plus Jakarta Sans"/>
                <a:cs typeface="Plus Jakarta Sans"/>
                <a:sym typeface="Plus Jakarta Sans"/>
              </a:endParaRPr>
            </a:p>
            <a:p>
              <a:pPr marL="0" lvl="0" indent="0" algn="l" rtl="0">
                <a:spcBef>
                  <a:spcPts val="450"/>
                </a:spcBef>
                <a:spcAft>
                  <a:spcPts val="0"/>
                </a:spcAft>
                <a:buNone/>
              </a:pPr>
              <a:r>
                <a:rPr lang="en" sz="850" b="1">
                  <a:solidFill>
                    <a:srgbClr val="FFFFFF"/>
                  </a:solidFill>
                  <a:latin typeface="Space Grotesk"/>
                  <a:ea typeface="Space Grotesk"/>
                  <a:cs typeface="Space Grotesk"/>
                  <a:sym typeface="Space Grotesk"/>
                </a:rPr>
                <a:t>02</a:t>
              </a:r>
              <a:r>
                <a:rPr lang="en" sz="850" b="1">
                  <a:solidFill>
                    <a:srgbClr val="1A1A24"/>
                  </a:solidFill>
                  <a:latin typeface="Plus Jakarta Sans"/>
                  <a:ea typeface="Plus Jakarta Sans"/>
                  <a:cs typeface="Plus Jakarta Sans"/>
                  <a:sym typeface="Plus Jakarta Sans"/>
                </a:rPr>
                <a:t> Attrition &amp; Risk Monitoring: </a:t>
              </a:r>
              <a:r>
                <a:rPr lang="en" sz="850" b="1">
                  <a:solidFill>
                    <a:srgbClr val="4A4A5A"/>
                  </a:solidFill>
                  <a:latin typeface="Plus Jakarta Sans"/>
                  <a:ea typeface="Plus Jakarta Sans"/>
                  <a:cs typeface="Plus Jakarta Sans"/>
                  <a:sym typeface="Plus Jakarta Sans"/>
                </a:rPr>
                <a:t>Study risk factors like overtime and low satisfaction to protect key talent.</a:t>
              </a:r>
              <a:endParaRPr sz="850" b="1">
                <a:solidFill>
                  <a:srgbClr val="1A1A24"/>
                </a:solidFill>
                <a:latin typeface="Plus Jakarta Sans"/>
                <a:ea typeface="Plus Jakarta Sans"/>
                <a:cs typeface="Plus Jakarta Sans"/>
                <a:sym typeface="Plus Jakarta Sans"/>
              </a:endParaRPr>
            </a:p>
            <a:p>
              <a:pPr marL="0" lvl="0" indent="0" algn="l" rtl="0">
                <a:spcBef>
                  <a:spcPts val="450"/>
                </a:spcBef>
                <a:spcAft>
                  <a:spcPts val="0"/>
                </a:spcAft>
                <a:buNone/>
              </a:pPr>
              <a:r>
                <a:rPr lang="en" sz="850" b="1">
                  <a:solidFill>
                    <a:srgbClr val="1A1A24"/>
                  </a:solidFill>
                  <a:latin typeface="Space Grotesk"/>
                  <a:ea typeface="Space Grotesk"/>
                  <a:cs typeface="Space Grotesk"/>
                  <a:sym typeface="Space Grotesk"/>
                </a:rPr>
                <a:t>03</a:t>
              </a:r>
              <a:r>
                <a:rPr lang="en" sz="850" b="1">
                  <a:solidFill>
                    <a:srgbClr val="1A1A24"/>
                  </a:solidFill>
                  <a:latin typeface="Plus Jakarta Sans"/>
                  <a:ea typeface="Plus Jakarta Sans"/>
                  <a:cs typeface="Plus Jakarta Sans"/>
                  <a:sym typeface="Plus Jakarta Sans"/>
                </a:rPr>
                <a:t> Data-Backed Mobility: </a:t>
              </a:r>
              <a:r>
                <a:rPr lang="en" sz="850" b="1">
                  <a:solidFill>
                    <a:srgbClr val="4A4A5A"/>
                  </a:solidFill>
                  <a:latin typeface="Plus Jakarta Sans"/>
                  <a:ea typeface="Plus Jakarta Sans"/>
                  <a:cs typeface="Plus Jakarta Sans"/>
                  <a:sym typeface="Plus Jakarta Sans"/>
                </a:rPr>
                <a:t>Support transparent promotion decisions with objective evaluation criteria.</a:t>
              </a:r>
              <a:endParaRPr sz="850" b="1">
                <a:solidFill>
                  <a:srgbClr val="1A1A24"/>
                </a:solidFill>
                <a:latin typeface="Plus Jakarta Sans"/>
                <a:ea typeface="Plus Jakarta Sans"/>
                <a:cs typeface="Plus Jakarta Sans"/>
                <a:sym typeface="Plus Jakarta Sans"/>
              </a:endParaRPr>
            </a:p>
            <a:p>
              <a:pPr marL="0" lvl="0" indent="0" algn="l" rtl="0">
                <a:spcBef>
                  <a:spcPts val="450"/>
                </a:spcBef>
                <a:spcAft>
                  <a:spcPts val="0"/>
                </a:spcAft>
                <a:buNone/>
              </a:pPr>
              <a:r>
                <a:rPr lang="en" sz="850" b="1">
                  <a:solidFill>
                    <a:srgbClr val="1A1A24"/>
                  </a:solidFill>
                  <a:latin typeface="Space Grotesk"/>
                  <a:ea typeface="Space Grotesk"/>
                  <a:cs typeface="Space Grotesk"/>
                  <a:sym typeface="Space Grotesk"/>
                </a:rPr>
                <a:t>04</a:t>
              </a:r>
              <a:r>
                <a:rPr lang="en" sz="850" b="1">
                  <a:solidFill>
                    <a:srgbClr val="1A1A24"/>
                  </a:solidFill>
                  <a:latin typeface="Plus Jakarta Sans"/>
                  <a:ea typeface="Plus Jakarta Sans"/>
                  <a:cs typeface="Plus Jakarta Sans"/>
                  <a:sym typeface="Plus Jakarta Sans"/>
                </a:rPr>
                <a:t> Holistic Health Index: </a:t>
              </a:r>
              <a:r>
                <a:rPr lang="en" sz="850" b="1">
                  <a:solidFill>
                    <a:srgbClr val="4A4A5A"/>
                  </a:solidFill>
                  <a:latin typeface="Plus Jakarta Sans"/>
                  <a:ea typeface="Plus Jakarta Sans"/>
                  <a:cs typeface="Plus Jakarta Sans"/>
                  <a:sym typeface="Plus Jakarta Sans"/>
                </a:rPr>
                <a:t>Present overall workforce health through multidimensional KPIs.</a:t>
              </a:r>
              <a:endParaRPr sz="850" b="1">
                <a:solidFill>
                  <a:srgbClr val="1A1A24"/>
                </a:solidFill>
                <a:latin typeface="Plus Jakarta Sans"/>
                <a:ea typeface="Plus Jakarta Sans"/>
                <a:cs typeface="Plus Jakarta Sans"/>
                <a:sym typeface="Plus Jakarta Sans"/>
              </a:endParaRPr>
            </a:p>
            <a:p>
              <a:pPr marL="0" lvl="0" indent="0" algn="l" rtl="0">
                <a:spcBef>
                  <a:spcPts val="450"/>
                </a:spcBef>
                <a:spcAft>
                  <a:spcPts val="450"/>
                </a:spcAft>
                <a:buNone/>
              </a:pPr>
              <a:r>
                <a:rPr lang="en" sz="850" b="1">
                  <a:solidFill>
                    <a:srgbClr val="1A1A24"/>
                  </a:solidFill>
                  <a:latin typeface="Space Grotesk"/>
                  <a:ea typeface="Space Grotesk"/>
                  <a:cs typeface="Space Grotesk"/>
                  <a:sym typeface="Space Grotesk"/>
                </a:rPr>
                <a:t>05</a:t>
              </a:r>
              <a:r>
                <a:rPr lang="en" sz="850" b="1">
                  <a:solidFill>
                    <a:srgbClr val="1A1A24"/>
                  </a:solidFill>
                  <a:latin typeface="Plus Jakarta Sans"/>
                  <a:ea typeface="Plus Jakarta Sans"/>
                  <a:cs typeface="Plus Jakarta Sans"/>
                  <a:sym typeface="Plus Jakarta Sans"/>
                </a:rPr>
                <a:t> AI-Driven Forecasting: </a:t>
              </a:r>
              <a:r>
                <a:rPr lang="en" sz="850" b="1">
                  <a:solidFill>
                    <a:srgbClr val="4A4A5A"/>
                  </a:solidFill>
                  <a:latin typeface="Plus Jakarta Sans"/>
                  <a:ea typeface="Plus Jakarta Sans"/>
                  <a:cs typeface="Plus Jakarta Sans"/>
                  <a:sym typeface="Plus Jakarta Sans"/>
                </a:rPr>
                <a:t>Deploy machine learning models to predict 6-month attrition trends accurately.</a:t>
              </a:r>
              <a:endParaRPr sz="850" b="1">
                <a:solidFill>
                  <a:srgbClr val="1A1A24"/>
                </a:solidFill>
                <a:latin typeface="Plus Jakarta Sans"/>
                <a:ea typeface="Plus Jakarta Sans"/>
                <a:cs typeface="Plus Jakarta Sans"/>
                <a:sym typeface="Plus Jakarta Sans"/>
              </a:endParaRPr>
            </a:p>
          </p:txBody>
        </p:sp>
      </p:grpSp>
    </p:spTree>
  </p:cSld>
  <p:clrMapOvr>
    <a:masterClrMapping/>
  </p:clrMapOvr>
  <mc:AlternateContent xmlns:mc="http://schemas.openxmlformats.org/markup-compatibility/2006">
    <mc:Choice xmlns:p14="http://schemas.microsoft.com/office/powerpoint/2010/main" Requires="p14">
      <p:transition spd="slow" p14:dur="2500">
        <p14:flash/>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p16"/>
          <p:cNvSpPr/>
          <p:nvPr/>
        </p:nvSpPr>
        <p:spPr>
          <a:xfrm>
            <a:off x="0" y="0"/>
            <a:ext cx="9144000" cy="5143500"/>
          </a:xfrm>
          <a:prstGeom prst="rect">
            <a:avLst/>
          </a:prstGeom>
          <a:solidFill>
            <a:srgbClr val="F4F4F0"/>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grpSp>
        <p:nvGrpSpPr>
          <p:cNvPr id="101" name="Google Shape;101;p16"/>
          <p:cNvGrpSpPr/>
          <p:nvPr/>
        </p:nvGrpSpPr>
        <p:grpSpPr>
          <a:xfrm>
            <a:off x="381000" y="228600"/>
            <a:ext cx="419100" cy="419100"/>
            <a:chOff x="0" y="0"/>
            <a:chExt cx="419100" cy="419100"/>
          </a:xfrm>
        </p:grpSpPr>
        <p:sp>
          <p:nvSpPr>
            <p:cNvPr id="102" name="Google Shape;102;p16"/>
            <p:cNvSpPr/>
            <p:nvPr/>
          </p:nvSpPr>
          <p:spPr>
            <a:xfrm>
              <a:off x="38100" y="38100"/>
              <a:ext cx="381000" cy="381000"/>
            </a:xfrm>
            <a:prstGeom prst="roundRect">
              <a:avLst>
                <a:gd name="adj" fmla="val 20000"/>
              </a:avLst>
            </a:prstGeom>
            <a:solidFill>
              <a:srgbClr val="1A1A24"/>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03" name="Google Shape;103;p16"/>
            <p:cNvSpPr/>
            <p:nvPr/>
          </p:nvSpPr>
          <p:spPr>
            <a:xfrm>
              <a:off x="0" y="0"/>
              <a:ext cx="381000" cy="381000"/>
            </a:xfrm>
            <a:prstGeom prst="roundRect">
              <a:avLst>
                <a:gd name="adj" fmla="val 20000"/>
              </a:avLst>
            </a:prstGeom>
            <a:solidFill>
              <a:srgbClr val="FFD93D"/>
            </a:solidFill>
            <a:ln w="28575" cap="flat" cmpd="sng">
              <a:solidFill>
                <a:srgbClr val="1A1A24"/>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04" name="Google Shape;104;p16"/>
            <p:cNvSpPr/>
            <p:nvPr/>
          </p:nvSpPr>
          <p:spPr>
            <a:xfrm>
              <a:off x="95250" y="114300"/>
              <a:ext cx="190500" cy="152400"/>
            </a:xfrm>
            <a:custGeom>
              <a:avLst/>
              <a:gdLst/>
              <a:ahLst/>
              <a:cxnLst/>
              <a:rect l="l" t="t" r="r" b="b"/>
              <a:pathLst>
                <a:path w="120000" h="120000" extrusionOk="0">
                  <a:moveTo>
                    <a:pt x="0" y="0"/>
                  </a:moveTo>
                  <a:lnTo>
                    <a:pt x="36000" y="120000"/>
                  </a:lnTo>
                  <a:lnTo>
                    <a:pt x="60000" y="60000"/>
                  </a:lnTo>
                  <a:lnTo>
                    <a:pt x="84000" y="120000"/>
                  </a:lnTo>
                  <a:lnTo>
                    <a:pt x="120000" y="0"/>
                  </a:lnTo>
                </a:path>
              </a:pathLst>
            </a:custGeom>
            <a:solidFill>
              <a:srgbClr val="000000">
                <a:alpha val="0"/>
              </a:srgbClr>
            </a:solidFill>
            <a:ln w="28575" cap="rnd" cmpd="sng">
              <a:solidFill>
                <a:srgbClr val="1A1A24"/>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grpSp>
      <p:sp>
        <p:nvSpPr>
          <p:cNvPr id="105" name="Google Shape;105;p16"/>
          <p:cNvSpPr txBox="1"/>
          <p:nvPr/>
        </p:nvSpPr>
        <p:spPr>
          <a:xfrm>
            <a:off x="904875" y="190500"/>
            <a:ext cx="7858200" cy="7143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2200" b="1">
                <a:solidFill>
                  <a:srgbClr val="1A1A24"/>
                </a:solidFill>
                <a:latin typeface="Space Grotesk"/>
                <a:ea typeface="Space Grotesk"/>
                <a:cs typeface="Space Grotesk"/>
                <a:sym typeface="Space Grotesk"/>
              </a:rPr>
              <a:t>System Architecture &amp; Data Pipeline Strategy</a:t>
            </a:r>
            <a:endParaRPr sz="2200" b="1">
              <a:solidFill>
                <a:srgbClr val="1A1A24"/>
              </a:solidFill>
              <a:latin typeface="Space Grotesk"/>
              <a:ea typeface="Space Grotesk"/>
              <a:cs typeface="Space Grotesk"/>
              <a:sym typeface="Space Grotesk"/>
            </a:endParaRPr>
          </a:p>
          <a:p>
            <a:pPr marL="0" lvl="0" indent="0" algn="l" rtl="0">
              <a:spcBef>
                <a:spcPts val="150"/>
              </a:spcBef>
              <a:spcAft>
                <a:spcPts val="0"/>
              </a:spcAft>
              <a:buNone/>
            </a:pPr>
            <a:r>
              <a:rPr lang="en" sz="1100" b="0">
                <a:solidFill>
                  <a:srgbClr val="4A4A5A"/>
                </a:solidFill>
                <a:latin typeface="Plus Jakarta Sans"/>
                <a:ea typeface="Plus Jakarta Sans"/>
                <a:cs typeface="Plus Jakarta Sans"/>
                <a:sym typeface="Plus Jakarta Sans"/>
              </a:rPr>
              <a:t>End-to-end data processing workflow from disparate sources to predictive analytics</a:t>
            </a:r>
            <a:endParaRPr sz="1100" b="0">
              <a:solidFill>
                <a:srgbClr val="4A4A5A"/>
              </a:solidFill>
              <a:latin typeface="Plus Jakarta Sans"/>
              <a:ea typeface="Plus Jakarta Sans"/>
              <a:cs typeface="Plus Jakarta Sans"/>
              <a:sym typeface="Plus Jakarta Sans"/>
            </a:endParaRPr>
          </a:p>
        </p:txBody>
      </p:sp>
      <p:cxnSp>
        <p:nvCxnSpPr>
          <p:cNvPr id="106" name="Google Shape;106;p16"/>
          <p:cNvCxnSpPr/>
          <p:nvPr/>
        </p:nvCxnSpPr>
        <p:spPr>
          <a:xfrm>
            <a:off x="381000" y="971550"/>
            <a:ext cx="8382000" cy="0"/>
          </a:xfrm>
          <a:prstGeom prst="straightConnector1">
            <a:avLst/>
          </a:prstGeom>
          <a:solidFill>
            <a:srgbClr val="FFFFFF"/>
          </a:solidFill>
          <a:ln w="28575" cap="flat" cmpd="sng">
            <a:solidFill>
              <a:srgbClr val="1A1A24"/>
            </a:solidFill>
            <a:prstDash val="solid"/>
            <a:round/>
            <a:headEnd type="none" w="sm" len="sm"/>
            <a:tailEnd type="none" w="sm" len="sm"/>
          </a:ln>
        </p:spPr>
      </p:cxnSp>
      <p:grpSp>
        <p:nvGrpSpPr>
          <p:cNvPr id="107" name="Google Shape;107;p16"/>
          <p:cNvGrpSpPr/>
          <p:nvPr/>
        </p:nvGrpSpPr>
        <p:grpSpPr>
          <a:xfrm>
            <a:off x="381000" y="1123950"/>
            <a:ext cx="8420100" cy="1467000"/>
            <a:chOff x="0" y="0"/>
            <a:chExt cx="8420100" cy="1467000"/>
          </a:xfrm>
        </p:grpSpPr>
        <p:sp>
          <p:nvSpPr>
            <p:cNvPr id="108" name="Google Shape;108;p16"/>
            <p:cNvSpPr/>
            <p:nvPr/>
          </p:nvSpPr>
          <p:spPr>
            <a:xfrm>
              <a:off x="38100" y="38100"/>
              <a:ext cx="8382000" cy="1428900"/>
            </a:xfrm>
            <a:prstGeom prst="roundRect">
              <a:avLst>
                <a:gd name="adj" fmla="val 8000"/>
              </a:avLst>
            </a:prstGeom>
            <a:solidFill>
              <a:srgbClr val="1A1A24"/>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09" name="Google Shape;109;p16"/>
            <p:cNvSpPr/>
            <p:nvPr/>
          </p:nvSpPr>
          <p:spPr>
            <a:xfrm>
              <a:off x="0" y="0"/>
              <a:ext cx="8382000" cy="1428900"/>
            </a:xfrm>
            <a:prstGeom prst="roundRect">
              <a:avLst>
                <a:gd name="adj" fmla="val 8000"/>
              </a:avLst>
            </a:prstGeom>
            <a:solidFill>
              <a:srgbClr val="FFFFFF"/>
            </a:solidFill>
            <a:ln w="28575" cap="flat" cmpd="sng">
              <a:solidFill>
                <a:srgbClr val="1A1A24"/>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10" name="Google Shape;110;p16"/>
            <p:cNvSpPr/>
            <p:nvPr/>
          </p:nvSpPr>
          <p:spPr>
            <a:xfrm>
              <a:off x="152400" y="133350"/>
              <a:ext cx="1428900" cy="209700"/>
            </a:xfrm>
            <a:prstGeom prst="roundRect">
              <a:avLst>
                <a:gd name="adj" fmla="val 27272"/>
              </a:avLst>
            </a:prstGeom>
            <a:solidFill>
              <a:srgbClr val="C8B6FF"/>
            </a:solidFill>
            <a:ln w="19050" cap="flat" cmpd="sng">
              <a:solidFill>
                <a:srgbClr val="1A1A24"/>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11" name="Google Shape;111;p16"/>
            <p:cNvSpPr txBox="1"/>
            <p:nvPr/>
          </p:nvSpPr>
          <p:spPr>
            <a:xfrm>
              <a:off x="152400" y="133350"/>
              <a:ext cx="1428900" cy="2097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740" b="1">
                  <a:solidFill>
                    <a:srgbClr val="1A1A24"/>
                  </a:solidFill>
                  <a:latin typeface="Plus Jakarta Sans"/>
                  <a:ea typeface="Plus Jakarta Sans"/>
                  <a:cs typeface="Plus Jakarta Sans"/>
                  <a:sym typeface="Plus Jakarta Sans"/>
                </a:rPr>
                <a:t>DATA PROCESSING PIPELINE</a:t>
              </a:r>
              <a:endParaRPr sz="740" b="1">
                <a:solidFill>
                  <a:srgbClr val="1A1A24"/>
                </a:solidFill>
                <a:latin typeface="Plus Jakarta Sans"/>
                <a:ea typeface="Plus Jakarta Sans"/>
                <a:cs typeface="Plus Jakarta Sans"/>
                <a:sym typeface="Plus Jakarta Sans"/>
              </a:endParaRPr>
            </a:p>
          </p:txBody>
        </p:sp>
        <p:pic>
          <p:nvPicPr>
            <p:cNvPr id="112" name="Google Shape;112;p16"/>
            <p:cNvPicPr preferRelativeResize="0"/>
            <p:nvPr/>
          </p:nvPicPr>
          <p:blipFill rotWithShape="1">
            <a:blip r:embed="rId3">
              <a:alphaModFix/>
            </a:blip>
            <a:srcRect/>
            <a:stretch/>
          </p:blipFill>
          <p:spPr>
            <a:xfrm>
              <a:off x="1524000" y="747713"/>
              <a:ext cx="5315100" cy="28500"/>
            </a:xfrm>
            <a:prstGeom prst="rect">
              <a:avLst/>
            </a:prstGeom>
            <a:noFill/>
            <a:ln>
              <a:noFill/>
            </a:ln>
          </p:spPr>
        </p:pic>
        <p:grpSp>
          <p:nvGrpSpPr>
            <p:cNvPr id="113" name="Google Shape;113;p16"/>
            <p:cNvGrpSpPr/>
            <p:nvPr/>
          </p:nvGrpSpPr>
          <p:grpSpPr>
            <a:xfrm>
              <a:off x="381000" y="476250"/>
              <a:ext cx="1171575" cy="600075"/>
              <a:chOff x="0" y="0"/>
              <a:chExt cx="1171575" cy="600075"/>
            </a:xfrm>
          </p:grpSpPr>
          <p:sp>
            <p:nvSpPr>
              <p:cNvPr id="114" name="Google Shape;114;p16"/>
              <p:cNvSpPr/>
              <p:nvPr/>
            </p:nvSpPr>
            <p:spPr>
              <a:xfrm>
                <a:off x="28575" y="28575"/>
                <a:ext cx="1143000" cy="571500"/>
              </a:xfrm>
              <a:prstGeom prst="roundRect">
                <a:avLst>
                  <a:gd name="adj" fmla="val 13333"/>
                </a:avLst>
              </a:prstGeom>
              <a:solidFill>
                <a:srgbClr val="1A1A24"/>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15" name="Google Shape;115;p16"/>
              <p:cNvSpPr/>
              <p:nvPr/>
            </p:nvSpPr>
            <p:spPr>
              <a:xfrm>
                <a:off x="0" y="0"/>
                <a:ext cx="1143000" cy="571500"/>
              </a:xfrm>
              <a:prstGeom prst="roundRect">
                <a:avLst>
                  <a:gd name="adj" fmla="val 13333"/>
                </a:avLst>
              </a:prstGeom>
              <a:solidFill>
                <a:srgbClr val="FFD93D"/>
              </a:solidFill>
              <a:ln w="19050" cap="flat" cmpd="sng">
                <a:solidFill>
                  <a:srgbClr val="1A1A24"/>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16" name="Google Shape;116;p16"/>
              <p:cNvSpPr txBox="1"/>
              <p:nvPr/>
            </p:nvSpPr>
            <p:spPr>
              <a:xfrm>
                <a:off x="76200" y="76200"/>
                <a:ext cx="990600" cy="4191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833" b="1">
                    <a:solidFill>
                      <a:srgbClr val="1A1A24"/>
                    </a:solidFill>
                    <a:latin typeface="Space Grotesk"/>
                    <a:ea typeface="Space Grotesk"/>
                    <a:cs typeface="Space Grotesk"/>
                    <a:sym typeface="Space Grotesk"/>
                  </a:rPr>
                  <a:t>1. DATA SOURCES</a:t>
                </a:r>
                <a:endParaRPr sz="833" b="1">
                  <a:solidFill>
                    <a:srgbClr val="1A1A24"/>
                  </a:solidFill>
                  <a:latin typeface="Space Grotesk"/>
                  <a:ea typeface="Space Grotesk"/>
                  <a:cs typeface="Space Grotesk"/>
                  <a:sym typeface="Space Grotesk"/>
                </a:endParaRPr>
              </a:p>
              <a:p>
                <a:pPr marL="0" lvl="0" indent="0" algn="ctr" rtl="0">
                  <a:spcBef>
                    <a:spcPts val="0"/>
                  </a:spcBef>
                  <a:spcAft>
                    <a:spcPts val="0"/>
                  </a:spcAft>
                  <a:buNone/>
                </a:pPr>
                <a:r>
                  <a:rPr lang="en" sz="740" b="0">
                    <a:solidFill>
                      <a:srgbClr val="4A4A5A"/>
                    </a:solidFill>
                    <a:latin typeface="Plus Jakarta Sans Medium"/>
                    <a:ea typeface="Plus Jakarta Sans Medium"/>
                    <a:cs typeface="Plus Jakarta Sans Medium"/>
                    <a:sym typeface="Plus Jakarta Sans Medium"/>
                  </a:rPr>
                  <a:t>HRIS, Attendance &amp; Payroll Systems</a:t>
                </a:r>
                <a:endParaRPr sz="740" b="0">
                  <a:solidFill>
                    <a:srgbClr val="4A4A5A"/>
                  </a:solidFill>
                  <a:latin typeface="Plus Jakarta Sans Medium"/>
                  <a:ea typeface="Plus Jakarta Sans Medium"/>
                  <a:cs typeface="Plus Jakarta Sans Medium"/>
                  <a:sym typeface="Plus Jakarta Sans Medium"/>
                </a:endParaRPr>
              </a:p>
            </p:txBody>
          </p:sp>
        </p:grpSp>
        <p:grpSp>
          <p:nvGrpSpPr>
            <p:cNvPr id="117" name="Google Shape;117;p16"/>
            <p:cNvGrpSpPr/>
            <p:nvPr/>
          </p:nvGrpSpPr>
          <p:grpSpPr>
            <a:xfrm>
              <a:off x="2381250" y="476250"/>
              <a:ext cx="1171575" cy="600075"/>
              <a:chOff x="0" y="0"/>
              <a:chExt cx="1171575" cy="600075"/>
            </a:xfrm>
          </p:grpSpPr>
          <p:sp>
            <p:nvSpPr>
              <p:cNvPr id="118" name="Google Shape;118;p16"/>
              <p:cNvSpPr/>
              <p:nvPr/>
            </p:nvSpPr>
            <p:spPr>
              <a:xfrm>
                <a:off x="28575" y="28575"/>
                <a:ext cx="1143000" cy="571500"/>
              </a:xfrm>
              <a:prstGeom prst="roundRect">
                <a:avLst>
                  <a:gd name="adj" fmla="val 13333"/>
                </a:avLst>
              </a:prstGeom>
              <a:solidFill>
                <a:srgbClr val="1A1A24"/>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19" name="Google Shape;119;p16"/>
              <p:cNvSpPr/>
              <p:nvPr/>
            </p:nvSpPr>
            <p:spPr>
              <a:xfrm>
                <a:off x="0" y="0"/>
                <a:ext cx="1143000" cy="571500"/>
              </a:xfrm>
              <a:prstGeom prst="roundRect">
                <a:avLst>
                  <a:gd name="adj" fmla="val 13333"/>
                </a:avLst>
              </a:prstGeom>
              <a:solidFill>
                <a:srgbClr val="FF6B6B"/>
              </a:solidFill>
              <a:ln w="19050" cap="flat" cmpd="sng">
                <a:solidFill>
                  <a:srgbClr val="1A1A24"/>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20" name="Google Shape;120;p16"/>
              <p:cNvSpPr txBox="1"/>
              <p:nvPr/>
            </p:nvSpPr>
            <p:spPr>
              <a:xfrm>
                <a:off x="76200" y="76200"/>
                <a:ext cx="990600" cy="4191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833" b="1">
                    <a:solidFill>
                      <a:srgbClr val="FFFFFF"/>
                    </a:solidFill>
                    <a:latin typeface="Space Grotesk"/>
                    <a:ea typeface="Space Grotesk"/>
                    <a:cs typeface="Space Grotesk"/>
                    <a:sym typeface="Space Grotesk"/>
                  </a:rPr>
                  <a:t>2. ETL &amp; INGESTION</a:t>
                </a:r>
                <a:endParaRPr sz="833" b="1">
                  <a:solidFill>
                    <a:srgbClr val="FFFFFF"/>
                  </a:solidFill>
                  <a:latin typeface="Space Grotesk"/>
                  <a:ea typeface="Space Grotesk"/>
                  <a:cs typeface="Space Grotesk"/>
                  <a:sym typeface="Space Grotesk"/>
                </a:endParaRPr>
              </a:p>
              <a:p>
                <a:pPr marL="0" lvl="0" indent="0" algn="ctr" rtl="0">
                  <a:spcBef>
                    <a:spcPts val="0"/>
                  </a:spcBef>
                  <a:spcAft>
                    <a:spcPts val="0"/>
                  </a:spcAft>
                  <a:buNone/>
                </a:pPr>
                <a:r>
                  <a:rPr lang="en" sz="740" b="0">
                    <a:solidFill>
                      <a:srgbClr val="FFFFFF"/>
                    </a:solidFill>
                    <a:latin typeface="Plus Jakarta Sans Medium"/>
                    <a:ea typeface="Plus Jakarta Sans Medium"/>
                    <a:cs typeface="Plus Jakarta Sans Medium"/>
                    <a:sym typeface="Plus Jakarta Sans Medium"/>
                  </a:rPr>
                  <a:t>Centralization &amp; Cleaning</a:t>
                </a:r>
                <a:endParaRPr sz="740" b="0">
                  <a:solidFill>
                    <a:srgbClr val="FFFFFF"/>
                  </a:solidFill>
                  <a:latin typeface="Plus Jakarta Sans Medium"/>
                  <a:ea typeface="Plus Jakarta Sans Medium"/>
                  <a:cs typeface="Plus Jakarta Sans Medium"/>
                  <a:sym typeface="Plus Jakarta Sans Medium"/>
                </a:endParaRPr>
              </a:p>
            </p:txBody>
          </p:sp>
        </p:grpSp>
        <p:grpSp>
          <p:nvGrpSpPr>
            <p:cNvPr id="121" name="Google Shape;121;p16"/>
            <p:cNvGrpSpPr/>
            <p:nvPr/>
          </p:nvGrpSpPr>
          <p:grpSpPr>
            <a:xfrm>
              <a:off x="4381500" y="476250"/>
              <a:ext cx="1171575" cy="600075"/>
              <a:chOff x="0" y="0"/>
              <a:chExt cx="1171575" cy="600075"/>
            </a:xfrm>
          </p:grpSpPr>
          <p:sp>
            <p:nvSpPr>
              <p:cNvPr id="122" name="Google Shape;122;p16"/>
              <p:cNvSpPr/>
              <p:nvPr/>
            </p:nvSpPr>
            <p:spPr>
              <a:xfrm>
                <a:off x="28575" y="28575"/>
                <a:ext cx="1143000" cy="571500"/>
              </a:xfrm>
              <a:prstGeom prst="roundRect">
                <a:avLst>
                  <a:gd name="adj" fmla="val 13333"/>
                </a:avLst>
              </a:prstGeom>
              <a:solidFill>
                <a:srgbClr val="1A1A24"/>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23" name="Google Shape;123;p16"/>
              <p:cNvSpPr/>
              <p:nvPr/>
            </p:nvSpPr>
            <p:spPr>
              <a:xfrm>
                <a:off x="0" y="0"/>
                <a:ext cx="1143000" cy="571500"/>
              </a:xfrm>
              <a:prstGeom prst="roundRect">
                <a:avLst>
                  <a:gd name="adj" fmla="val 13333"/>
                </a:avLst>
              </a:prstGeom>
              <a:solidFill>
                <a:srgbClr val="4ECDC4"/>
              </a:solidFill>
              <a:ln w="19050" cap="flat" cmpd="sng">
                <a:solidFill>
                  <a:srgbClr val="1A1A24"/>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24" name="Google Shape;124;p16"/>
              <p:cNvSpPr txBox="1"/>
              <p:nvPr/>
            </p:nvSpPr>
            <p:spPr>
              <a:xfrm>
                <a:off x="76200" y="76200"/>
                <a:ext cx="990600" cy="4191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833" b="1">
                    <a:solidFill>
                      <a:srgbClr val="1A1A24"/>
                    </a:solidFill>
                    <a:latin typeface="Space Grotesk"/>
                    <a:ea typeface="Space Grotesk"/>
                    <a:cs typeface="Space Grotesk"/>
                    <a:sym typeface="Space Grotesk"/>
                  </a:rPr>
                  <a:t>3. AI / ML ENGINE</a:t>
                </a:r>
                <a:endParaRPr sz="833" b="1">
                  <a:solidFill>
                    <a:srgbClr val="1A1A24"/>
                  </a:solidFill>
                  <a:latin typeface="Space Grotesk"/>
                  <a:ea typeface="Space Grotesk"/>
                  <a:cs typeface="Space Grotesk"/>
                  <a:sym typeface="Space Grotesk"/>
                </a:endParaRPr>
              </a:p>
              <a:p>
                <a:pPr marL="0" lvl="0" indent="0" algn="ctr" rtl="0">
                  <a:spcBef>
                    <a:spcPts val="0"/>
                  </a:spcBef>
                  <a:spcAft>
                    <a:spcPts val="0"/>
                  </a:spcAft>
                  <a:buNone/>
                </a:pPr>
                <a:r>
                  <a:rPr lang="en" sz="740" b="0">
                    <a:solidFill>
                      <a:srgbClr val="4A4A5A"/>
                    </a:solidFill>
                    <a:latin typeface="Plus Jakarta Sans Medium"/>
                    <a:ea typeface="Plus Jakarta Sans Medium"/>
                    <a:cs typeface="Plus Jakarta Sans Medium"/>
                    <a:sym typeface="Plus Jakarta Sans Medium"/>
                  </a:rPr>
                  <a:t>Attrition Forecasting Models</a:t>
                </a:r>
                <a:endParaRPr sz="740" b="0">
                  <a:solidFill>
                    <a:srgbClr val="4A4A5A"/>
                  </a:solidFill>
                  <a:latin typeface="Plus Jakarta Sans Medium"/>
                  <a:ea typeface="Plus Jakarta Sans Medium"/>
                  <a:cs typeface="Plus Jakarta Sans Medium"/>
                  <a:sym typeface="Plus Jakarta Sans Medium"/>
                </a:endParaRPr>
              </a:p>
            </p:txBody>
          </p:sp>
        </p:grpSp>
        <p:grpSp>
          <p:nvGrpSpPr>
            <p:cNvPr id="125" name="Google Shape;125;p16"/>
            <p:cNvGrpSpPr/>
            <p:nvPr/>
          </p:nvGrpSpPr>
          <p:grpSpPr>
            <a:xfrm>
              <a:off x="6381750" y="476250"/>
              <a:ext cx="1171575" cy="600075"/>
              <a:chOff x="0" y="0"/>
              <a:chExt cx="1171575" cy="600075"/>
            </a:xfrm>
          </p:grpSpPr>
          <p:sp>
            <p:nvSpPr>
              <p:cNvPr id="126" name="Google Shape;126;p16"/>
              <p:cNvSpPr/>
              <p:nvPr/>
            </p:nvSpPr>
            <p:spPr>
              <a:xfrm>
                <a:off x="28575" y="28575"/>
                <a:ext cx="1143000" cy="571500"/>
              </a:xfrm>
              <a:prstGeom prst="roundRect">
                <a:avLst>
                  <a:gd name="adj" fmla="val 13333"/>
                </a:avLst>
              </a:prstGeom>
              <a:solidFill>
                <a:srgbClr val="1A1A24"/>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27" name="Google Shape;127;p16"/>
              <p:cNvSpPr/>
              <p:nvPr/>
            </p:nvSpPr>
            <p:spPr>
              <a:xfrm>
                <a:off x="0" y="0"/>
                <a:ext cx="1143000" cy="571500"/>
              </a:xfrm>
              <a:prstGeom prst="roundRect">
                <a:avLst>
                  <a:gd name="adj" fmla="val 13333"/>
                </a:avLst>
              </a:prstGeom>
              <a:solidFill>
                <a:srgbClr val="C8B6FF"/>
              </a:solidFill>
              <a:ln w="19050" cap="flat" cmpd="sng">
                <a:solidFill>
                  <a:srgbClr val="1A1A24"/>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28" name="Google Shape;128;p16"/>
              <p:cNvSpPr txBox="1"/>
              <p:nvPr/>
            </p:nvSpPr>
            <p:spPr>
              <a:xfrm>
                <a:off x="76200" y="76200"/>
                <a:ext cx="990600" cy="4191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833" b="1">
                    <a:solidFill>
                      <a:srgbClr val="1A1A24"/>
                    </a:solidFill>
                    <a:latin typeface="Space Grotesk"/>
                    <a:ea typeface="Space Grotesk"/>
                    <a:cs typeface="Space Grotesk"/>
                    <a:sym typeface="Space Grotesk"/>
                  </a:rPr>
                  <a:t>4. DASHBOARD</a:t>
                </a:r>
                <a:endParaRPr sz="833" b="1">
                  <a:solidFill>
                    <a:srgbClr val="1A1A24"/>
                  </a:solidFill>
                  <a:latin typeface="Space Grotesk"/>
                  <a:ea typeface="Space Grotesk"/>
                  <a:cs typeface="Space Grotesk"/>
                  <a:sym typeface="Space Grotesk"/>
                </a:endParaRPr>
              </a:p>
              <a:p>
                <a:pPr marL="0" lvl="0" indent="0" algn="ctr" rtl="0">
                  <a:spcBef>
                    <a:spcPts val="0"/>
                  </a:spcBef>
                  <a:spcAft>
                    <a:spcPts val="0"/>
                  </a:spcAft>
                  <a:buNone/>
                </a:pPr>
                <a:r>
                  <a:rPr lang="en" sz="740" b="0">
                    <a:solidFill>
                      <a:srgbClr val="4A4A5A"/>
                    </a:solidFill>
                    <a:latin typeface="Plus Jakarta Sans Medium"/>
                    <a:ea typeface="Plus Jakarta Sans Medium"/>
                    <a:cs typeface="Plus Jakarta Sans Medium"/>
                    <a:sym typeface="Plus Jakarta Sans Medium"/>
                  </a:rPr>
                  <a:t>Visual Analytics &amp; KPIs</a:t>
                </a:r>
                <a:endParaRPr sz="740" b="0">
                  <a:solidFill>
                    <a:srgbClr val="4A4A5A"/>
                  </a:solidFill>
                  <a:latin typeface="Plus Jakarta Sans Medium"/>
                  <a:ea typeface="Plus Jakarta Sans Medium"/>
                  <a:cs typeface="Plus Jakarta Sans Medium"/>
                  <a:sym typeface="Plus Jakarta Sans Medium"/>
                </a:endParaRPr>
              </a:p>
            </p:txBody>
          </p:sp>
        </p:grpSp>
      </p:grpSp>
      <p:grpSp>
        <p:nvGrpSpPr>
          <p:cNvPr id="129" name="Google Shape;129;p16"/>
          <p:cNvGrpSpPr/>
          <p:nvPr/>
        </p:nvGrpSpPr>
        <p:grpSpPr>
          <a:xfrm>
            <a:off x="381000" y="2714625"/>
            <a:ext cx="8420025" cy="2133600"/>
            <a:chOff x="0" y="0"/>
            <a:chExt cx="8420025" cy="2133600"/>
          </a:xfrm>
        </p:grpSpPr>
        <p:grpSp>
          <p:nvGrpSpPr>
            <p:cNvPr id="130" name="Google Shape;130;p16"/>
            <p:cNvGrpSpPr/>
            <p:nvPr/>
          </p:nvGrpSpPr>
          <p:grpSpPr>
            <a:xfrm>
              <a:off x="0" y="0"/>
              <a:ext cx="2657400" cy="2133600"/>
              <a:chOff x="0" y="0"/>
              <a:chExt cx="2657400" cy="2133600"/>
            </a:xfrm>
          </p:grpSpPr>
          <p:sp>
            <p:nvSpPr>
              <p:cNvPr id="131" name="Google Shape;131;p16"/>
              <p:cNvSpPr/>
              <p:nvPr/>
            </p:nvSpPr>
            <p:spPr>
              <a:xfrm>
                <a:off x="38100" y="38100"/>
                <a:ext cx="2619300" cy="2095500"/>
              </a:xfrm>
              <a:prstGeom prst="roundRect">
                <a:avLst>
                  <a:gd name="adj" fmla="val 5454"/>
                </a:avLst>
              </a:prstGeom>
              <a:solidFill>
                <a:srgbClr val="1A1A24"/>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32" name="Google Shape;132;p16"/>
              <p:cNvSpPr/>
              <p:nvPr/>
            </p:nvSpPr>
            <p:spPr>
              <a:xfrm>
                <a:off x="0" y="0"/>
                <a:ext cx="2619300" cy="2095500"/>
              </a:xfrm>
              <a:prstGeom prst="roundRect">
                <a:avLst>
                  <a:gd name="adj" fmla="val 5454"/>
                </a:avLst>
              </a:prstGeom>
              <a:solidFill>
                <a:srgbClr val="FFFFFF"/>
              </a:solidFill>
              <a:ln w="28575" cap="flat" cmpd="sng">
                <a:solidFill>
                  <a:srgbClr val="1A1A24"/>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33" name="Google Shape;133;p16"/>
              <p:cNvSpPr/>
              <p:nvPr/>
            </p:nvSpPr>
            <p:spPr>
              <a:xfrm>
                <a:off x="0" y="0"/>
                <a:ext cx="2619300" cy="114300"/>
              </a:xfrm>
              <a:custGeom>
                <a:avLst/>
                <a:gdLst/>
                <a:ahLst/>
                <a:cxnLst/>
                <a:rect l="l" t="t" r="r" b="b"/>
                <a:pathLst>
                  <a:path w="120000" h="120000" extrusionOk="0">
                    <a:moveTo>
                      <a:pt x="0" y="120000"/>
                    </a:moveTo>
                    <a:cubicBezTo>
                      <a:pt x="0" y="53700"/>
                      <a:pt x="2343" y="0"/>
                      <a:pt x="5236" y="0"/>
                    </a:cubicBezTo>
                    <a:lnTo>
                      <a:pt x="114764" y="0"/>
                    </a:lnTo>
                    <a:cubicBezTo>
                      <a:pt x="117657" y="0"/>
                      <a:pt x="120000" y="53700"/>
                      <a:pt x="120000" y="120000"/>
                    </a:cubicBezTo>
                    <a:lnTo>
                      <a:pt x="120000" y="100000"/>
                    </a:lnTo>
                    <a:lnTo>
                      <a:pt x="0" y="100000"/>
                    </a:lnTo>
                    <a:close/>
                  </a:path>
                </a:pathLst>
              </a:custGeom>
              <a:solidFill>
                <a:srgbClr val="FFD93D"/>
              </a:solidFill>
              <a:ln w="28575" cap="flat" cmpd="sng">
                <a:solidFill>
                  <a:srgbClr val="1A1A24"/>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34" name="Google Shape;134;p16"/>
              <p:cNvSpPr txBox="1"/>
              <p:nvPr/>
            </p:nvSpPr>
            <p:spPr>
              <a:xfrm>
                <a:off x="152400" y="209550"/>
                <a:ext cx="2314500" cy="17145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1300" b="1">
                    <a:solidFill>
                      <a:srgbClr val="1A1A24"/>
                    </a:solidFill>
                    <a:latin typeface="Space Grotesk"/>
                    <a:ea typeface="Space Grotesk"/>
                    <a:cs typeface="Space Grotesk"/>
                    <a:sym typeface="Space Grotesk"/>
                  </a:rPr>
                  <a:t>1. Data Integration</a:t>
                </a:r>
                <a:endParaRPr sz="1300" b="1">
                  <a:solidFill>
                    <a:srgbClr val="1A1A24"/>
                  </a:solidFill>
                  <a:latin typeface="Space Grotesk"/>
                  <a:ea typeface="Space Grotesk"/>
                  <a:cs typeface="Space Grotesk"/>
                  <a:sym typeface="Space Grotesk"/>
                </a:endParaRPr>
              </a:p>
              <a:p>
                <a:pPr marL="0" lvl="0" indent="0" algn="l" rtl="0">
                  <a:spcBef>
                    <a:spcPts val="450"/>
                  </a:spcBef>
                  <a:spcAft>
                    <a:spcPts val="0"/>
                  </a:spcAft>
                  <a:buNone/>
                </a:pPr>
                <a:r>
                  <a:rPr lang="en" sz="950" b="0">
                    <a:solidFill>
                      <a:srgbClr val="4A4A5A"/>
                    </a:solidFill>
                    <a:latin typeface="Plus Jakarta Sans"/>
                    <a:ea typeface="Plus Jakarta Sans"/>
                    <a:cs typeface="Plus Jakarta Sans"/>
                    <a:sym typeface="Plus Jakarta Sans"/>
                  </a:rPr>
                  <a:t>Aggregates raw employee data across legacy HRIS databases, attendance records, and performance tracking tools.</a:t>
                </a:r>
                <a:endParaRPr sz="950" b="0">
                  <a:solidFill>
                    <a:srgbClr val="4A4A5A"/>
                  </a:solidFill>
                  <a:latin typeface="Plus Jakarta Sans"/>
                  <a:ea typeface="Plus Jakarta Sans"/>
                  <a:cs typeface="Plus Jakarta Sans"/>
                  <a:sym typeface="Plus Jakarta Sans"/>
                </a:endParaRPr>
              </a:p>
              <a:p>
                <a:pPr marL="0" lvl="0" indent="0" algn="l" rtl="0">
                  <a:spcBef>
                    <a:spcPts val="600"/>
                  </a:spcBef>
                  <a:spcAft>
                    <a:spcPts val="0"/>
                  </a:spcAft>
                  <a:buNone/>
                </a:pPr>
                <a:r>
                  <a:rPr lang="en" sz="950" b="1">
                    <a:solidFill>
                      <a:srgbClr val="1A1A24"/>
                    </a:solidFill>
                    <a:latin typeface="Plus Jakarta Sans"/>
                    <a:ea typeface="Plus Jakarta Sans"/>
                    <a:cs typeface="Plus Jakarta Sans"/>
                    <a:sym typeface="Plus Jakarta Sans"/>
                  </a:rPr>
                  <a:t>Core Output:</a:t>
                </a:r>
                <a:endParaRPr sz="950" b="1">
                  <a:solidFill>
                    <a:srgbClr val="1A1A24"/>
                  </a:solidFill>
                  <a:latin typeface="Plus Jakarta Sans"/>
                  <a:ea typeface="Plus Jakarta Sans"/>
                  <a:cs typeface="Plus Jakarta Sans"/>
                  <a:sym typeface="Plus Jakarta Sans"/>
                </a:endParaRPr>
              </a:p>
              <a:p>
                <a:pPr marL="0" lvl="0" indent="0" algn="l" rtl="0">
                  <a:spcBef>
                    <a:spcPts val="0"/>
                  </a:spcBef>
                  <a:spcAft>
                    <a:spcPts val="0"/>
                  </a:spcAft>
                  <a:buNone/>
                </a:pPr>
                <a:r>
                  <a:rPr lang="en" sz="950" b="0">
                    <a:solidFill>
                      <a:srgbClr val="4A4A5A"/>
                    </a:solidFill>
                    <a:latin typeface="Plus Jakarta Sans"/>
                    <a:ea typeface="Plus Jakarta Sans"/>
                    <a:cs typeface="Plus Jakarta Sans"/>
                    <a:sym typeface="Plus Jakarta Sans"/>
                  </a:rPr>
                  <a:t>• Unified Employee Profiles</a:t>
                </a:r>
                <a:br>
                  <a:rPr lang="en" sz="950" b="0">
                    <a:solidFill>
                      <a:srgbClr val="4A4A5A"/>
                    </a:solidFill>
                    <a:latin typeface="Plus Jakarta Sans"/>
                    <a:ea typeface="Plus Jakarta Sans"/>
                    <a:cs typeface="Plus Jakarta Sans"/>
                    <a:sym typeface="Plus Jakarta Sans"/>
                  </a:rPr>
                </a:br>
                <a:r>
                  <a:rPr lang="en" sz="950" b="0">
                    <a:solidFill>
                      <a:srgbClr val="4A4A5A"/>
                    </a:solidFill>
                    <a:latin typeface="Plus Jakarta Sans"/>
                    <a:ea typeface="Plus Jakarta Sans"/>
                    <a:cs typeface="Plus Jakarta Sans"/>
                    <a:sym typeface="Plus Jakarta Sans"/>
                  </a:rPr>
                  <a:t>• Standardized Performance Metrics</a:t>
                </a:r>
                <a:br>
                  <a:rPr lang="en" sz="950" b="0">
                    <a:solidFill>
                      <a:srgbClr val="4A4A5A"/>
                    </a:solidFill>
                    <a:latin typeface="Plus Jakarta Sans"/>
                    <a:ea typeface="Plus Jakarta Sans"/>
                    <a:cs typeface="Plus Jakarta Sans"/>
                    <a:sym typeface="Plus Jakarta Sans"/>
                  </a:rPr>
                </a:br>
                <a:r>
                  <a:rPr lang="en" sz="950" b="0">
                    <a:solidFill>
                      <a:srgbClr val="4A4A5A"/>
                    </a:solidFill>
                    <a:latin typeface="Plus Jakarta Sans"/>
                    <a:ea typeface="Plus Jakarta Sans"/>
                    <a:cs typeface="Plus Jakarta Sans"/>
                    <a:sym typeface="Plus Jakarta Sans"/>
                  </a:rPr>
                  <a:t>• Real-Time Attendance Streams</a:t>
                </a:r>
                <a:endParaRPr sz="950" b="0">
                  <a:solidFill>
                    <a:srgbClr val="4A4A5A"/>
                  </a:solidFill>
                  <a:latin typeface="Plus Jakarta Sans"/>
                  <a:ea typeface="Plus Jakarta Sans"/>
                  <a:cs typeface="Plus Jakarta Sans"/>
                  <a:sym typeface="Plus Jakarta Sans"/>
                </a:endParaRPr>
              </a:p>
            </p:txBody>
          </p:sp>
        </p:grpSp>
        <p:grpSp>
          <p:nvGrpSpPr>
            <p:cNvPr id="135" name="Google Shape;135;p16"/>
            <p:cNvGrpSpPr/>
            <p:nvPr/>
          </p:nvGrpSpPr>
          <p:grpSpPr>
            <a:xfrm>
              <a:off x="2876550" y="0"/>
              <a:ext cx="2657400" cy="2133600"/>
              <a:chOff x="0" y="0"/>
              <a:chExt cx="2657400" cy="2133600"/>
            </a:xfrm>
          </p:grpSpPr>
          <p:sp>
            <p:nvSpPr>
              <p:cNvPr id="136" name="Google Shape;136;p16"/>
              <p:cNvSpPr/>
              <p:nvPr/>
            </p:nvSpPr>
            <p:spPr>
              <a:xfrm>
                <a:off x="38100" y="38100"/>
                <a:ext cx="2619300" cy="2095500"/>
              </a:xfrm>
              <a:prstGeom prst="roundRect">
                <a:avLst>
                  <a:gd name="adj" fmla="val 5454"/>
                </a:avLst>
              </a:prstGeom>
              <a:solidFill>
                <a:srgbClr val="1A1A24"/>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37" name="Google Shape;137;p16"/>
              <p:cNvSpPr/>
              <p:nvPr/>
            </p:nvSpPr>
            <p:spPr>
              <a:xfrm>
                <a:off x="0" y="0"/>
                <a:ext cx="2619300" cy="2095500"/>
              </a:xfrm>
              <a:prstGeom prst="roundRect">
                <a:avLst>
                  <a:gd name="adj" fmla="val 5454"/>
                </a:avLst>
              </a:prstGeom>
              <a:solidFill>
                <a:srgbClr val="FFFFFF"/>
              </a:solidFill>
              <a:ln w="28575" cap="flat" cmpd="sng">
                <a:solidFill>
                  <a:srgbClr val="1A1A24"/>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38" name="Google Shape;138;p16"/>
              <p:cNvSpPr/>
              <p:nvPr/>
            </p:nvSpPr>
            <p:spPr>
              <a:xfrm>
                <a:off x="0" y="0"/>
                <a:ext cx="2619300" cy="114300"/>
              </a:xfrm>
              <a:custGeom>
                <a:avLst/>
                <a:gdLst/>
                <a:ahLst/>
                <a:cxnLst/>
                <a:rect l="l" t="t" r="r" b="b"/>
                <a:pathLst>
                  <a:path w="120000" h="120000" extrusionOk="0">
                    <a:moveTo>
                      <a:pt x="0" y="120000"/>
                    </a:moveTo>
                    <a:cubicBezTo>
                      <a:pt x="0" y="53700"/>
                      <a:pt x="2343" y="0"/>
                      <a:pt x="5236" y="0"/>
                    </a:cubicBezTo>
                    <a:lnTo>
                      <a:pt x="114764" y="0"/>
                    </a:lnTo>
                    <a:cubicBezTo>
                      <a:pt x="117657" y="0"/>
                      <a:pt x="120000" y="53700"/>
                      <a:pt x="120000" y="120000"/>
                    </a:cubicBezTo>
                    <a:lnTo>
                      <a:pt x="120000" y="100000"/>
                    </a:lnTo>
                    <a:lnTo>
                      <a:pt x="0" y="100000"/>
                    </a:lnTo>
                    <a:close/>
                  </a:path>
                </a:pathLst>
              </a:custGeom>
              <a:solidFill>
                <a:srgbClr val="FF6B6B"/>
              </a:solidFill>
              <a:ln w="28575" cap="flat" cmpd="sng">
                <a:solidFill>
                  <a:srgbClr val="1A1A24"/>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39" name="Google Shape;139;p16"/>
              <p:cNvSpPr txBox="1"/>
              <p:nvPr/>
            </p:nvSpPr>
            <p:spPr>
              <a:xfrm>
                <a:off x="152400" y="209550"/>
                <a:ext cx="2314500" cy="17145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1300" b="1">
                    <a:solidFill>
                      <a:srgbClr val="1A1A24"/>
                    </a:solidFill>
                    <a:latin typeface="Space Grotesk"/>
                    <a:ea typeface="Space Grotesk"/>
                    <a:cs typeface="Space Grotesk"/>
                    <a:sym typeface="Space Grotesk"/>
                  </a:rPr>
                  <a:t>2. Analytics &amp; KPIs</a:t>
                </a:r>
                <a:endParaRPr sz="1300" b="1">
                  <a:solidFill>
                    <a:srgbClr val="1A1A24"/>
                  </a:solidFill>
                  <a:latin typeface="Space Grotesk"/>
                  <a:ea typeface="Space Grotesk"/>
                  <a:cs typeface="Space Grotesk"/>
                  <a:sym typeface="Space Grotesk"/>
                </a:endParaRPr>
              </a:p>
              <a:p>
                <a:pPr marL="0" lvl="0" indent="0" algn="l" rtl="0">
                  <a:spcBef>
                    <a:spcPts val="450"/>
                  </a:spcBef>
                  <a:spcAft>
                    <a:spcPts val="0"/>
                  </a:spcAft>
                  <a:buNone/>
                </a:pPr>
                <a:r>
                  <a:rPr lang="en" sz="950" b="0">
                    <a:solidFill>
                      <a:srgbClr val="4A4A5A"/>
                    </a:solidFill>
                    <a:latin typeface="Plus Jakarta Sans"/>
                    <a:ea typeface="Plus Jakarta Sans"/>
                    <a:cs typeface="Plus Jakarta Sans"/>
                    <a:sym typeface="Plus Jakarta Sans"/>
                  </a:rPr>
                  <a:t>Processes core metrics including workforce health scoring, department breakdowns, and attrition indicators.</a:t>
                </a:r>
                <a:endParaRPr sz="950" b="0">
                  <a:solidFill>
                    <a:srgbClr val="4A4A5A"/>
                  </a:solidFill>
                  <a:latin typeface="Plus Jakarta Sans"/>
                  <a:ea typeface="Plus Jakarta Sans"/>
                  <a:cs typeface="Plus Jakarta Sans"/>
                  <a:sym typeface="Plus Jakarta Sans"/>
                </a:endParaRPr>
              </a:p>
              <a:p>
                <a:pPr marL="0" lvl="0" indent="0" algn="l" rtl="0">
                  <a:spcBef>
                    <a:spcPts val="600"/>
                  </a:spcBef>
                  <a:spcAft>
                    <a:spcPts val="0"/>
                  </a:spcAft>
                  <a:buNone/>
                </a:pPr>
                <a:r>
                  <a:rPr lang="en" sz="950" b="1">
                    <a:solidFill>
                      <a:srgbClr val="1A1A24"/>
                    </a:solidFill>
                    <a:latin typeface="Plus Jakarta Sans"/>
                    <a:ea typeface="Plus Jakarta Sans"/>
                    <a:cs typeface="Plus Jakarta Sans"/>
                    <a:sym typeface="Plus Jakarta Sans"/>
                  </a:rPr>
                  <a:t>Core Output:</a:t>
                </a:r>
                <a:endParaRPr sz="950" b="1">
                  <a:solidFill>
                    <a:srgbClr val="1A1A24"/>
                  </a:solidFill>
                  <a:latin typeface="Plus Jakarta Sans"/>
                  <a:ea typeface="Plus Jakarta Sans"/>
                  <a:cs typeface="Plus Jakarta Sans"/>
                  <a:sym typeface="Plus Jakarta Sans"/>
                </a:endParaRPr>
              </a:p>
              <a:p>
                <a:pPr marL="0" lvl="0" indent="0" algn="l" rtl="0">
                  <a:spcBef>
                    <a:spcPts val="0"/>
                  </a:spcBef>
                  <a:spcAft>
                    <a:spcPts val="0"/>
                  </a:spcAft>
                  <a:buNone/>
                </a:pPr>
                <a:r>
                  <a:rPr lang="en" sz="950" b="0">
                    <a:solidFill>
                      <a:srgbClr val="4A4A5A"/>
                    </a:solidFill>
                    <a:latin typeface="Plus Jakarta Sans"/>
                    <a:ea typeface="Plus Jakarta Sans"/>
                    <a:cs typeface="Plus Jakarta Sans"/>
                    <a:sym typeface="Plus Jakarta Sans"/>
                  </a:rPr>
                  <a:t>• Health Index Calculation (74.2/100)</a:t>
                </a:r>
                <a:br>
                  <a:rPr lang="en" sz="950" b="0">
                    <a:solidFill>
                      <a:srgbClr val="4A4A5A"/>
                    </a:solidFill>
                    <a:latin typeface="Plus Jakarta Sans"/>
                    <a:ea typeface="Plus Jakarta Sans"/>
                    <a:cs typeface="Plus Jakarta Sans"/>
                    <a:sym typeface="Plus Jakarta Sans"/>
                  </a:rPr>
                </a:br>
                <a:r>
                  <a:rPr lang="en" sz="950" b="0">
                    <a:solidFill>
                      <a:srgbClr val="4A4A5A"/>
                    </a:solidFill>
                    <a:latin typeface="Plus Jakarta Sans"/>
                    <a:ea typeface="Plus Jakarta Sans"/>
                    <a:cs typeface="Plus Jakarta Sans"/>
                    <a:sym typeface="Plus Jakarta Sans"/>
                  </a:rPr>
                  <a:t>• Overtime &amp; Risk Driver Audits</a:t>
                </a:r>
                <a:br>
                  <a:rPr lang="en" sz="950" b="0">
                    <a:solidFill>
                      <a:srgbClr val="4A4A5A"/>
                    </a:solidFill>
                    <a:latin typeface="Plus Jakarta Sans"/>
                    <a:ea typeface="Plus Jakarta Sans"/>
                    <a:cs typeface="Plus Jakarta Sans"/>
                    <a:sym typeface="Plus Jakarta Sans"/>
                  </a:rPr>
                </a:br>
                <a:r>
                  <a:rPr lang="en" sz="950" b="0">
                    <a:solidFill>
                      <a:srgbClr val="4A4A5A"/>
                    </a:solidFill>
                    <a:latin typeface="Plus Jakarta Sans"/>
                    <a:ea typeface="Plus Jakarta Sans"/>
                    <a:cs typeface="Plus Jakarta Sans"/>
                    <a:sym typeface="Plus Jakarta Sans"/>
                  </a:rPr>
                  <a:t>• Department Performance Tracking</a:t>
                </a:r>
                <a:endParaRPr sz="950" b="0">
                  <a:solidFill>
                    <a:srgbClr val="4A4A5A"/>
                  </a:solidFill>
                  <a:latin typeface="Plus Jakarta Sans"/>
                  <a:ea typeface="Plus Jakarta Sans"/>
                  <a:cs typeface="Plus Jakarta Sans"/>
                  <a:sym typeface="Plus Jakarta Sans"/>
                </a:endParaRPr>
              </a:p>
            </p:txBody>
          </p:sp>
        </p:grpSp>
        <p:grpSp>
          <p:nvGrpSpPr>
            <p:cNvPr id="140" name="Google Shape;140;p16"/>
            <p:cNvGrpSpPr/>
            <p:nvPr/>
          </p:nvGrpSpPr>
          <p:grpSpPr>
            <a:xfrm>
              <a:off x="5762625" y="0"/>
              <a:ext cx="2657400" cy="2133600"/>
              <a:chOff x="0" y="0"/>
              <a:chExt cx="2657400" cy="2133600"/>
            </a:xfrm>
          </p:grpSpPr>
          <p:sp>
            <p:nvSpPr>
              <p:cNvPr id="141" name="Google Shape;141;p16"/>
              <p:cNvSpPr/>
              <p:nvPr/>
            </p:nvSpPr>
            <p:spPr>
              <a:xfrm>
                <a:off x="38100" y="38100"/>
                <a:ext cx="2619300" cy="2095500"/>
              </a:xfrm>
              <a:prstGeom prst="roundRect">
                <a:avLst>
                  <a:gd name="adj" fmla="val 5454"/>
                </a:avLst>
              </a:prstGeom>
              <a:solidFill>
                <a:srgbClr val="1A1A24"/>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42" name="Google Shape;142;p16"/>
              <p:cNvSpPr/>
              <p:nvPr/>
            </p:nvSpPr>
            <p:spPr>
              <a:xfrm>
                <a:off x="0" y="0"/>
                <a:ext cx="2619300" cy="2095500"/>
              </a:xfrm>
              <a:prstGeom prst="roundRect">
                <a:avLst>
                  <a:gd name="adj" fmla="val 5454"/>
                </a:avLst>
              </a:prstGeom>
              <a:solidFill>
                <a:srgbClr val="FFFFFF"/>
              </a:solidFill>
              <a:ln w="28575" cap="flat" cmpd="sng">
                <a:solidFill>
                  <a:srgbClr val="1A1A24"/>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43" name="Google Shape;143;p16"/>
              <p:cNvSpPr/>
              <p:nvPr/>
            </p:nvSpPr>
            <p:spPr>
              <a:xfrm>
                <a:off x="0" y="0"/>
                <a:ext cx="2619300" cy="114300"/>
              </a:xfrm>
              <a:custGeom>
                <a:avLst/>
                <a:gdLst/>
                <a:ahLst/>
                <a:cxnLst/>
                <a:rect l="l" t="t" r="r" b="b"/>
                <a:pathLst>
                  <a:path w="120000" h="120000" extrusionOk="0">
                    <a:moveTo>
                      <a:pt x="0" y="120000"/>
                    </a:moveTo>
                    <a:cubicBezTo>
                      <a:pt x="0" y="53700"/>
                      <a:pt x="2343" y="0"/>
                      <a:pt x="5236" y="0"/>
                    </a:cubicBezTo>
                    <a:lnTo>
                      <a:pt x="114764" y="0"/>
                    </a:lnTo>
                    <a:cubicBezTo>
                      <a:pt x="117657" y="0"/>
                      <a:pt x="120000" y="53700"/>
                      <a:pt x="120000" y="120000"/>
                    </a:cubicBezTo>
                    <a:lnTo>
                      <a:pt x="120000" y="100000"/>
                    </a:lnTo>
                    <a:lnTo>
                      <a:pt x="0" y="100000"/>
                    </a:lnTo>
                    <a:close/>
                  </a:path>
                </a:pathLst>
              </a:custGeom>
              <a:solidFill>
                <a:srgbClr val="4ECDC4"/>
              </a:solidFill>
              <a:ln w="28575" cap="flat" cmpd="sng">
                <a:solidFill>
                  <a:srgbClr val="1A1A24"/>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44" name="Google Shape;144;p16"/>
              <p:cNvSpPr txBox="1"/>
              <p:nvPr/>
            </p:nvSpPr>
            <p:spPr>
              <a:xfrm>
                <a:off x="152400" y="209550"/>
                <a:ext cx="2314500" cy="17145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1300" b="1">
                    <a:solidFill>
                      <a:srgbClr val="1A1A24"/>
                    </a:solidFill>
                    <a:latin typeface="Space Grotesk"/>
                    <a:ea typeface="Space Grotesk"/>
                    <a:cs typeface="Space Grotesk"/>
                    <a:sym typeface="Space Grotesk"/>
                  </a:rPr>
                  <a:t>3. Predictive AI Model</a:t>
                </a:r>
                <a:endParaRPr sz="1300" b="1">
                  <a:solidFill>
                    <a:srgbClr val="1A1A24"/>
                  </a:solidFill>
                  <a:latin typeface="Space Grotesk"/>
                  <a:ea typeface="Space Grotesk"/>
                  <a:cs typeface="Space Grotesk"/>
                  <a:sym typeface="Space Grotesk"/>
                </a:endParaRPr>
              </a:p>
              <a:p>
                <a:pPr marL="0" lvl="0" indent="0" algn="l" rtl="0">
                  <a:spcBef>
                    <a:spcPts val="450"/>
                  </a:spcBef>
                  <a:spcAft>
                    <a:spcPts val="0"/>
                  </a:spcAft>
                  <a:buNone/>
                </a:pPr>
                <a:r>
                  <a:rPr lang="en" sz="950" b="0">
                    <a:solidFill>
                      <a:srgbClr val="4A4A5A"/>
                    </a:solidFill>
                    <a:latin typeface="Plus Jakarta Sans"/>
                    <a:ea typeface="Plus Jakarta Sans"/>
                    <a:cs typeface="Plus Jakarta Sans"/>
                    <a:sym typeface="Plus Jakarta Sans"/>
                  </a:rPr>
                  <a:t>Deploys machine learning algorithms for 6-month attrition forecasting with high accuracy and precision.</a:t>
                </a:r>
                <a:endParaRPr sz="950" b="0">
                  <a:solidFill>
                    <a:srgbClr val="4A4A5A"/>
                  </a:solidFill>
                  <a:latin typeface="Plus Jakarta Sans"/>
                  <a:ea typeface="Plus Jakarta Sans"/>
                  <a:cs typeface="Plus Jakarta Sans"/>
                  <a:sym typeface="Plus Jakarta Sans"/>
                </a:endParaRPr>
              </a:p>
              <a:p>
                <a:pPr marL="0" lvl="0" indent="0" algn="l" rtl="0">
                  <a:spcBef>
                    <a:spcPts val="600"/>
                  </a:spcBef>
                  <a:spcAft>
                    <a:spcPts val="0"/>
                  </a:spcAft>
                  <a:buNone/>
                </a:pPr>
                <a:r>
                  <a:rPr lang="en" sz="950" b="1">
                    <a:solidFill>
                      <a:srgbClr val="1A1A24"/>
                    </a:solidFill>
                    <a:latin typeface="Plus Jakarta Sans"/>
                    <a:ea typeface="Plus Jakarta Sans"/>
                    <a:cs typeface="Plus Jakarta Sans"/>
                    <a:sym typeface="Plus Jakarta Sans"/>
                  </a:rPr>
                  <a:t>Model Benchmarks:</a:t>
                </a:r>
                <a:endParaRPr sz="950" b="1">
                  <a:solidFill>
                    <a:srgbClr val="1A1A24"/>
                  </a:solidFill>
                  <a:latin typeface="Plus Jakarta Sans"/>
                  <a:ea typeface="Plus Jakarta Sans"/>
                  <a:cs typeface="Plus Jakarta Sans"/>
                  <a:sym typeface="Plus Jakarta Sans"/>
                </a:endParaRPr>
              </a:p>
              <a:p>
                <a:pPr marL="0" lvl="0" indent="0" algn="l" rtl="0">
                  <a:spcBef>
                    <a:spcPts val="0"/>
                  </a:spcBef>
                  <a:spcAft>
                    <a:spcPts val="0"/>
                  </a:spcAft>
                  <a:buNone/>
                </a:pPr>
                <a:r>
                  <a:rPr lang="en" sz="950" b="0">
                    <a:solidFill>
                      <a:srgbClr val="4A4A5A"/>
                    </a:solidFill>
                    <a:latin typeface="Plus Jakarta Sans"/>
                    <a:ea typeface="Plus Jakarta Sans"/>
                    <a:cs typeface="Plus Jakarta Sans"/>
                    <a:sym typeface="Plus Jakarta Sans"/>
                  </a:rPr>
                  <a:t>• 86.2% Predictive Accuracy</a:t>
                </a:r>
                <a:br>
                  <a:rPr lang="en" sz="950" b="0">
                    <a:solidFill>
                      <a:srgbClr val="4A4A5A"/>
                    </a:solidFill>
                    <a:latin typeface="Plus Jakarta Sans"/>
                    <a:ea typeface="Plus Jakarta Sans"/>
                    <a:cs typeface="Plus Jakarta Sans"/>
                    <a:sym typeface="Plus Jakarta Sans"/>
                  </a:rPr>
                </a:br>
                <a:r>
                  <a:rPr lang="en" sz="950" b="0">
                    <a:solidFill>
                      <a:srgbClr val="4A4A5A"/>
                    </a:solidFill>
                    <a:latin typeface="Plus Jakarta Sans"/>
                    <a:ea typeface="Plus Jakarta Sans"/>
                    <a:cs typeface="Plus Jakarta Sans"/>
                    <a:sym typeface="Plus Jakarta Sans"/>
                  </a:rPr>
                  <a:t>• 0.912 AUC Score</a:t>
                </a:r>
                <a:br>
                  <a:rPr lang="en" sz="950" b="0">
                    <a:solidFill>
                      <a:srgbClr val="4A4A5A"/>
                    </a:solidFill>
                    <a:latin typeface="Plus Jakarta Sans"/>
                    <a:ea typeface="Plus Jakarta Sans"/>
                    <a:cs typeface="Plus Jakarta Sans"/>
                    <a:sym typeface="Plus Jakarta Sans"/>
                  </a:rPr>
                </a:br>
                <a:r>
                  <a:rPr lang="en" sz="950" b="0">
                    <a:solidFill>
                      <a:srgbClr val="4A4A5A"/>
                    </a:solidFill>
                    <a:latin typeface="Plus Jakarta Sans"/>
                    <a:ea typeface="Plus Jakarta Sans"/>
                    <a:cs typeface="Plus Jakarta Sans"/>
                    <a:sym typeface="Plus Jakarta Sans"/>
                  </a:rPr>
                  <a:t>• 1,470 Active Predictions</a:t>
                </a:r>
                <a:endParaRPr sz="950" b="0">
                  <a:solidFill>
                    <a:srgbClr val="4A4A5A"/>
                  </a:solidFill>
                  <a:latin typeface="Plus Jakarta Sans"/>
                  <a:ea typeface="Plus Jakarta Sans"/>
                  <a:cs typeface="Plus Jakarta Sans"/>
                  <a:sym typeface="Plus Jakarta Sans"/>
                </a:endParaRPr>
              </a:p>
            </p:txBody>
          </p:sp>
        </p:grpSp>
      </p:grpSp>
    </p:spTree>
  </p:cSld>
  <p:clrMapOvr>
    <a:masterClrMapping/>
  </p:clrMapOvr>
  <mc:AlternateContent xmlns:mc="http://schemas.openxmlformats.org/markup-compatibility/2006">
    <mc:Choice xmlns:p14="http://schemas.microsoft.com/office/powerpoint/2010/main" Requires="p14">
      <p:transition spd="slow" p14:dur="2500">
        <p14:flash/>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p17"/>
          <p:cNvSpPr/>
          <p:nvPr/>
        </p:nvSpPr>
        <p:spPr>
          <a:xfrm>
            <a:off x="0" y="0"/>
            <a:ext cx="9144000" cy="5143500"/>
          </a:xfrm>
          <a:prstGeom prst="rect">
            <a:avLst/>
          </a:prstGeom>
          <a:solidFill>
            <a:srgbClr val="F4F4F0"/>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grpSp>
        <p:nvGrpSpPr>
          <p:cNvPr id="150" name="Google Shape;150;p17"/>
          <p:cNvGrpSpPr/>
          <p:nvPr/>
        </p:nvGrpSpPr>
        <p:grpSpPr>
          <a:xfrm>
            <a:off x="381000" y="228600"/>
            <a:ext cx="419100" cy="419100"/>
            <a:chOff x="0" y="0"/>
            <a:chExt cx="419100" cy="419100"/>
          </a:xfrm>
        </p:grpSpPr>
        <p:sp>
          <p:nvSpPr>
            <p:cNvPr id="151" name="Google Shape;151;p17"/>
            <p:cNvSpPr/>
            <p:nvPr/>
          </p:nvSpPr>
          <p:spPr>
            <a:xfrm>
              <a:off x="38100" y="38100"/>
              <a:ext cx="381000" cy="381000"/>
            </a:xfrm>
            <a:prstGeom prst="roundRect">
              <a:avLst>
                <a:gd name="adj" fmla="val 20000"/>
              </a:avLst>
            </a:prstGeom>
            <a:solidFill>
              <a:srgbClr val="1A1A24"/>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52" name="Google Shape;152;p17"/>
            <p:cNvSpPr/>
            <p:nvPr/>
          </p:nvSpPr>
          <p:spPr>
            <a:xfrm>
              <a:off x="0" y="0"/>
              <a:ext cx="381000" cy="381000"/>
            </a:xfrm>
            <a:prstGeom prst="roundRect">
              <a:avLst>
                <a:gd name="adj" fmla="val 20000"/>
              </a:avLst>
            </a:prstGeom>
            <a:solidFill>
              <a:srgbClr val="FFD93D"/>
            </a:solidFill>
            <a:ln w="28575" cap="flat" cmpd="sng">
              <a:solidFill>
                <a:srgbClr val="1A1A24"/>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53" name="Google Shape;153;p17"/>
            <p:cNvSpPr/>
            <p:nvPr/>
          </p:nvSpPr>
          <p:spPr>
            <a:xfrm>
              <a:off x="95250" y="114300"/>
              <a:ext cx="190500" cy="152400"/>
            </a:xfrm>
            <a:custGeom>
              <a:avLst/>
              <a:gdLst/>
              <a:ahLst/>
              <a:cxnLst/>
              <a:rect l="l" t="t" r="r" b="b"/>
              <a:pathLst>
                <a:path w="120000" h="120000" extrusionOk="0">
                  <a:moveTo>
                    <a:pt x="0" y="0"/>
                  </a:moveTo>
                  <a:lnTo>
                    <a:pt x="36000" y="120000"/>
                  </a:lnTo>
                  <a:lnTo>
                    <a:pt x="60000" y="60000"/>
                  </a:lnTo>
                  <a:lnTo>
                    <a:pt x="84000" y="120000"/>
                  </a:lnTo>
                  <a:lnTo>
                    <a:pt x="120000" y="0"/>
                  </a:lnTo>
                </a:path>
              </a:pathLst>
            </a:custGeom>
            <a:solidFill>
              <a:srgbClr val="000000">
                <a:alpha val="0"/>
              </a:srgbClr>
            </a:solidFill>
            <a:ln w="28575" cap="rnd" cmpd="sng">
              <a:solidFill>
                <a:srgbClr val="1A1A24"/>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grpSp>
      <p:cxnSp>
        <p:nvCxnSpPr>
          <p:cNvPr id="154" name="Google Shape;154;p17"/>
          <p:cNvCxnSpPr/>
          <p:nvPr/>
        </p:nvCxnSpPr>
        <p:spPr>
          <a:xfrm>
            <a:off x="381000" y="971550"/>
            <a:ext cx="8382000" cy="0"/>
          </a:xfrm>
          <a:prstGeom prst="straightConnector1">
            <a:avLst/>
          </a:prstGeom>
          <a:solidFill>
            <a:srgbClr val="FFFFFF"/>
          </a:solidFill>
          <a:ln w="28575" cap="flat" cmpd="sng">
            <a:solidFill>
              <a:srgbClr val="1A1A24"/>
            </a:solidFill>
            <a:prstDash val="solid"/>
            <a:round/>
            <a:headEnd type="none" w="sm" len="sm"/>
            <a:tailEnd type="none" w="sm" len="sm"/>
          </a:ln>
        </p:spPr>
      </p:cxnSp>
      <p:grpSp>
        <p:nvGrpSpPr>
          <p:cNvPr id="155" name="Google Shape;155;p17"/>
          <p:cNvGrpSpPr/>
          <p:nvPr/>
        </p:nvGrpSpPr>
        <p:grpSpPr>
          <a:xfrm>
            <a:off x="381000" y="1123950"/>
            <a:ext cx="8420100" cy="1467000"/>
            <a:chOff x="0" y="0"/>
            <a:chExt cx="8420100" cy="1467000"/>
          </a:xfrm>
        </p:grpSpPr>
        <p:sp>
          <p:nvSpPr>
            <p:cNvPr id="156" name="Google Shape;156;p17"/>
            <p:cNvSpPr/>
            <p:nvPr/>
          </p:nvSpPr>
          <p:spPr>
            <a:xfrm>
              <a:off x="38100" y="38100"/>
              <a:ext cx="8382000" cy="1428900"/>
            </a:xfrm>
            <a:prstGeom prst="roundRect">
              <a:avLst>
                <a:gd name="adj" fmla="val 8000"/>
              </a:avLst>
            </a:prstGeom>
            <a:solidFill>
              <a:srgbClr val="1A1A24"/>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57" name="Google Shape;157;p17"/>
            <p:cNvSpPr/>
            <p:nvPr/>
          </p:nvSpPr>
          <p:spPr>
            <a:xfrm>
              <a:off x="0" y="0"/>
              <a:ext cx="8382000" cy="1428900"/>
            </a:xfrm>
            <a:prstGeom prst="roundRect">
              <a:avLst>
                <a:gd name="adj" fmla="val 8000"/>
              </a:avLst>
            </a:prstGeom>
            <a:solidFill>
              <a:srgbClr val="FFFFFF"/>
            </a:solidFill>
            <a:ln w="28575" cap="flat" cmpd="sng">
              <a:solidFill>
                <a:srgbClr val="1A1A24"/>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58" name="Google Shape;158;p17"/>
            <p:cNvSpPr/>
            <p:nvPr/>
          </p:nvSpPr>
          <p:spPr>
            <a:xfrm>
              <a:off x="152400" y="133350"/>
              <a:ext cx="1428900" cy="209700"/>
            </a:xfrm>
            <a:prstGeom prst="roundRect">
              <a:avLst>
                <a:gd name="adj" fmla="val 27272"/>
              </a:avLst>
            </a:prstGeom>
            <a:solidFill>
              <a:srgbClr val="C8B6FF"/>
            </a:solidFill>
            <a:ln w="19050" cap="flat" cmpd="sng">
              <a:solidFill>
                <a:srgbClr val="1A1A24"/>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59" name="Google Shape;159;p17"/>
            <p:cNvSpPr txBox="1"/>
            <p:nvPr/>
          </p:nvSpPr>
          <p:spPr>
            <a:xfrm>
              <a:off x="152400" y="133350"/>
              <a:ext cx="1428900" cy="209700"/>
            </a:xfrm>
            <a:prstGeom prst="rect">
              <a:avLst/>
            </a:prstGeom>
            <a:solidFill>
              <a:srgbClr val="000000">
                <a:alpha val="0"/>
              </a:srgbClr>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750" b="0" i="0">
                  <a:solidFill>
                    <a:srgbClr val="1A1A24"/>
                  </a:solidFill>
                  <a:latin typeface="Plus Jakarta Sans ExtraBold"/>
                  <a:ea typeface="Plus Jakarta Sans ExtraBold"/>
                  <a:cs typeface="Plus Jakarta Sans ExtraBold"/>
                  <a:sym typeface="Plus Jakarta Sans ExtraBold"/>
                </a:rPr>
                <a:t>ARCHITECTURE FLOW</a:t>
              </a:r>
              <a:endParaRPr sz="750" b="0" i="0">
                <a:solidFill>
                  <a:srgbClr val="1A1A24"/>
                </a:solidFill>
                <a:latin typeface="Plus Jakarta Sans ExtraBold"/>
                <a:ea typeface="Plus Jakarta Sans ExtraBold"/>
                <a:cs typeface="Plus Jakarta Sans ExtraBold"/>
                <a:sym typeface="Plus Jakarta Sans ExtraBold"/>
              </a:endParaRPr>
            </a:p>
          </p:txBody>
        </p:sp>
        <p:pic>
          <p:nvPicPr>
            <p:cNvPr id="160" name="Google Shape;160;p17"/>
            <p:cNvPicPr preferRelativeResize="0"/>
            <p:nvPr/>
          </p:nvPicPr>
          <p:blipFill rotWithShape="1">
            <a:blip r:embed="rId3">
              <a:alphaModFix/>
            </a:blip>
            <a:srcRect/>
            <a:stretch/>
          </p:blipFill>
          <p:spPr>
            <a:xfrm>
              <a:off x="1524000" y="747713"/>
              <a:ext cx="5315100" cy="28500"/>
            </a:xfrm>
            <a:prstGeom prst="rect">
              <a:avLst/>
            </a:prstGeom>
            <a:noFill/>
            <a:ln>
              <a:noFill/>
            </a:ln>
          </p:spPr>
        </p:pic>
        <p:grpSp>
          <p:nvGrpSpPr>
            <p:cNvPr id="161" name="Google Shape;161;p17"/>
            <p:cNvGrpSpPr/>
            <p:nvPr/>
          </p:nvGrpSpPr>
          <p:grpSpPr>
            <a:xfrm>
              <a:off x="381000" y="476250"/>
              <a:ext cx="1171575" cy="600075"/>
              <a:chOff x="0" y="0"/>
              <a:chExt cx="1171575" cy="600075"/>
            </a:xfrm>
          </p:grpSpPr>
          <p:sp>
            <p:nvSpPr>
              <p:cNvPr id="162" name="Google Shape;162;p17"/>
              <p:cNvSpPr/>
              <p:nvPr/>
            </p:nvSpPr>
            <p:spPr>
              <a:xfrm>
                <a:off x="28575" y="28575"/>
                <a:ext cx="1143000" cy="571500"/>
              </a:xfrm>
              <a:prstGeom prst="roundRect">
                <a:avLst>
                  <a:gd name="adj" fmla="val 13333"/>
                </a:avLst>
              </a:prstGeom>
              <a:solidFill>
                <a:srgbClr val="1A1A24"/>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63" name="Google Shape;163;p17"/>
              <p:cNvSpPr/>
              <p:nvPr/>
            </p:nvSpPr>
            <p:spPr>
              <a:xfrm>
                <a:off x="0" y="0"/>
                <a:ext cx="1143000" cy="571500"/>
              </a:xfrm>
              <a:prstGeom prst="roundRect">
                <a:avLst>
                  <a:gd name="adj" fmla="val 13333"/>
                </a:avLst>
              </a:prstGeom>
              <a:solidFill>
                <a:srgbClr val="FFD93D"/>
              </a:solidFill>
              <a:ln w="19050" cap="flat" cmpd="sng">
                <a:solidFill>
                  <a:srgbClr val="1A1A24"/>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64" name="Google Shape;164;p17"/>
              <p:cNvSpPr txBox="1"/>
              <p:nvPr/>
            </p:nvSpPr>
            <p:spPr>
              <a:xfrm>
                <a:off x="76200" y="76200"/>
                <a:ext cx="990600" cy="419100"/>
              </a:xfrm>
              <a:prstGeom prst="rect">
                <a:avLst/>
              </a:prstGeom>
              <a:solidFill>
                <a:srgbClr val="000000">
                  <a:alpha val="0"/>
                </a:srgbClr>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850" b="1" i="0">
                    <a:solidFill>
                      <a:srgbClr val="1A1A24"/>
                    </a:solidFill>
                    <a:latin typeface="Space Grotesk"/>
                    <a:ea typeface="Space Grotesk"/>
                    <a:cs typeface="Space Grotesk"/>
                    <a:sym typeface="Space Grotesk"/>
                  </a:rPr>
                  <a:t>1. INGESTION</a:t>
                </a:r>
                <a:endParaRPr sz="850" b="1" i="0">
                  <a:solidFill>
                    <a:srgbClr val="1A1A24"/>
                  </a:solidFill>
                  <a:latin typeface="Space Grotesk"/>
                  <a:ea typeface="Space Grotesk"/>
                  <a:cs typeface="Space Grotesk"/>
                  <a:sym typeface="Space Grotesk"/>
                </a:endParaRPr>
              </a:p>
              <a:p>
                <a:pPr marL="0" lvl="0" indent="0" algn="ctr" rtl="0">
                  <a:spcBef>
                    <a:spcPts val="200"/>
                  </a:spcBef>
                  <a:spcAft>
                    <a:spcPts val="0"/>
                  </a:spcAft>
                  <a:buNone/>
                </a:pPr>
                <a:r>
                  <a:rPr lang="en" sz="700" b="0" i="0">
                    <a:solidFill>
                      <a:srgbClr val="2A2A3A"/>
                    </a:solidFill>
                    <a:latin typeface="Plus Jakarta Sans SemiBold"/>
                    <a:ea typeface="Plus Jakarta Sans SemiBold"/>
                    <a:cs typeface="Plus Jakarta Sans SemiBold"/>
                    <a:sym typeface="Plus Jakarta Sans SemiBold"/>
                  </a:rPr>
                  <a:t>Python &amp; SQL</a:t>
                </a:r>
                <a:endParaRPr sz="700" b="0" i="0">
                  <a:solidFill>
                    <a:srgbClr val="2A2A3A"/>
                  </a:solidFill>
                  <a:latin typeface="Plus Jakarta Sans SemiBold"/>
                  <a:ea typeface="Plus Jakarta Sans SemiBold"/>
                  <a:cs typeface="Plus Jakarta Sans SemiBold"/>
                  <a:sym typeface="Plus Jakarta Sans SemiBold"/>
                </a:endParaRPr>
              </a:p>
            </p:txBody>
          </p:sp>
        </p:grpSp>
        <p:grpSp>
          <p:nvGrpSpPr>
            <p:cNvPr id="165" name="Google Shape;165;p17"/>
            <p:cNvGrpSpPr/>
            <p:nvPr/>
          </p:nvGrpSpPr>
          <p:grpSpPr>
            <a:xfrm>
              <a:off x="2381250" y="476250"/>
              <a:ext cx="1171575" cy="600075"/>
              <a:chOff x="0" y="0"/>
              <a:chExt cx="1171575" cy="600075"/>
            </a:xfrm>
          </p:grpSpPr>
          <p:sp>
            <p:nvSpPr>
              <p:cNvPr id="166" name="Google Shape;166;p17"/>
              <p:cNvSpPr/>
              <p:nvPr/>
            </p:nvSpPr>
            <p:spPr>
              <a:xfrm>
                <a:off x="28575" y="28575"/>
                <a:ext cx="1143000" cy="571500"/>
              </a:xfrm>
              <a:prstGeom prst="roundRect">
                <a:avLst>
                  <a:gd name="adj" fmla="val 13333"/>
                </a:avLst>
              </a:prstGeom>
              <a:solidFill>
                <a:srgbClr val="1A1A24"/>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67" name="Google Shape;167;p17"/>
              <p:cNvSpPr/>
              <p:nvPr/>
            </p:nvSpPr>
            <p:spPr>
              <a:xfrm>
                <a:off x="0" y="0"/>
                <a:ext cx="1143000" cy="571500"/>
              </a:xfrm>
              <a:prstGeom prst="roundRect">
                <a:avLst>
                  <a:gd name="adj" fmla="val 13333"/>
                </a:avLst>
              </a:prstGeom>
              <a:solidFill>
                <a:srgbClr val="FF6B6B"/>
              </a:solidFill>
              <a:ln w="19050" cap="flat" cmpd="sng">
                <a:solidFill>
                  <a:srgbClr val="1A1A24"/>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68" name="Google Shape;168;p17"/>
              <p:cNvSpPr txBox="1"/>
              <p:nvPr/>
            </p:nvSpPr>
            <p:spPr>
              <a:xfrm>
                <a:off x="76200" y="76200"/>
                <a:ext cx="990600" cy="419100"/>
              </a:xfrm>
              <a:prstGeom prst="rect">
                <a:avLst/>
              </a:prstGeom>
              <a:solidFill>
                <a:srgbClr val="000000">
                  <a:alpha val="0"/>
                </a:srgbClr>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850" b="1" i="0">
                    <a:solidFill>
                      <a:srgbClr val="FFFFFF"/>
                    </a:solidFill>
                    <a:latin typeface="Space Grotesk"/>
                    <a:ea typeface="Space Grotesk"/>
                    <a:cs typeface="Space Grotesk"/>
                    <a:sym typeface="Space Grotesk"/>
                  </a:rPr>
                  <a:t>2. STORAGE</a:t>
                </a:r>
                <a:endParaRPr sz="850" b="1" i="0">
                  <a:solidFill>
                    <a:srgbClr val="FFFFFF"/>
                  </a:solidFill>
                  <a:latin typeface="Space Grotesk"/>
                  <a:ea typeface="Space Grotesk"/>
                  <a:cs typeface="Space Grotesk"/>
                  <a:sym typeface="Space Grotesk"/>
                </a:endParaRPr>
              </a:p>
              <a:p>
                <a:pPr marL="0" lvl="0" indent="0" algn="ctr" rtl="0">
                  <a:spcBef>
                    <a:spcPts val="200"/>
                  </a:spcBef>
                  <a:spcAft>
                    <a:spcPts val="0"/>
                  </a:spcAft>
                  <a:buNone/>
                </a:pPr>
                <a:r>
                  <a:rPr lang="en" sz="700" b="0" i="0">
                    <a:solidFill>
                      <a:srgbClr val="FFFFFF"/>
                    </a:solidFill>
                    <a:latin typeface="Plus Jakarta Sans SemiBold"/>
                    <a:ea typeface="Plus Jakarta Sans SemiBold"/>
                    <a:cs typeface="Plus Jakarta Sans SemiBold"/>
                    <a:sym typeface="Plus Jakarta Sans SemiBold"/>
                  </a:rPr>
                  <a:t>PostgreSQL &amp; DWH</a:t>
                </a:r>
                <a:endParaRPr sz="700" b="0" i="0">
                  <a:solidFill>
                    <a:srgbClr val="FFFFFF"/>
                  </a:solidFill>
                  <a:latin typeface="Plus Jakarta Sans SemiBold"/>
                  <a:ea typeface="Plus Jakarta Sans SemiBold"/>
                  <a:cs typeface="Plus Jakarta Sans SemiBold"/>
                  <a:sym typeface="Plus Jakarta Sans SemiBold"/>
                </a:endParaRPr>
              </a:p>
            </p:txBody>
          </p:sp>
        </p:grpSp>
        <p:grpSp>
          <p:nvGrpSpPr>
            <p:cNvPr id="169" name="Google Shape;169;p17"/>
            <p:cNvGrpSpPr/>
            <p:nvPr/>
          </p:nvGrpSpPr>
          <p:grpSpPr>
            <a:xfrm>
              <a:off x="4381500" y="476250"/>
              <a:ext cx="1171575" cy="600075"/>
              <a:chOff x="0" y="0"/>
              <a:chExt cx="1171575" cy="600075"/>
            </a:xfrm>
          </p:grpSpPr>
          <p:sp>
            <p:nvSpPr>
              <p:cNvPr id="170" name="Google Shape;170;p17"/>
              <p:cNvSpPr/>
              <p:nvPr/>
            </p:nvSpPr>
            <p:spPr>
              <a:xfrm>
                <a:off x="28575" y="28575"/>
                <a:ext cx="1143000" cy="571500"/>
              </a:xfrm>
              <a:prstGeom prst="roundRect">
                <a:avLst>
                  <a:gd name="adj" fmla="val 13333"/>
                </a:avLst>
              </a:prstGeom>
              <a:solidFill>
                <a:srgbClr val="1A1A24"/>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71" name="Google Shape;171;p17"/>
              <p:cNvSpPr/>
              <p:nvPr/>
            </p:nvSpPr>
            <p:spPr>
              <a:xfrm>
                <a:off x="0" y="0"/>
                <a:ext cx="1143000" cy="571500"/>
              </a:xfrm>
              <a:prstGeom prst="roundRect">
                <a:avLst>
                  <a:gd name="adj" fmla="val 13333"/>
                </a:avLst>
              </a:prstGeom>
              <a:solidFill>
                <a:srgbClr val="4ECDC4"/>
              </a:solidFill>
              <a:ln w="19050" cap="flat" cmpd="sng">
                <a:solidFill>
                  <a:srgbClr val="1A1A24"/>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72" name="Google Shape;172;p17"/>
              <p:cNvSpPr txBox="1"/>
              <p:nvPr/>
            </p:nvSpPr>
            <p:spPr>
              <a:xfrm>
                <a:off x="76200" y="76200"/>
                <a:ext cx="990600" cy="419100"/>
              </a:xfrm>
              <a:prstGeom prst="rect">
                <a:avLst/>
              </a:prstGeom>
              <a:solidFill>
                <a:srgbClr val="000000">
                  <a:alpha val="0"/>
                </a:srgbClr>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850" b="1" i="0">
                    <a:solidFill>
                      <a:srgbClr val="1A1A24"/>
                    </a:solidFill>
                    <a:latin typeface="Space Grotesk"/>
                    <a:ea typeface="Space Grotesk"/>
                    <a:cs typeface="Space Grotesk"/>
                    <a:sym typeface="Space Grotesk"/>
                  </a:rPr>
                  <a:t>3. AI / ML</a:t>
                </a:r>
                <a:endParaRPr sz="850" b="1" i="0">
                  <a:solidFill>
                    <a:srgbClr val="1A1A24"/>
                  </a:solidFill>
                  <a:latin typeface="Space Grotesk"/>
                  <a:ea typeface="Space Grotesk"/>
                  <a:cs typeface="Space Grotesk"/>
                  <a:sym typeface="Space Grotesk"/>
                </a:endParaRPr>
              </a:p>
              <a:p>
                <a:pPr marL="0" lvl="0" indent="0" algn="ctr" rtl="0">
                  <a:spcBef>
                    <a:spcPts val="200"/>
                  </a:spcBef>
                  <a:spcAft>
                    <a:spcPts val="0"/>
                  </a:spcAft>
                  <a:buNone/>
                </a:pPr>
                <a:r>
                  <a:rPr lang="en" sz="700" b="0" i="0">
                    <a:solidFill>
                      <a:srgbClr val="1A1A24"/>
                    </a:solidFill>
                    <a:latin typeface="Plus Jakarta Sans SemiBold"/>
                    <a:ea typeface="Plus Jakarta Sans SemiBold"/>
                    <a:cs typeface="Plus Jakarta Sans SemiBold"/>
                    <a:sym typeface="Plus Jakarta Sans SemiBold"/>
                  </a:rPr>
                  <a:t>Scikit &amp; Pandas</a:t>
                </a:r>
                <a:endParaRPr sz="700" b="0" i="0">
                  <a:solidFill>
                    <a:srgbClr val="1A1A24"/>
                  </a:solidFill>
                  <a:latin typeface="Plus Jakarta Sans SemiBold"/>
                  <a:ea typeface="Plus Jakarta Sans SemiBold"/>
                  <a:cs typeface="Plus Jakarta Sans SemiBold"/>
                  <a:sym typeface="Plus Jakarta Sans SemiBold"/>
                </a:endParaRPr>
              </a:p>
            </p:txBody>
          </p:sp>
        </p:grpSp>
        <p:grpSp>
          <p:nvGrpSpPr>
            <p:cNvPr id="173" name="Google Shape;173;p17"/>
            <p:cNvGrpSpPr/>
            <p:nvPr/>
          </p:nvGrpSpPr>
          <p:grpSpPr>
            <a:xfrm>
              <a:off x="6381750" y="476250"/>
              <a:ext cx="1171575" cy="600075"/>
              <a:chOff x="0" y="0"/>
              <a:chExt cx="1171575" cy="600075"/>
            </a:xfrm>
          </p:grpSpPr>
          <p:sp>
            <p:nvSpPr>
              <p:cNvPr id="174" name="Google Shape;174;p17"/>
              <p:cNvSpPr/>
              <p:nvPr/>
            </p:nvSpPr>
            <p:spPr>
              <a:xfrm>
                <a:off x="28575" y="28575"/>
                <a:ext cx="1143000" cy="571500"/>
              </a:xfrm>
              <a:prstGeom prst="roundRect">
                <a:avLst>
                  <a:gd name="adj" fmla="val 13333"/>
                </a:avLst>
              </a:prstGeom>
              <a:solidFill>
                <a:srgbClr val="1A1A24"/>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75" name="Google Shape;175;p17"/>
              <p:cNvSpPr/>
              <p:nvPr/>
            </p:nvSpPr>
            <p:spPr>
              <a:xfrm>
                <a:off x="0" y="0"/>
                <a:ext cx="1143000" cy="571500"/>
              </a:xfrm>
              <a:prstGeom prst="roundRect">
                <a:avLst>
                  <a:gd name="adj" fmla="val 13333"/>
                </a:avLst>
              </a:prstGeom>
              <a:solidFill>
                <a:srgbClr val="C8B6FF"/>
              </a:solidFill>
              <a:ln w="19050" cap="flat" cmpd="sng">
                <a:solidFill>
                  <a:srgbClr val="1A1A24"/>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76" name="Google Shape;176;p17"/>
              <p:cNvSpPr txBox="1"/>
              <p:nvPr/>
            </p:nvSpPr>
            <p:spPr>
              <a:xfrm>
                <a:off x="76200" y="76200"/>
                <a:ext cx="990600" cy="419100"/>
              </a:xfrm>
              <a:prstGeom prst="rect">
                <a:avLst/>
              </a:prstGeom>
              <a:solidFill>
                <a:srgbClr val="000000">
                  <a:alpha val="0"/>
                </a:srgbClr>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850" b="1" i="0">
                    <a:solidFill>
                      <a:srgbClr val="1A1A24"/>
                    </a:solidFill>
                    <a:latin typeface="Space Grotesk"/>
                    <a:ea typeface="Space Grotesk"/>
                    <a:cs typeface="Space Grotesk"/>
                    <a:sym typeface="Space Grotesk"/>
                  </a:rPr>
                  <a:t>4. FRONTEND</a:t>
                </a:r>
                <a:endParaRPr sz="850" b="1" i="0">
                  <a:solidFill>
                    <a:srgbClr val="1A1A24"/>
                  </a:solidFill>
                  <a:latin typeface="Space Grotesk"/>
                  <a:ea typeface="Space Grotesk"/>
                  <a:cs typeface="Space Grotesk"/>
                  <a:sym typeface="Space Grotesk"/>
                </a:endParaRPr>
              </a:p>
              <a:p>
                <a:pPr marL="0" lvl="0" indent="0" algn="ctr" rtl="0">
                  <a:spcBef>
                    <a:spcPts val="200"/>
                  </a:spcBef>
                  <a:spcAft>
                    <a:spcPts val="0"/>
                  </a:spcAft>
                  <a:buNone/>
                </a:pPr>
                <a:r>
                  <a:rPr lang="en" sz="700" b="0" i="0">
                    <a:solidFill>
                      <a:srgbClr val="2A2A3A"/>
                    </a:solidFill>
                    <a:latin typeface="Plus Jakarta Sans SemiBold"/>
                    <a:ea typeface="Plus Jakarta Sans SemiBold"/>
                    <a:cs typeface="Plus Jakarta Sans SemiBold"/>
                    <a:sym typeface="Plus Jakarta Sans SemiBold"/>
                  </a:rPr>
                  <a:t>Dashboard UI</a:t>
                </a:r>
                <a:endParaRPr sz="700" b="0" i="0">
                  <a:solidFill>
                    <a:srgbClr val="2A2A3A"/>
                  </a:solidFill>
                  <a:latin typeface="Plus Jakarta Sans SemiBold"/>
                  <a:ea typeface="Plus Jakarta Sans SemiBold"/>
                  <a:cs typeface="Plus Jakarta Sans SemiBold"/>
                  <a:sym typeface="Plus Jakarta Sans SemiBold"/>
                </a:endParaRPr>
              </a:p>
            </p:txBody>
          </p:sp>
        </p:grpSp>
      </p:grpSp>
      <p:grpSp>
        <p:nvGrpSpPr>
          <p:cNvPr id="177" name="Google Shape;177;p17"/>
          <p:cNvGrpSpPr/>
          <p:nvPr/>
        </p:nvGrpSpPr>
        <p:grpSpPr>
          <a:xfrm>
            <a:off x="381000" y="2714625"/>
            <a:ext cx="8420025" cy="2133600"/>
            <a:chOff x="0" y="0"/>
            <a:chExt cx="8420025" cy="2133600"/>
          </a:xfrm>
        </p:grpSpPr>
        <p:grpSp>
          <p:nvGrpSpPr>
            <p:cNvPr id="178" name="Google Shape;178;p17"/>
            <p:cNvGrpSpPr/>
            <p:nvPr/>
          </p:nvGrpSpPr>
          <p:grpSpPr>
            <a:xfrm>
              <a:off x="0" y="0"/>
              <a:ext cx="2657400" cy="2133600"/>
              <a:chOff x="0" y="0"/>
              <a:chExt cx="2657400" cy="2133600"/>
            </a:xfrm>
          </p:grpSpPr>
          <p:sp>
            <p:nvSpPr>
              <p:cNvPr id="179" name="Google Shape;179;p17"/>
              <p:cNvSpPr/>
              <p:nvPr/>
            </p:nvSpPr>
            <p:spPr>
              <a:xfrm>
                <a:off x="38100" y="38100"/>
                <a:ext cx="2619300" cy="2095500"/>
              </a:xfrm>
              <a:prstGeom prst="roundRect">
                <a:avLst>
                  <a:gd name="adj" fmla="val 5454"/>
                </a:avLst>
              </a:prstGeom>
              <a:solidFill>
                <a:srgbClr val="1A1A24"/>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80" name="Google Shape;180;p17"/>
              <p:cNvSpPr/>
              <p:nvPr/>
            </p:nvSpPr>
            <p:spPr>
              <a:xfrm>
                <a:off x="0" y="0"/>
                <a:ext cx="2619300" cy="2095500"/>
              </a:xfrm>
              <a:prstGeom prst="roundRect">
                <a:avLst>
                  <a:gd name="adj" fmla="val 5454"/>
                </a:avLst>
              </a:prstGeom>
              <a:solidFill>
                <a:srgbClr val="FFFFFF"/>
              </a:solidFill>
              <a:ln w="28575" cap="flat" cmpd="sng">
                <a:solidFill>
                  <a:srgbClr val="1A1A24"/>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81" name="Google Shape;181;p17"/>
              <p:cNvSpPr/>
              <p:nvPr/>
            </p:nvSpPr>
            <p:spPr>
              <a:xfrm>
                <a:off x="0" y="0"/>
                <a:ext cx="2619300" cy="114300"/>
              </a:xfrm>
              <a:custGeom>
                <a:avLst/>
                <a:gdLst/>
                <a:ahLst/>
                <a:cxnLst/>
                <a:rect l="l" t="t" r="r" b="b"/>
                <a:pathLst>
                  <a:path w="120000" h="120000" extrusionOk="0">
                    <a:moveTo>
                      <a:pt x="0" y="120000"/>
                    </a:moveTo>
                    <a:cubicBezTo>
                      <a:pt x="0" y="53700"/>
                      <a:pt x="2343" y="0"/>
                      <a:pt x="5236" y="0"/>
                    </a:cubicBezTo>
                    <a:lnTo>
                      <a:pt x="114764" y="0"/>
                    </a:lnTo>
                    <a:cubicBezTo>
                      <a:pt x="117657" y="0"/>
                      <a:pt x="120000" y="53700"/>
                      <a:pt x="120000" y="120000"/>
                    </a:cubicBezTo>
                    <a:lnTo>
                      <a:pt x="120000" y="100000"/>
                    </a:lnTo>
                    <a:lnTo>
                      <a:pt x="0" y="100000"/>
                    </a:lnTo>
                    <a:close/>
                  </a:path>
                </a:pathLst>
              </a:custGeom>
              <a:solidFill>
                <a:srgbClr val="FFD93D"/>
              </a:solidFill>
              <a:ln w="28575" cap="flat" cmpd="sng">
                <a:solidFill>
                  <a:srgbClr val="1A1A24"/>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82" name="Google Shape;182;p17"/>
              <p:cNvSpPr txBox="1"/>
              <p:nvPr/>
            </p:nvSpPr>
            <p:spPr>
              <a:xfrm>
                <a:off x="171450" y="190500"/>
                <a:ext cx="2276400" cy="1714500"/>
              </a:xfrm>
              <a:prstGeom prst="rect">
                <a:avLst/>
              </a:prstGeom>
              <a:solidFill>
                <a:srgbClr val="000000">
                  <a:alpha val="0"/>
                </a:srgbClr>
              </a:solidFill>
              <a:ln>
                <a:noFill/>
              </a:ln>
            </p:spPr>
            <p:txBody>
              <a:bodyPr spcFirstLastPara="1" wrap="square" lIns="0" tIns="0" rIns="0" bIns="0" anchor="t" anchorCtr="0">
                <a:noAutofit/>
              </a:bodyPr>
              <a:lstStyle/>
              <a:p>
                <a:pPr marL="0" lvl="0" indent="0" algn="l" rtl="0">
                  <a:spcBef>
                    <a:spcPts val="0"/>
                  </a:spcBef>
                  <a:spcAft>
                    <a:spcPts val="0"/>
                  </a:spcAft>
                  <a:buNone/>
                </a:pPr>
                <a:r>
                  <a:rPr lang="en" sz="1350" b="1" i="0">
                    <a:solidFill>
                      <a:srgbClr val="1A1A24"/>
                    </a:solidFill>
                    <a:latin typeface="Space Grotesk"/>
                    <a:ea typeface="Space Grotesk"/>
                    <a:cs typeface="Space Grotesk"/>
                    <a:sym typeface="Space Grotesk"/>
                  </a:rPr>
                  <a:t>Data Ingestion &amp; ETL</a:t>
                </a:r>
                <a:endParaRPr sz="1350" b="1" i="0">
                  <a:solidFill>
                    <a:srgbClr val="1A1A24"/>
                  </a:solidFill>
                  <a:latin typeface="Space Grotesk"/>
                  <a:ea typeface="Space Grotesk"/>
                  <a:cs typeface="Space Grotesk"/>
                  <a:sym typeface="Space Grotesk"/>
                </a:endParaRPr>
              </a:p>
              <a:p>
                <a:pPr marL="0" lvl="0" indent="0" algn="l" rtl="0">
                  <a:spcBef>
                    <a:spcPts val="600"/>
                  </a:spcBef>
                  <a:spcAft>
                    <a:spcPts val="0"/>
                  </a:spcAft>
                  <a:buNone/>
                </a:pPr>
                <a:r>
                  <a:rPr lang="en" sz="950" b="0" i="0">
                    <a:solidFill>
                      <a:srgbClr val="4A4A5A"/>
                    </a:solidFill>
                    <a:latin typeface="Plus Jakarta Sans"/>
                    <a:ea typeface="Plus Jakarta Sans"/>
                    <a:cs typeface="Plus Jakarta Sans"/>
                    <a:sym typeface="Plus Jakarta Sans"/>
                  </a:rPr>
                  <a:t>Automated processing layers that clean and centralize data from disparate HRIS, payroll, and attendance sources.</a:t>
                </a:r>
                <a:endParaRPr sz="950" b="0" i="0">
                  <a:solidFill>
                    <a:srgbClr val="4A4A5A"/>
                  </a:solidFill>
                  <a:latin typeface="Plus Jakarta Sans"/>
                  <a:ea typeface="Plus Jakarta Sans"/>
                  <a:cs typeface="Plus Jakarta Sans"/>
                  <a:sym typeface="Plus Jakarta Sans"/>
                </a:endParaRPr>
              </a:p>
              <a:p>
                <a:pPr marL="0" lvl="0" indent="0" algn="l" rtl="0">
                  <a:spcBef>
                    <a:spcPts val="1000"/>
                  </a:spcBef>
                  <a:spcAft>
                    <a:spcPts val="0"/>
                  </a:spcAft>
                  <a:buNone/>
                </a:pPr>
                <a:r>
                  <a:rPr lang="en" sz="950" b="1" i="0">
                    <a:solidFill>
                      <a:srgbClr val="1A1A24"/>
                    </a:solidFill>
                    <a:latin typeface="Plus Jakarta Sans"/>
                    <a:ea typeface="Plus Jakarta Sans"/>
                    <a:cs typeface="Plus Jakarta Sans"/>
                    <a:sym typeface="Plus Jakarta Sans"/>
                  </a:rPr>
                  <a:t>Core Tech Stack:</a:t>
                </a:r>
                <a:endParaRPr sz="950" b="1" i="0">
                  <a:solidFill>
                    <a:srgbClr val="1A1A24"/>
                  </a:solidFill>
                  <a:latin typeface="Plus Jakarta Sans"/>
                  <a:ea typeface="Plus Jakarta Sans"/>
                  <a:cs typeface="Plus Jakarta Sans"/>
                  <a:sym typeface="Plus Jakarta Sans"/>
                </a:endParaRPr>
              </a:p>
              <a:p>
                <a:pPr marL="457200" lvl="0" indent="-285750" algn="l" rtl="0">
                  <a:spcBef>
                    <a:spcPts val="600"/>
                  </a:spcBef>
                  <a:spcAft>
                    <a:spcPts val="0"/>
                  </a:spcAft>
                  <a:buClr>
                    <a:srgbClr val="2A2A3A"/>
                  </a:buClr>
                  <a:buSzPts val="900"/>
                  <a:buFont typeface="Plus Jakarta Sans"/>
                  <a:buChar char="●"/>
                </a:pPr>
                <a:r>
                  <a:rPr lang="en" sz="900" b="0" i="0">
                    <a:solidFill>
                      <a:srgbClr val="2A2A3A"/>
                    </a:solidFill>
                    <a:latin typeface="Plus Jakarta Sans Medium"/>
                    <a:ea typeface="Plus Jakarta Sans Medium"/>
                    <a:cs typeface="Plus Jakarta Sans Medium"/>
                    <a:sym typeface="Plus Jakarta Sans Medium"/>
                  </a:rPr>
                  <a:t>Python (Pandas, NumPy)</a:t>
                </a:r>
                <a:endParaRPr sz="900" b="0" i="0">
                  <a:solidFill>
                    <a:srgbClr val="2A2A3A"/>
                  </a:solidFill>
                  <a:latin typeface="Plus Jakarta Sans Medium"/>
                  <a:ea typeface="Plus Jakarta Sans Medium"/>
                  <a:cs typeface="Plus Jakarta Sans Medium"/>
                  <a:sym typeface="Plus Jakarta Sans Medium"/>
                </a:endParaRPr>
              </a:p>
              <a:p>
                <a:pPr marL="457200" lvl="0" indent="-285750" algn="l" rtl="0">
                  <a:spcBef>
                    <a:spcPts val="400"/>
                  </a:spcBef>
                  <a:spcAft>
                    <a:spcPts val="0"/>
                  </a:spcAft>
                  <a:buClr>
                    <a:srgbClr val="2A2A3A"/>
                  </a:buClr>
                  <a:buSzPts val="900"/>
                  <a:buFont typeface="Plus Jakarta Sans"/>
                  <a:buChar char="●"/>
                </a:pPr>
                <a:r>
                  <a:rPr lang="en" sz="900" b="0" i="0">
                    <a:solidFill>
                      <a:srgbClr val="2A2A3A"/>
                    </a:solidFill>
                    <a:latin typeface="Plus Jakarta Sans Medium"/>
                    <a:ea typeface="Plus Jakarta Sans Medium"/>
                    <a:cs typeface="Plus Jakarta Sans Medium"/>
                    <a:sym typeface="Plus Jakarta Sans Medium"/>
                  </a:rPr>
                  <a:t>SQL Database Queries</a:t>
                </a:r>
                <a:endParaRPr sz="900" b="0" i="0">
                  <a:solidFill>
                    <a:srgbClr val="2A2A3A"/>
                  </a:solidFill>
                  <a:latin typeface="Plus Jakarta Sans Medium"/>
                  <a:ea typeface="Plus Jakarta Sans Medium"/>
                  <a:cs typeface="Plus Jakarta Sans Medium"/>
                  <a:sym typeface="Plus Jakarta Sans Medium"/>
                </a:endParaRPr>
              </a:p>
              <a:p>
                <a:pPr marL="457200" lvl="0" indent="-285750" algn="l" rtl="0">
                  <a:spcBef>
                    <a:spcPts val="400"/>
                  </a:spcBef>
                  <a:spcAft>
                    <a:spcPts val="0"/>
                  </a:spcAft>
                  <a:buClr>
                    <a:srgbClr val="2A2A3A"/>
                  </a:buClr>
                  <a:buSzPts val="900"/>
                  <a:buFont typeface="Plus Jakarta Sans"/>
                  <a:buChar char="●"/>
                </a:pPr>
                <a:r>
                  <a:rPr lang="en" sz="900" b="0" i="0">
                    <a:solidFill>
                      <a:srgbClr val="2A2A3A"/>
                    </a:solidFill>
                    <a:latin typeface="Plus Jakarta Sans Medium"/>
                    <a:ea typeface="Plus Jakarta Sans Medium"/>
                    <a:cs typeface="Plus Jakarta Sans Medium"/>
                    <a:sym typeface="Plus Jakarta Sans Medium"/>
                  </a:rPr>
                  <a:t>Automated ETL Pipelines</a:t>
                </a:r>
                <a:endParaRPr sz="900" b="0" i="0">
                  <a:solidFill>
                    <a:srgbClr val="2A2A3A"/>
                  </a:solidFill>
                  <a:latin typeface="Plus Jakarta Sans Medium"/>
                  <a:ea typeface="Plus Jakarta Sans Medium"/>
                  <a:cs typeface="Plus Jakarta Sans Medium"/>
                  <a:sym typeface="Plus Jakarta Sans Medium"/>
                </a:endParaRPr>
              </a:p>
            </p:txBody>
          </p:sp>
        </p:grpSp>
        <p:grpSp>
          <p:nvGrpSpPr>
            <p:cNvPr id="183" name="Google Shape;183;p17"/>
            <p:cNvGrpSpPr/>
            <p:nvPr/>
          </p:nvGrpSpPr>
          <p:grpSpPr>
            <a:xfrm>
              <a:off x="2876550" y="0"/>
              <a:ext cx="2657400" cy="2133600"/>
              <a:chOff x="0" y="0"/>
              <a:chExt cx="2657400" cy="2133600"/>
            </a:xfrm>
          </p:grpSpPr>
          <p:sp>
            <p:nvSpPr>
              <p:cNvPr id="184" name="Google Shape;184;p17"/>
              <p:cNvSpPr/>
              <p:nvPr/>
            </p:nvSpPr>
            <p:spPr>
              <a:xfrm>
                <a:off x="38100" y="38100"/>
                <a:ext cx="2619300" cy="2095500"/>
              </a:xfrm>
              <a:prstGeom prst="roundRect">
                <a:avLst>
                  <a:gd name="adj" fmla="val 5454"/>
                </a:avLst>
              </a:prstGeom>
              <a:solidFill>
                <a:srgbClr val="1A1A24"/>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85" name="Google Shape;185;p17"/>
              <p:cNvSpPr/>
              <p:nvPr/>
            </p:nvSpPr>
            <p:spPr>
              <a:xfrm>
                <a:off x="0" y="0"/>
                <a:ext cx="2619300" cy="2095500"/>
              </a:xfrm>
              <a:prstGeom prst="roundRect">
                <a:avLst>
                  <a:gd name="adj" fmla="val 5454"/>
                </a:avLst>
              </a:prstGeom>
              <a:solidFill>
                <a:srgbClr val="FFFFFF"/>
              </a:solidFill>
              <a:ln w="28575" cap="flat" cmpd="sng">
                <a:solidFill>
                  <a:srgbClr val="1A1A24"/>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86" name="Google Shape;186;p17"/>
              <p:cNvSpPr/>
              <p:nvPr/>
            </p:nvSpPr>
            <p:spPr>
              <a:xfrm>
                <a:off x="0" y="0"/>
                <a:ext cx="2619300" cy="114300"/>
              </a:xfrm>
              <a:custGeom>
                <a:avLst/>
                <a:gdLst/>
                <a:ahLst/>
                <a:cxnLst/>
                <a:rect l="l" t="t" r="r" b="b"/>
                <a:pathLst>
                  <a:path w="120000" h="120000" extrusionOk="0">
                    <a:moveTo>
                      <a:pt x="0" y="120000"/>
                    </a:moveTo>
                    <a:cubicBezTo>
                      <a:pt x="0" y="53700"/>
                      <a:pt x="2343" y="0"/>
                      <a:pt x="5236" y="0"/>
                    </a:cubicBezTo>
                    <a:lnTo>
                      <a:pt x="114764" y="0"/>
                    </a:lnTo>
                    <a:cubicBezTo>
                      <a:pt x="117657" y="0"/>
                      <a:pt x="120000" y="53700"/>
                      <a:pt x="120000" y="120000"/>
                    </a:cubicBezTo>
                    <a:lnTo>
                      <a:pt x="120000" y="100000"/>
                    </a:lnTo>
                    <a:lnTo>
                      <a:pt x="0" y="100000"/>
                    </a:lnTo>
                    <a:close/>
                  </a:path>
                </a:pathLst>
              </a:custGeom>
              <a:solidFill>
                <a:srgbClr val="FF6B6B"/>
              </a:solidFill>
              <a:ln w="28575" cap="flat" cmpd="sng">
                <a:solidFill>
                  <a:srgbClr val="1A1A24"/>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87" name="Google Shape;187;p17"/>
              <p:cNvSpPr txBox="1"/>
              <p:nvPr/>
            </p:nvSpPr>
            <p:spPr>
              <a:xfrm>
                <a:off x="171450" y="190500"/>
                <a:ext cx="2276400" cy="1714500"/>
              </a:xfrm>
              <a:prstGeom prst="rect">
                <a:avLst/>
              </a:prstGeom>
              <a:solidFill>
                <a:srgbClr val="000000">
                  <a:alpha val="0"/>
                </a:srgbClr>
              </a:solidFill>
              <a:ln>
                <a:noFill/>
              </a:ln>
            </p:spPr>
            <p:txBody>
              <a:bodyPr spcFirstLastPara="1" wrap="square" lIns="0" tIns="0" rIns="0" bIns="0" anchor="t" anchorCtr="0">
                <a:noAutofit/>
              </a:bodyPr>
              <a:lstStyle/>
              <a:p>
                <a:pPr marL="0" lvl="0" indent="0" algn="l" rtl="0">
                  <a:spcBef>
                    <a:spcPts val="0"/>
                  </a:spcBef>
                  <a:spcAft>
                    <a:spcPts val="0"/>
                  </a:spcAft>
                  <a:buNone/>
                </a:pPr>
                <a:r>
                  <a:rPr lang="en" sz="1350" b="1" i="0">
                    <a:solidFill>
                      <a:srgbClr val="1A1A24"/>
                    </a:solidFill>
                    <a:latin typeface="Space Grotesk"/>
                    <a:ea typeface="Space Grotesk"/>
                    <a:cs typeface="Space Grotesk"/>
                    <a:sym typeface="Space Grotesk"/>
                  </a:rPr>
                  <a:t>Machine Learning Engine</a:t>
                </a:r>
                <a:endParaRPr sz="1350" b="1" i="0">
                  <a:solidFill>
                    <a:srgbClr val="1A1A24"/>
                  </a:solidFill>
                  <a:latin typeface="Space Grotesk"/>
                  <a:ea typeface="Space Grotesk"/>
                  <a:cs typeface="Space Grotesk"/>
                  <a:sym typeface="Space Grotesk"/>
                </a:endParaRPr>
              </a:p>
              <a:p>
                <a:pPr marL="0" lvl="0" indent="0" algn="l" rtl="0">
                  <a:spcBef>
                    <a:spcPts val="600"/>
                  </a:spcBef>
                  <a:spcAft>
                    <a:spcPts val="0"/>
                  </a:spcAft>
                  <a:buNone/>
                </a:pPr>
                <a:r>
                  <a:rPr lang="en" sz="950" b="0" i="0">
                    <a:solidFill>
                      <a:srgbClr val="4A4A5A"/>
                    </a:solidFill>
                    <a:latin typeface="Plus Jakarta Sans"/>
                    <a:ea typeface="Plus Jakarta Sans"/>
                    <a:cs typeface="Plus Jakarta Sans"/>
                    <a:sym typeface="Plus Jakarta Sans"/>
                  </a:rPr>
                  <a:t>Predictive models powering 6-month attrition forecasting with strong accuracy and precision benchmarks.</a:t>
                </a:r>
                <a:endParaRPr sz="950" b="0" i="0">
                  <a:solidFill>
                    <a:srgbClr val="4A4A5A"/>
                  </a:solidFill>
                  <a:latin typeface="Plus Jakarta Sans"/>
                  <a:ea typeface="Plus Jakarta Sans"/>
                  <a:cs typeface="Plus Jakarta Sans"/>
                  <a:sym typeface="Plus Jakarta Sans"/>
                </a:endParaRPr>
              </a:p>
              <a:p>
                <a:pPr marL="0" lvl="0" indent="0" algn="l" rtl="0">
                  <a:spcBef>
                    <a:spcPts val="1000"/>
                  </a:spcBef>
                  <a:spcAft>
                    <a:spcPts val="0"/>
                  </a:spcAft>
                  <a:buNone/>
                </a:pPr>
                <a:r>
                  <a:rPr lang="en" sz="950" b="1" i="0">
                    <a:solidFill>
                      <a:srgbClr val="1A1A24"/>
                    </a:solidFill>
                    <a:latin typeface="Plus Jakarta Sans"/>
                    <a:ea typeface="Plus Jakarta Sans"/>
                    <a:cs typeface="Plus Jakarta Sans"/>
                    <a:sym typeface="Plus Jakarta Sans"/>
                  </a:rPr>
                  <a:t>Core Tech Stack:</a:t>
                </a:r>
                <a:endParaRPr sz="950" b="1" i="0">
                  <a:solidFill>
                    <a:srgbClr val="1A1A24"/>
                  </a:solidFill>
                  <a:latin typeface="Plus Jakarta Sans"/>
                  <a:ea typeface="Plus Jakarta Sans"/>
                  <a:cs typeface="Plus Jakarta Sans"/>
                  <a:sym typeface="Plus Jakarta Sans"/>
                </a:endParaRPr>
              </a:p>
              <a:p>
                <a:pPr marL="457200" lvl="0" indent="-285750" algn="l" rtl="0">
                  <a:spcBef>
                    <a:spcPts val="600"/>
                  </a:spcBef>
                  <a:spcAft>
                    <a:spcPts val="0"/>
                  </a:spcAft>
                  <a:buClr>
                    <a:srgbClr val="2A2A3A"/>
                  </a:buClr>
                  <a:buSzPts val="900"/>
                  <a:buFont typeface="Plus Jakarta Sans"/>
                  <a:buChar char="●"/>
                </a:pPr>
                <a:r>
                  <a:rPr lang="en" sz="900" b="0" i="0">
                    <a:solidFill>
                      <a:srgbClr val="2A2A3A"/>
                    </a:solidFill>
                    <a:latin typeface="Plus Jakarta Sans Medium"/>
                    <a:ea typeface="Plus Jakarta Sans Medium"/>
                    <a:cs typeface="Plus Jakarta Sans Medium"/>
                    <a:sym typeface="Plus Jakarta Sans Medium"/>
                  </a:rPr>
                  <a:t>Scikit-Learn Classifiers</a:t>
                </a:r>
                <a:endParaRPr sz="900" b="0" i="0">
                  <a:solidFill>
                    <a:srgbClr val="2A2A3A"/>
                  </a:solidFill>
                  <a:latin typeface="Plus Jakarta Sans Medium"/>
                  <a:ea typeface="Plus Jakarta Sans Medium"/>
                  <a:cs typeface="Plus Jakarta Sans Medium"/>
                  <a:sym typeface="Plus Jakarta Sans Medium"/>
                </a:endParaRPr>
              </a:p>
              <a:p>
                <a:pPr marL="457200" lvl="0" indent="-285750" algn="l" rtl="0">
                  <a:spcBef>
                    <a:spcPts val="400"/>
                  </a:spcBef>
                  <a:spcAft>
                    <a:spcPts val="0"/>
                  </a:spcAft>
                  <a:buClr>
                    <a:srgbClr val="2A2A3A"/>
                  </a:buClr>
                  <a:buSzPts val="900"/>
                  <a:buFont typeface="Plus Jakarta Sans"/>
                  <a:buChar char="●"/>
                </a:pPr>
                <a:r>
                  <a:rPr lang="en" sz="900" b="0" i="0">
                    <a:solidFill>
                      <a:srgbClr val="2A2A3A"/>
                    </a:solidFill>
                    <a:latin typeface="Plus Jakarta Sans Medium"/>
                    <a:ea typeface="Plus Jakarta Sans Medium"/>
                    <a:cs typeface="Plus Jakarta Sans Medium"/>
                    <a:sym typeface="Plus Jakarta Sans Medium"/>
                  </a:rPr>
                  <a:t>86.2% Accuracy Model</a:t>
                </a:r>
                <a:endParaRPr sz="900" b="0" i="0">
                  <a:solidFill>
                    <a:srgbClr val="2A2A3A"/>
                  </a:solidFill>
                  <a:latin typeface="Plus Jakarta Sans Medium"/>
                  <a:ea typeface="Plus Jakarta Sans Medium"/>
                  <a:cs typeface="Plus Jakarta Sans Medium"/>
                  <a:sym typeface="Plus Jakarta Sans Medium"/>
                </a:endParaRPr>
              </a:p>
              <a:p>
                <a:pPr marL="457200" lvl="0" indent="-285750" algn="l" rtl="0">
                  <a:spcBef>
                    <a:spcPts val="400"/>
                  </a:spcBef>
                  <a:spcAft>
                    <a:spcPts val="0"/>
                  </a:spcAft>
                  <a:buClr>
                    <a:srgbClr val="2A2A3A"/>
                  </a:buClr>
                  <a:buSzPts val="900"/>
                  <a:buFont typeface="Plus Jakarta Sans"/>
                  <a:buChar char="●"/>
                </a:pPr>
                <a:r>
                  <a:rPr lang="en" sz="900" b="0" i="0">
                    <a:solidFill>
                      <a:srgbClr val="2A2A3A"/>
                    </a:solidFill>
                    <a:latin typeface="Plus Jakarta Sans Medium"/>
                    <a:ea typeface="Plus Jakarta Sans Medium"/>
                    <a:cs typeface="Plus Jakarta Sans Medium"/>
                    <a:sym typeface="Plus Jakarta Sans Medium"/>
                  </a:rPr>
                  <a:t>0.912 AUC Score Metrics</a:t>
                </a:r>
                <a:endParaRPr sz="900" b="0" i="0">
                  <a:solidFill>
                    <a:srgbClr val="2A2A3A"/>
                  </a:solidFill>
                  <a:latin typeface="Plus Jakarta Sans Medium"/>
                  <a:ea typeface="Plus Jakarta Sans Medium"/>
                  <a:cs typeface="Plus Jakarta Sans Medium"/>
                  <a:sym typeface="Plus Jakarta Sans Medium"/>
                </a:endParaRPr>
              </a:p>
            </p:txBody>
          </p:sp>
        </p:grpSp>
        <p:grpSp>
          <p:nvGrpSpPr>
            <p:cNvPr id="188" name="Google Shape;188;p17"/>
            <p:cNvGrpSpPr/>
            <p:nvPr/>
          </p:nvGrpSpPr>
          <p:grpSpPr>
            <a:xfrm>
              <a:off x="5762625" y="0"/>
              <a:ext cx="2657400" cy="2133600"/>
              <a:chOff x="0" y="0"/>
              <a:chExt cx="2657400" cy="2133600"/>
            </a:xfrm>
          </p:grpSpPr>
          <p:sp>
            <p:nvSpPr>
              <p:cNvPr id="189" name="Google Shape;189;p17"/>
              <p:cNvSpPr/>
              <p:nvPr/>
            </p:nvSpPr>
            <p:spPr>
              <a:xfrm>
                <a:off x="38100" y="38100"/>
                <a:ext cx="2619300" cy="2095500"/>
              </a:xfrm>
              <a:prstGeom prst="roundRect">
                <a:avLst>
                  <a:gd name="adj" fmla="val 5454"/>
                </a:avLst>
              </a:prstGeom>
              <a:solidFill>
                <a:srgbClr val="1A1A24"/>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90" name="Google Shape;190;p17"/>
              <p:cNvSpPr/>
              <p:nvPr/>
            </p:nvSpPr>
            <p:spPr>
              <a:xfrm>
                <a:off x="0" y="0"/>
                <a:ext cx="2619300" cy="2095500"/>
              </a:xfrm>
              <a:prstGeom prst="roundRect">
                <a:avLst>
                  <a:gd name="adj" fmla="val 5454"/>
                </a:avLst>
              </a:prstGeom>
              <a:solidFill>
                <a:srgbClr val="FFFFFF"/>
              </a:solidFill>
              <a:ln w="28575" cap="flat" cmpd="sng">
                <a:solidFill>
                  <a:srgbClr val="1A1A24"/>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91" name="Google Shape;191;p17"/>
              <p:cNvSpPr/>
              <p:nvPr/>
            </p:nvSpPr>
            <p:spPr>
              <a:xfrm>
                <a:off x="0" y="0"/>
                <a:ext cx="2619300" cy="114300"/>
              </a:xfrm>
              <a:custGeom>
                <a:avLst/>
                <a:gdLst/>
                <a:ahLst/>
                <a:cxnLst/>
                <a:rect l="l" t="t" r="r" b="b"/>
                <a:pathLst>
                  <a:path w="120000" h="120000" extrusionOk="0">
                    <a:moveTo>
                      <a:pt x="0" y="120000"/>
                    </a:moveTo>
                    <a:cubicBezTo>
                      <a:pt x="0" y="53700"/>
                      <a:pt x="2343" y="0"/>
                      <a:pt x="5236" y="0"/>
                    </a:cubicBezTo>
                    <a:lnTo>
                      <a:pt x="114764" y="0"/>
                    </a:lnTo>
                    <a:cubicBezTo>
                      <a:pt x="117657" y="0"/>
                      <a:pt x="120000" y="53700"/>
                      <a:pt x="120000" y="120000"/>
                    </a:cubicBezTo>
                    <a:lnTo>
                      <a:pt x="120000" y="100000"/>
                    </a:lnTo>
                    <a:lnTo>
                      <a:pt x="0" y="100000"/>
                    </a:lnTo>
                    <a:close/>
                  </a:path>
                </a:pathLst>
              </a:custGeom>
              <a:solidFill>
                <a:srgbClr val="4ECDC4"/>
              </a:solidFill>
              <a:ln w="28575" cap="flat" cmpd="sng">
                <a:solidFill>
                  <a:srgbClr val="1A1A24"/>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92" name="Google Shape;192;p17"/>
              <p:cNvSpPr txBox="1"/>
              <p:nvPr/>
            </p:nvSpPr>
            <p:spPr>
              <a:xfrm>
                <a:off x="171450" y="190500"/>
                <a:ext cx="2276400" cy="1714500"/>
              </a:xfrm>
              <a:prstGeom prst="rect">
                <a:avLst/>
              </a:prstGeom>
              <a:solidFill>
                <a:srgbClr val="000000">
                  <a:alpha val="0"/>
                </a:srgbClr>
              </a:solidFill>
              <a:ln>
                <a:noFill/>
              </a:ln>
            </p:spPr>
            <p:txBody>
              <a:bodyPr spcFirstLastPara="1" wrap="square" lIns="0" tIns="0" rIns="0" bIns="0" anchor="t" anchorCtr="0">
                <a:noAutofit/>
              </a:bodyPr>
              <a:lstStyle/>
              <a:p>
                <a:pPr marL="0" lvl="0" indent="0" algn="l" rtl="0">
                  <a:spcBef>
                    <a:spcPts val="0"/>
                  </a:spcBef>
                  <a:spcAft>
                    <a:spcPts val="0"/>
                  </a:spcAft>
                  <a:buNone/>
                </a:pPr>
                <a:r>
                  <a:rPr lang="en" sz="1350" b="1" i="0">
                    <a:solidFill>
                      <a:srgbClr val="1A1A24"/>
                    </a:solidFill>
                    <a:latin typeface="Space Grotesk"/>
                    <a:ea typeface="Space Grotesk"/>
                    <a:cs typeface="Space Grotesk"/>
                    <a:sym typeface="Space Grotesk"/>
                  </a:rPr>
                  <a:t>Analytics &amp; Visualization</a:t>
                </a:r>
                <a:endParaRPr sz="1350" b="1" i="0">
                  <a:solidFill>
                    <a:srgbClr val="1A1A24"/>
                  </a:solidFill>
                  <a:latin typeface="Space Grotesk"/>
                  <a:ea typeface="Space Grotesk"/>
                  <a:cs typeface="Space Grotesk"/>
                  <a:sym typeface="Space Grotesk"/>
                </a:endParaRPr>
              </a:p>
              <a:p>
                <a:pPr marL="0" lvl="0" indent="0" algn="l" rtl="0">
                  <a:spcBef>
                    <a:spcPts val="600"/>
                  </a:spcBef>
                  <a:spcAft>
                    <a:spcPts val="0"/>
                  </a:spcAft>
                  <a:buNone/>
                </a:pPr>
                <a:r>
                  <a:rPr lang="en" sz="950" b="0" i="0">
                    <a:solidFill>
                      <a:srgbClr val="4A4A5A"/>
                    </a:solidFill>
                    <a:latin typeface="Plus Jakarta Sans"/>
                    <a:ea typeface="Plus Jakarta Sans"/>
                    <a:cs typeface="Plus Jakarta Sans"/>
                    <a:sym typeface="Plus Jakarta Sans"/>
                  </a:rPr>
                  <a:t>Interactive user interfaces providing HR leadership with actionable visual analytics and KPI monitoring.</a:t>
                </a:r>
                <a:endParaRPr sz="950" b="0" i="0">
                  <a:solidFill>
                    <a:srgbClr val="4A4A5A"/>
                  </a:solidFill>
                  <a:latin typeface="Plus Jakarta Sans"/>
                  <a:ea typeface="Plus Jakarta Sans"/>
                  <a:cs typeface="Plus Jakarta Sans"/>
                  <a:sym typeface="Plus Jakarta Sans"/>
                </a:endParaRPr>
              </a:p>
              <a:p>
                <a:pPr marL="0" lvl="0" indent="0" algn="l" rtl="0">
                  <a:spcBef>
                    <a:spcPts val="1000"/>
                  </a:spcBef>
                  <a:spcAft>
                    <a:spcPts val="0"/>
                  </a:spcAft>
                  <a:buNone/>
                </a:pPr>
                <a:r>
                  <a:rPr lang="en" sz="950" b="1" i="0">
                    <a:solidFill>
                      <a:srgbClr val="1A1A24"/>
                    </a:solidFill>
                    <a:latin typeface="Plus Jakarta Sans"/>
                    <a:ea typeface="Plus Jakarta Sans"/>
                    <a:cs typeface="Plus Jakarta Sans"/>
                    <a:sym typeface="Plus Jakarta Sans"/>
                  </a:rPr>
                  <a:t>Core Tech Stack:</a:t>
                </a:r>
                <a:endParaRPr sz="950" b="1" i="0">
                  <a:solidFill>
                    <a:srgbClr val="1A1A24"/>
                  </a:solidFill>
                  <a:latin typeface="Plus Jakarta Sans"/>
                  <a:ea typeface="Plus Jakarta Sans"/>
                  <a:cs typeface="Plus Jakarta Sans"/>
                  <a:sym typeface="Plus Jakarta Sans"/>
                </a:endParaRPr>
              </a:p>
              <a:p>
                <a:pPr marL="457200" lvl="0" indent="-285750" algn="l" rtl="0">
                  <a:spcBef>
                    <a:spcPts val="600"/>
                  </a:spcBef>
                  <a:spcAft>
                    <a:spcPts val="0"/>
                  </a:spcAft>
                  <a:buClr>
                    <a:srgbClr val="2A2A3A"/>
                  </a:buClr>
                  <a:buSzPts val="900"/>
                  <a:buFont typeface="Plus Jakarta Sans"/>
                  <a:buChar char="●"/>
                </a:pPr>
                <a:r>
                  <a:rPr lang="en" sz="900" b="0" i="0">
                    <a:solidFill>
                      <a:srgbClr val="2A2A3A"/>
                    </a:solidFill>
                    <a:latin typeface="Plus Jakarta Sans Medium"/>
                    <a:ea typeface="Plus Jakarta Sans Medium"/>
                    <a:cs typeface="Plus Jakarta Sans Medium"/>
                    <a:sym typeface="Plus Jakarta Sans Medium"/>
                  </a:rPr>
                  <a:t>Dashboard Frameworks</a:t>
                </a:r>
                <a:endParaRPr sz="900" b="0" i="0">
                  <a:solidFill>
                    <a:srgbClr val="2A2A3A"/>
                  </a:solidFill>
                  <a:latin typeface="Plus Jakarta Sans Medium"/>
                  <a:ea typeface="Plus Jakarta Sans Medium"/>
                  <a:cs typeface="Plus Jakarta Sans Medium"/>
                  <a:sym typeface="Plus Jakarta Sans Medium"/>
                </a:endParaRPr>
              </a:p>
              <a:p>
                <a:pPr marL="457200" lvl="0" indent="-285750" algn="l" rtl="0">
                  <a:spcBef>
                    <a:spcPts val="400"/>
                  </a:spcBef>
                  <a:spcAft>
                    <a:spcPts val="0"/>
                  </a:spcAft>
                  <a:buClr>
                    <a:srgbClr val="2A2A3A"/>
                  </a:buClr>
                  <a:buSzPts val="900"/>
                  <a:buFont typeface="Plus Jakarta Sans"/>
                  <a:buChar char="●"/>
                </a:pPr>
                <a:r>
                  <a:rPr lang="en" sz="900" b="0" i="0">
                    <a:solidFill>
                      <a:srgbClr val="2A2A3A"/>
                    </a:solidFill>
                    <a:latin typeface="Plus Jakarta Sans Medium"/>
                    <a:ea typeface="Plus Jakarta Sans Medium"/>
                    <a:cs typeface="Plus Jakarta Sans Medium"/>
                    <a:sym typeface="Plus Jakarta Sans Medium"/>
                  </a:rPr>
                  <a:t>Real-time KPI Engines</a:t>
                </a:r>
                <a:endParaRPr sz="900" b="0" i="0">
                  <a:solidFill>
                    <a:srgbClr val="2A2A3A"/>
                  </a:solidFill>
                  <a:latin typeface="Plus Jakarta Sans Medium"/>
                  <a:ea typeface="Plus Jakarta Sans Medium"/>
                  <a:cs typeface="Plus Jakarta Sans Medium"/>
                  <a:sym typeface="Plus Jakarta Sans Medium"/>
                </a:endParaRPr>
              </a:p>
              <a:p>
                <a:pPr marL="457200" lvl="0" indent="-285750" algn="l" rtl="0">
                  <a:spcBef>
                    <a:spcPts val="400"/>
                  </a:spcBef>
                  <a:spcAft>
                    <a:spcPts val="0"/>
                  </a:spcAft>
                  <a:buClr>
                    <a:srgbClr val="2A2A3A"/>
                  </a:buClr>
                  <a:buSzPts val="900"/>
                  <a:buFont typeface="Plus Jakarta Sans"/>
                  <a:buChar char="●"/>
                </a:pPr>
                <a:r>
                  <a:rPr lang="en" sz="900" b="0" i="0">
                    <a:solidFill>
                      <a:srgbClr val="2A2A3A"/>
                    </a:solidFill>
                    <a:latin typeface="Plus Jakarta Sans Medium"/>
                    <a:ea typeface="Plus Jakarta Sans Medium"/>
                    <a:cs typeface="Plus Jakarta Sans Medium"/>
                    <a:sym typeface="Plus Jakarta Sans Medium"/>
                  </a:rPr>
                  <a:t>Role-Based Access Controls</a:t>
                </a:r>
                <a:endParaRPr sz="900" b="0" i="0">
                  <a:solidFill>
                    <a:srgbClr val="2A2A3A"/>
                  </a:solidFill>
                  <a:latin typeface="Plus Jakarta Sans Medium"/>
                  <a:ea typeface="Plus Jakarta Sans Medium"/>
                  <a:cs typeface="Plus Jakarta Sans Medium"/>
                  <a:sym typeface="Plus Jakarta Sans Medium"/>
                </a:endParaRPr>
              </a:p>
            </p:txBody>
          </p:sp>
        </p:grpSp>
      </p:grpSp>
      <p:grpSp>
        <p:nvGrpSpPr>
          <p:cNvPr id="193" name="Google Shape;193;p17"/>
          <p:cNvGrpSpPr/>
          <p:nvPr/>
        </p:nvGrpSpPr>
        <p:grpSpPr>
          <a:xfrm>
            <a:off x="8477250" y="266700"/>
            <a:ext cx="285900" cy="285900"/>
            <a:chOff x="0" y="0"/>
            <a:chExt cx="285900" cy="285900"/>
          </a:xfrm>
        </p:grpSpPr>
        <p:sp>
          <p:nvSpPr>
            <p:cNvPr id="194" name="Google Shape;194;p17"/>
            <p:cNvSpPr/>
            <p:nvPr/>
          </p:nvSpPr>
          <p:spPr>
            <a:xfrm>
              <a:off x="0" y="0"/>
              <a:ext cx="285900" cy="285900"/>
            </a:xfrm>
            <a:custGeom>
              <a:avLst/>
              <a:gdLst/>
              <a:ahLst/>
              <a:cxnLst/>
              <a:rect l="l" t="t" r="r" b="b"/>
              <a:pathLst>
                <a:path w="120000" h="120000" extrusionOk="0">
                  <a:moveTo>
                    <a:pt x="60000" y="0"/>
                  </a:moveTo>
                  <a:cubicBezTo>
                    <a:pt x="60000" y="40000"/>
                    <a:pt x="100000" y="60000"/>
                    <a:pt x="120000" y="60000"/>
                  </a:cubicBezTo>
                  <a:cubicBezTo>
                    <a:pt x="100000" y="60000"/>
                    <a:pt x="60000" y="80000"/>
                    <a:pt x="60000" y="120000"/>
                  </a:cubicBezTo>
                  <a:cubicBezTo>
                    <a:pt x="60000" y="80000"/>
                    <a:pt x="20000" y="60000"/>
                    <a:pt x="0" y="60000"/>
                  </a:cubicBezTo>
                  <a:cubicBezTo>
                    <a:pt x="20000" y="60000"/>
                    <a:pt x="60000" y="40000"/>
                    <a:pt x="60000" y="0"/>
                  </a:cubicBezTo>
                  <a:close/>
                </a:path>
              </a:pathLst>
            </a:custGeom>
            <a:solidFill>
              <a:srgbClr val="FF6B6B"/>
            </a:solidFill>
            <a:ln w="19050" cap="flat" cmpd="sng">
              <a:solidFill>
                <a:srgbClr val="1A1A24"/>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95" name="Google Shape;195;p17"/>
            <p:cNvSpPr/>
            <p:nvPr/>
          </p:nvSpPr>
          <p:spPr>
            <a:xfrm>
              <a:off x="104775" y="104775"/>
              <a:ext cx="76200" cy="76200"/>
            </a:xfrm>
            <a:prstGeom prst="ellipse">
              <a:avLst/>
            </a:prstGeom>
            <a:solidFill>
              <a:srgbClr val="FFD93D"/>
            </a:solidFill>
            <a:ln w="19050" cap="flat" cmpd="sng">
              <a:solidFill>
                <a:srgbClr val="1A1A24"/>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grpSp>
      <p:sp>
        <p:nvSpPr>
          <p:cNvPr id="196" name="Google Shape;196;p17"/>
          <p:cNvSpPr txBox="1"/>
          <p:nvPr/>
        </p:nvSpPr>
        <p:spPr>
          <a:xfrm>
            <a:off x="904875" y="190500"/>
            <a:ext cx="7858200" cy="714300"/>
          </a:xfrm>
          <a:prstGeom prst="rect">
            <a:avLst/>
          </a:prstGeom>
          <a:solidFill>
            <a:srgbClr val="000000">
              <a:alpha val="0"/>
            </a:srgbClr>
          </a:solidFill>
          <a:ln>
            <a:noFill/>
          </a:ln>
        </p:spPr>
        <p:txBody>
          <a:bodyPr spcFirstLastPara="1" wrap="square" lIns="0" tIns="0" rIns="0" bIns="0" anchor="t" anchorCtr="0">
            <a:noAutofit/>
          </a:bodyPr>
          <a:lstStyle/>
          <a:p>
            <a:pPr marL="0" lvl="0" indent="0" algn="l" rtl="0">
              <a:spcBef>
                <a:spcPts val="0"/>
              </a:spcBef>
              <a:spcAft>
                <a:spcPts val="0"/>
              </a:spcAft>
              <a:buNone/>
            </a:pPr>
            <a:r>
              <a:rPr lang="en" sz="2200" b="1" i="0">
                <a:solidFill>
                  <a:srgbClr val="1A1A24"/>
                </a:solidFill>
                <a:latin typeface="Space Grotesk"/>
                <a:ea typeface="Space Grotesk"/>
                <a:cs typeface="Space Grotesk"/>
                <a:sym typeface="Space Grotesk"/>
              </a:rPr>
              <a:t>Technology Stack &amp; Infrastructure Ecosystem</a:t>
            </a:r>
            <a:endParaRPr sz="2200" b="1" i="0">
              <a:solidFill>
                <a:srgbClr val="1A1A24"/>
              </a:solidFill>
              <a:latin typeface="Space Grotesk"/>
              <a:ea typeface="Space Grotesk"/>
              <a:cs typeface="Space Grotesk"/>
              <a:sym typeface="Space Grotesk"/>
            </a:endParaRPr>
          </a:p>
          <a:p>
            <a:pPr marL="0" lvl="0" indent="0" algn="l" rtl="0">
              <a:spcBef>
                <a:spcPts val="300"/>
              </a:spcBef>
              <a:spcAft>
                <a:spcPts val="0"/>
              </a:spcAft>
              <a:buNone/>
            </a:pPr>
            <a:r>
              <a:rPr lang="en" sz="1100" b="0" i="0">
                <a:solidFill>
                  <a:srgbClr val="4A4A5A"/>
                </a:solidFill>
                <a:latin typeface="Plus Jakarta Sans Medium"/>
                <a:ea typeface="Plus Jakarta Sans Medium"/>
                <a:cs typeface="Plus Jakarta Sans Medium"/>
                <a:sym typeface="Plus Jakarta Sans Medium"/>
              </a:rPr>
              <a:t>Scalable tools and frameworks powering data ingestion, machine learning, and visualization</a:t>
            </a:r>
            <a:endParaRPr sz="1100" b="1" i="0">
              <a:solidFill>
                <a:srgbClr val="1A1A24"/>
              </a:solidFill>
              <a:latin typeface="Space Grotesk"/>
              <a:ea typeface="Space Grotesk"/>
              <a:cs typeface="Space Grotesk"/>
              <a:sym typeface="Space Grotesk"/>
            </a:endParaRPr>
          </a:p>
        </p:txBody>
      </p:sp>
    </p:spTree>
  </p:cSld>
  <p:clrMapOvr>
    <a:masterClrMapping/>
  </p:clrMapOvr>
  <mc:AlternateContent xmlns:mc="http://schemas.openxmlformats.org/markup-compatibility/2006">
    <mc:Choice xmlns:p14="http://schemas.microsoft.com/office/powerpoint/2010/main" Requires="p14">
      <p:transition spd="slow" p14:dur="2500">
        <p14:flash/>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grpSp>
        <p:nvGrpSpPr>
          <p:cNvPr id="201" name="Google Shape;201;p18"/>
          <p:cNvGrpSpPr/>
          <p:nvPr/>
        </p:nvGrpSpPr>
        <p:grpSpPr>
          <a:xfrm>
            <a:off x="0" y="0"/>
            <a:ext cx="9144000" cy="5143500"/>
            <a:chOff x="0" y="0"/>
            <a:chExt cx="9144000" cy="5143500"/>
          </a:xfrm>
        </p:grpSpPr>
        <p:sp>
          <p:nvSpPr>
            <p:cNvPr id="202" name="Google Shape;202;p18"/>
            <p:cNvSpPr/>
            <p:nvPr/>
          </p:nvSpPr>
          <p:spPr>
            <a:xfrm>
              <a:off x="0" y="0"/>
              <a:ext cx="9144000" cy="5143500"/>
            </a:xfrm>
            <a:prstGeom prst="rect">
              <a:avLst/>
            </a:prstGeom>
            <a:solidFill>
              <a:srgbClr val="F4F4F0"/>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grpSp>
          <p:nvGrpSpPr>
            <p:cNvPr id="203" name="Google Shape;203;p18"/>
            <p:cNvGrpSpPr/>
            <p:nvPr/>
          </p:nvGrpSpPr>
          <p:grpSpPr>
            <a:xfrm>
              <a:off x="381000" y="285750"/>
              <a:ext cx="419100" cy="419100"/>
              <a:chOff x="0" y="0"/>
              <a:chExt cx="419100" cy="419100"/>
            </a:xfrm>
          </p:grpSpPr>
          <p:sp>
            <p:nvSpPr>
              <p:cNvPr id="204" name="Google Shape;204;p18"/>
              <p:cNvSpPr/>
              <p:nvPr/>
            </p:nvSpPr>
            <p:spPr>
              <a:xfrm>
                <a:off x="38100" y="38100"/>
                <a:ext cx="381000" cy="381000"/>
              </a:xfrm>
              <a:prstGeom prst="roundRect">
                <a:avLst>
                  <a:gd name="adj" fmla="val 20000"/>
                </a:avLst>
              </a:prstGeom>
              <a:solidFill>
                <a:srgbClr val="1A1A24"/>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05" name="Google Shape;205;p18"/>
              <p:cNvSpPr/>
              <p:nvPr/>
            </p:nvSpPr>
            <p:spPr>
              <a:xfrm>
                <a:off x="0" y="0"/>
                <a:ext cx="381000" cy="381000"/>
              </a:xfrm>
              <a:prstGeom prst="roundRect">
                <a:avLst>
                  <a:gd name="adj" fmla="val 20000"/>
                </a:avLst>
              </a:prstGeom>
              <a:solidFill>
                <a:srgbClr val="FFD93D"/>
              </a:solidFill>
              <a:ln w="28575" cap="flat" cmpd="sng">
                <a:solidFill>
                  <a:srgbClr val="1A1A24"/>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06" name="Google Shape;206;p18"/>
              <p:cNvSpPr/>
              <p:nvPr/>
            </p:nvSpPr>
            <p:spPr>
              <a:xfrm>
                <a:off x="95250" y="114300"/>
                <a:ext cx="190500" cy="152400"/>
              </a:xfrm>
              <a:custGeom>
                <a:avLst/>
                <a:gdLst/>
                <a:ahLst/>
                <a:cxnLst/>
                <a:rect l="l" t="t" r="r" b="b"/>
                <a:pathLst>
                  <a:path w="120000" h="120000" extrusionOk="0">
                    <a:moveTo>
                      <a:pt x="0" y="0"/>
                    </a:moveTo>
                    <a:lnTo>
                      <a:pt x="36000" y="120000"/>
                    </a:lnTo>
                    <a:lnTo>
                      <a:pt x="60000" y="60000"/>
                    </a:lnTo>
                    <a:lnTo>
                      <a:pt x="84000" y="120000"/>
                    </a:lnTo>
                    <a:lnTo>
                      <a:pt x="120000" y="0"/>
                    </a:lnTo>
                  </a:path>
                </a:pathLst>
              </a:custGeom>
              <a:solidFill>
                <a:srgbClr val="000000">
                  <a:alpha val="0"/>
                </a:srgbClr>
              </a:solidFill>
              <a:ln w="28575" cap="rnd" cmpd="sng">
                <a:solidFill>
                  <a:srgbClr val="1A1A24"/>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grpSp>
        <p:cxnSp>
          <p:nvCxnSpPr>
            <p:cNvPr id="207" name="Google Shape;207;p18"/>
            <p:cNvCxnSpPr/>
            <p:nvPr/>
          </p:nvCxnSpPr>
          <p:spPr>
            <a:xfrm>
              <a:off x="381000" y="952500"/>
              <a:ext cx="8382000" cy="0"/>
            </a:xfrm>
            <a:prstGeom prst="straightConnector1">
              <a:avLst/>
            </a:prstGeom>
            <a:solidFill>
              <a:srgbClr val="FFFFFF"/>
            </a:solidFill>
            <a:ln w="28575" cap="flat" cmpd="sng">
              <a:solidFill>
                <a:srgbClr val="1A1A24"/>
              </a:solidFill>
              <a:prstDash val="solid"/>
              <a:round/>
              <a:headEnd type="none" w="sm" len="sm"/>
              <a:tailEnd type="none" w="sm" len="sm"/>
            </a:ln>
          </p:spPr>
        </p:cxnSp>
      </p:grpSp>
      <p:sp>
        <p:nvSpPr>
          <p:cNvPr id="208" name="Google Shape;208;p18"/>
          <p:cNvSpPr txBox="1"/>
          <p:nvPr/>
        </p:nvSpPr>
        <p:spPr>
          <a:xfrm>
            <a:off x="952500" y="266700"/>
            <a:ext cx="7810500" cy="5715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2600" b="1">
                <a:solidFill>
                  <a:srgbClr val="1A1A24"/>
                </a:solidFill>
                <a:latin typeface="Space Grotesk"/>
                <a:ea typeface="Space Grotesk"/>
                <a:cs typeface="Space Grotesk"/>
                <a:sym typeface="Space Grotesk"/>
              </a:rPr>
              <a:t>Workforce Metrics &amp; Health Score Dashboard</a:t>
            </a:r>
            <a:endParaRPr sz="2600" b="1">
              <a:solidFill>
                <a:srgbClr val="1A1A24"/>
              </a:solidFill>
              <a:latin typeface="Space Grotesk"/>
              <a:ea typeface="Space Grotesk"/>
              <a:cs typeface="Space Grotesk"/>
              <a:sym typeface="Space Grotesk"/>
            </a:endParaRPr>
          </a:p>
        </p:txBody>
      </p:sp>
      <p:grpSp>
        <p:nvGrpSpPr>
          <p:cNvPr id="209" name="Google Shape;209;p18"/>
          <p:cNvGrpSpPr/>
          <p:nvPr/>
        </p:nvGrpSpPr>
        <p:grpSpPr>
          <a:xfrm>
            <a:off x="381000" y="1143000"/>
            <a:ext cx="8439150" cy="1390650"/>
            <a:chOff x="381000" y="1143000"/>
            <a:chExt cx="8439150" cy="1390650"/>
          </a:xfrm>
        </p:grpSpPr>
        <p:grpSp>
          <p:nvGrpSpPr>
            <p:cNvPr id="210" name="Google Shape;210;p18"/>
            <p:cNvGrpSpPr/>
            <p:nvPr/>
          </p:nvGrpSpPr>
          <p:grpSpPr>
            <a:xfrm>
              <a:off x="381000" y="1143000"/>
              <a:ext cx="2724150" cy="1390650"/>
              <a:chOff x="0" y="0"/>
              <a:chExt cx="2724150" cy="1390650"/>
            </a:xfrm>
          </p:grpSpPr>
          <p:sp>
            <p:nvSpPr>
              <p:cNvPr id="211" name="Google Shape;211;p18"/>
              <p:cNvSpPr/>
              <p:nvPr/>
            </p:nvSpPr>
            <p:spPr>
              <a:xfrm>
                <a:off x="57150" y="57150"/>
                <a:ext cx="2667000" cy="1333500"/>
              </a:xfrm>
              <a:prstGeom prst="roundRect">
                <a:avLst>
                  <a:gd name="adj" fmla="val 8571"/>
                </a:avLst>
              </a:prstGeom>
              <a:solidFill>
                <a:srgbClr val="1A1A24"/>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12" name="Google Shape;212;p18"/>
              <p:cNvSpPr/>
              <p:nvPr/>
            </p:nvSpPr>
            <p:spPr>
              <a:xfrm>
                <a:off x="0" y="0"/>
                <a:ext cx="2667000" cy="1333500"/>
              </a:xfrm>
              <a:prstGeom prst="roundRect">
                <a:avLst>
                  <a:gd name="adj" fmla="val 8571"/>
                </a:avLst>
              </a:prstGeom>
              <a:solidFill>
                <a:srgbClr val="FFD93D"/>
              </a:solidFill>
              <a:ln w="28575" cap="flat" cmpd="sng">
                <a:solidFill>
                  <a:srgbClr val="1A1A24"/>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13" name="Google Shape;213;p18"/>
              <p:cNvSpPr txBox="1"/>
              <p:nvPr/>
            </p:nvSpPr>
            <p:spPr>
              <a:xfrm>
                <a:off x="190500" y="152400"/>
                <a:ext cx="2286000" cy="2286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1100" b="1">
                    <a:solidFill>
                      <a:srgbClr val="1A1A24"/>
                    </a:solidFill>
                    <a:latin typeface="Plus Jakarta Sans"/>
                    <a:ea typeface="Plus Jakarta Sans"/>
                    <a:cs typeface="Plus Jakarta Sans"/>
                    <a:sym typeface="Plus Jakarta Sans"/>
                  </a:rPr>
                  <a:t>Total Headcount</a:t>
                </a:r>
                <a:endParaRPr sz="1100" b="1">
                  <a:solidFill>
                    <a:srgbClr val="1A1A24"/>
                  </a:solidFill>
                  <a:latin typeface="Plus Jakarta Sans"/>
                  <a:ea typeface="Plus Jakarta Sans"/>
                  <a:cs typeface="Plus Jakarta Sans"/>
                  <a:sym typeface="Plus Jakarta Sans"/>
                </a:endParaRPr>
              </a:p>
            </p:txBody>
          </p:sp>
          <p:sp>
            <p:nvSpPr>
              <p:cNvPr id="214" name="Google Shape;214;p18"/>
              <p:cNvSpPr txBox="1"/>
              <p:nvPr/>
            </p:nvSpPr>
            <p:spPr>
              <a:xfrm>
                <a:off x="190500" y="400050"/>
                <a:ext cx="2286000" cy="523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3255" b="1">
                    <a:solidFill>
                      <a:srgbClr val="1A1A24"/>
                    </a:solidFill>
                    <a:latin typeface="Space Grotesk"/>
                    <a:ea typeface="Space Grotesk"/>
                    <a:cs typeface="Space Grotesk"/>
                    <a:sym typeface="Space Grotesk"/>
                  </a:rPr>
                  <a:t>1,470</a:t>
                </a:r>
                <a:endParaRPr sz="3255" b="1">
                  <a:solidFill>
                    <a:srgbClr val="1A1A24"/>
                  </a:solidFill>
                  <a:latin typeface="Space Grotesk"/>
                  <a:ea typeface="Space Grotesk"/>
                  <a:cs typeface="Space Grotesk"/>
                  <a:sym typeface="Space Grotesk"/>
                </a:endParaRPr>
              </a:p>
            </p:txBody>
          </p:sp>
          <p:sp>
            <p:nvSpPr>
              <p:cNvPr id="215" name="Google Shape;215;p18"/>
              <p:cNvSpPr txBox="1"/>
              <p:nvPr/>
            </p:nvSpPr>
            <p:spPr>
              <a:xfrm>
                <a:off x="190500" y="952500"/>
                <a:ext cx="2286000" cy="2382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1100" b="1">
                    <a:solidFill>
                      <a:srgbClr val="1A1A24"/>
                    </a:solidFill>
                    <a:latin typeface="Plus Jakarta Sans"/>
                    <a:ea typeface="Plus Jakarta Sans"/>
                    <a:cs typeface="Plus Jakarta Sans"/>
                    <a:sym typeface="Plus Jakarta Sans"/>
                  </a:rPr>
                  <a:t>1,182 Active Employees</a:t>
                </a:r>
                <a:endParaRPr sz="1100" b="1">
                  <a:solidFill>
                    <a:srgbClr val="1A1A24"/>
                  </a:solidFill>
                  <a:latin typeface="Plus Jakarta Sans"/>
                  <a:ea typeface="Plus Jakarta Sans"/>
                  <a:cs typeface="Plus Jakarta Sans"/>
                  <a:sym typeface="Plus Jakarta Sans"/>
                </a:endParaRPr>
              </a:p>
            </p:txBody>
          </p:sp>
        </p:grpSp>
        <p:grpSp>
          <p:nvGrpSpPr>
            <p:cNvPr id="216" name="Google Shape;216;p18"/>
            <p:cNvGrpSpPr/>
            <p:nvPr/>
          </p:nvGrpSpPr>
          <p:grpSpPr>
            <a:xfrm>
              <a:off x="3238500" y="1143000"/>
              <a:ext cx="2724150" cy="1390650"/>
              <a:chOff x="0" y="0"/>
              <a:chExt cx="2724150" cy="1390650"/>
            </a:xfrm>
          </p:grpSpPr>
          <p:sp>
            <p:nvSpPr>
              <p:cNvPr id="217" name="Google Shape;217;p18"/>
              <p:cNvSpPr/>
              <p:nvPr/>
            </p:nvSpPr>
            <p:spPr>
              <a:xfrm>
                <a:off x="57150" y="57150"/>
                <a:ext cx="2667000" cy="1333500"/>
              </a:xfrm>
              <a:prstGeom prst="roundRect">
                <a:avLst>
                  <a:gd name="adj" fmla="val 8571"/>
                </a:avLst>
              </a:prstGeom>
              <a:solidFill>
                <a:srgbClr val="1A1A24"/>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18" name="Google Shape;218;p18"/>
              <p:cNvSpPr/>
              <p:nvPr/>
            </p:nvSpPr>
            <p:spPr>
              <a:xfrm>
                <a:off x="0" y="0"/>
                <a:ext cx="2667000" cy="1333500"/>
              </a:xfrm>
              <a:prstGeom prst="roundRect">
                <a:avLst>
                  <a:gd name="adj" fmla="val 8571"/>
                </a:avLst>
              </a:prstGeom>
              <a:solidFill>
                <a:srgbClr val="4ECDC4"/>
              </a:solidFill>
              <a:ln w="28575" cap="flat" cmpd="sng">
                <a:solidFill>
                  <a:srgbClr val="1A1A24"/>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19" name="Google Shape;219;p18"/>
              <p:cNvSpPr txBox="1"/>
              <p:nvPr/>
            </p:nvSpPr>
            <p:spPr>
              <a:xfrm>
                <a:off x="190500" y="152400"/>
                <a:ext cx="2286000" cy="2286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1100" b="1">
                    <a:solidFill>
                      <a:srgbClr val="1A1A24"/>
                    </a:solidFill>
                    <a:latin typeface="Plus Jakarta Sans"/>
                    <a:ea typeface="Plus Jakarta Sans"/>
                    <a:cs typeface="Plus Jakarta Sans"/>
                    <a:sym typeface="Plus Jakarta Sans"/>
                  </a:rPr>
                  <a:t>Workforce Health Score</a:t>
                </a:r>
                <a:endParaRPr sz="1100" b="1">
                  <a:solidFill>
                    <a:srgbClr val="1A1A24"/>
                  </a:solidFill>
                  <a:latin typeface="Plus Jakarta Sans"/>
                  <a:ea typeface="Plus Jakarta Sans"/>
                  <a:cs typeface="Plus Jakarta Sans"/>
                  <a:sym typeface="Plus Jakarta Sans"/>
                </a:endParaRPr>
              </a:p>
            </p:txBody>
          </p:sp>
          <p:sp>
            <p:nvSpPr>
              <p:cNvPr id="220" name="Google Shape;220;p18"/>
              <p:cNvSpPr txBox="1"/>
              <p:nvPr/>
            </p:nvSpPr>
            <p:spPr>
              <a:xfrm>
                <a:off x="190500" y="400050"/>
                <a:ext cx="2286000" cy="523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3255" b="1">
                    <a:solidFill>
                      <a:srgbClr val="1A1A24"/>
                    </a:solidFill>
                    <a:latin typeface="Space Grotesk"/>
                    <a:ea typeface="Space Grotesk"/>
                    <a:cs typeface="Space Grotesk"/>
                    <a:sym typeface="Space Grotesk"/>
                  </a:rPr>
                  <a:t>74.2</a:t>
                </a:r>
                <a:endParaRPr sz="3255" b="1">
                  <a:solidFill>
                    <a:srgbClr val="1A1A24"/>
                  </a:solidFill>
                  <a:latin typeface="Space Grotesk"/>
                  <a:ea typeface="Space Grotesk"/>
                  <a:cs typeface="Space Grotesk"/>
                  <a:sym typeface="Space Grotesk"/>
                </a:endParaRPr>
              </a:p>
            </p:txBody>
          </p:sp>
          <p:sp>
            <p:nvSpPr>
              <p:cNvPr id="221" name="Google Shape;221;p18"/>
              <p:cNvSpPr txBox="1"/>
              <p:nvPr/>
            </p:nvSpPr>
            <p:spPr>
              <a:xfrm>
                <a:off x="190500" y="952500"/>
                <a:ext cx="2286000" cy="2382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1100" b="1">
                    <a:solidFill>
                      <a:srgbClr val="1A1A24"/>
                    </a:solidFill>
                    <a:latin typeface="Plus Jakarta Sans"/>
                    <a:ea typeface="Plus Jakarta Sans"/>
                    <a:cs typeface="Plus Jakarta Sans"/>
                    <a:sym typeface="Plus Jakarta Sans"/>
                  </a:rPr>
                  <a:t>Out of 100 Overall Rating</a:t>
                </a:r>
                <a:endParaRPr sz="1100" b="1">
                  <a:solidFill>
                    <a:srgbClr val="1A1A24"/>
                  </a:solidFill>
                  <a:latin typeface="Plus Jakarta Sans"/>
                  <a:ea typeface="Plus Jakarta Sans"/>
                  <a:cs typeface="Plus Jakarta Sans"/>
                  <a:sym typeface="Plus Jakarta Sans"/>
                </a:endParaRPr>
              </a:p>
            </p:txBody>
          </p:sp>
        </p:grpSp>
        <p:grpSp>
          <p:nvGrpSpPr>
            <p:cNvPr id="222" name="Google Shape;222;p18"/>
            <p:cNvGrpSpPr/>
            <p:nvPr/>
          </p:nvGrpSpPr>
          <p:grpSpPr>
            <a:xfrm>
              <a:off x="6096000" y="1143000"/>
              <a:ext cx="2724150" cy="1390650"/>
              <a:chOff x="0" y="0"/>
              <a:chExt cx="2724150" cy="1390650"/>
            </a:xfrm>
          </p:grpSpPr>
          <p:sp>
            <p:nvSpPr>
              <p:cNvPr id="223" name="Google Shape;223;p18"/>
              <p:cNvSpPr/>
              <p:nvPr/>
            </p:nvSpPr>
            <p:spPr>
              <a:xfrm>
                <a:off x="57150" y="57150"/>
                <a:ext cx="2667000" cy="1333500"/>
              </a:xfrm>
              <a:prstGeom prst="roundRect">
                <a:avLst>
                  <a:gd name="adj" fmla="val 8571"/>
                </a:avLst>
              </a:prstGeom>
              <a:solidFill>
                <a:srgbClr val="1A1A24"/>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24" name="Google Shape;224;p18"/>
              <p:cNvSpPr/>
              <p:nvPr/>
            </p:nvSpPr>
            <p:spPr>
              <a:xfrm>
                <a:off x="0" y="0"/>
                <a:ext cx="2667000" cy="1333500"/>
              </a:xfrm>
              <a:prstGeom prst="roundRect">
                <a:avLst>
                  <a:gd name="adj" fmla="val 8571"/>
                </a:avLst>
              </a:prstGeom>
              <a:solidFill>
                <a:srgbClr val="C8B6FF"/>
              </a:solidFill>
              <a:ln w="28575" cap="flat" cmpd="sng">
                <a:solidFill>
                  <a:srgbClr val="1A1A24"/>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25" name="Google Shape;225;p18"/>
              <p:cNvSpPr txBox="1"/>
              <p:nvPr/>
            </p:nvSpPr>
            <p:spPr>
              <a:xfrm>
                <a:off x="190500" y="152400"/>
                <a:ext cx="2286000" cy="2286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1100" b="1">
                    <a:solidFill>
                      <a:srgbClr val="1A1A24"/>
                    </a:solidFill>
                    <a:latin typeface="Plus Jakarta Sans"/>
                    <a:ea typeface="Plus Jakarta Sans"/>
                    <a:cs typeface="Plus Jakarta Sans"/>
                    <a:sym typeface="Plus Jakarta Sans"/>
                  </a:rPr>
                  <a:t>Attrition Rate</a:t>
                </a:r>
                <a:endParaRPr sz="1100" b="1">
                  <a:solidFill>
                    <a:srgbClr val="1A1A24"/>
                  </a:solidFill>
                  <a:latin typeface="Plus Jakarta Sans"/>
                  <a:ea typeface="Plus Jakarta Sans"/>
                  <a:cs typeface="Plus Jakarta Sans"/>
                  <a:sym typeface="Plus Jakarta Sans"/>
                </a:endParaRPr>
              </a:p>
            </p:txBody>
          </p:sp>
          <p:sp>
            <p:nvSpPr>
              <p:cNvPr id="226" name="Google Shape;226;p18"/>
              <p:cNvSpPr txBox="1"/>
              <p:nvPr/>
            </p:nvSpPr>
            <p:spPr>
              <a:xfrm>
                <a:off x="190500" y="400050"/>
                <a:ext cx="2286000" cy="523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3255" b="1">
                    <a:solidFill>
                      <a:srgbClr val="1A1A24"/>
                    </a:solidFill>
                    <a:latin typeface="Space Grotesk"/>
                    <a:ea typeface="Space Grotesk"/>
                    <a:cs typeface="Space Grotesk"/>
                    <a:sym typeface="Space Grotesk"/>
                  </a:rPr>
                  <a:t>19.6%</a:t>
                </a:r>
                <a:endParaRPr sz="3255" b="1">
                  <a:solidFill>
                    <a:srgbClr val="1A1A24"/>
                  </a:solidFill>
                  <a:latin typeface="Space Grotesk"/>
                  <a:ea typeface="Space Grotesk"/>
                  <a:cs typeface="Space Grotesk"/>
                  <a:sym typeface="Space Grotesk"/>
                </a:endParaRPr>
              </a:p>
            </p:txBody>
          </p:sp>
          <p:sp>
            <p:nvSpPr>
              <p:cNvPr id="227" name="Google Shape;227;p18"/>
              <p:cNvSpPr txBox="1"/>
              <p:nvPr/>
            </p:nvSpPr>
            <p:spPr>
              <a:xfrm>
                <a:off x="190500" y="952500"/>
                <a:ext cx="2286000" cy="2382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1100" b="1">
                    <a:solidFill>
                      <a:srgbClr val="1A1A24"/>
                    </a:solidFill>
                    <a:latin typeface="Plus Jakarta Sans"/>
                    <a:ea typeface="Plus Jakarta Sans"/>
                    <a:cs typeface="Plus Jakarta Sans"/>
                    <a:sym typeface="Plus Jakarta Sans"/>
                  </a:rPr>
                  <a:t>Current Annual Benchmark</a:t>
                </a:r>
                <a:endParaRPr sz="1100" b="1">
                  <a:solidFill>
                    <a:srgbClr val="1A1A24"/>
                  </a:solidFill>
                  <a:latin typeface="Plus Jakarta Sans"/>
                  <a:ea typeface="Plus Jakarta Sans"/>
                  <a:cs typeface="Plus Jakarta Sans"/>
                  <a:sym typeface="Plus Jakarta Sans"/>
                </a:endParaRPr>
              </a:p>
            </p:txBody>
          </p:sp>
        </p:grpSp>
      </p:grpSp>
      <p:grpSp>
        <p:nvGrpSpPr>
          <p:cNvPr id="228" name="Google Shape;228;p18"/>
          <p:cNvGrpSpPr/>
          <p:nvPr/>
        </p:nvGrpSpPr>
        <p:grpSpPr>
          <a:xfrm>
            <a:off x="381000" y="2714625"/>
            <a:ext cx="8439225" cy="2104950"/>
            <a:chOff x="381000" y="2714625"/>
            <a:chExt cx="8439225" cy="2104950"/>
          </a:xfrm>
        </p:grpSpPr>
        <p:grpSp>
          <p:nvGrpSpPr>
            <p:cNvPr id="229" name="Google Shape;229;p18"/>
            <p:cNvGrpSpPr/>
            <p:nvPr/>
          </p:nvGrpSpPr>
          <p:grpSpPr>
            <a:xfrm>
              <a:off x="381000" y="2714625"/>
              <a:ext cx="4105350" cy="2104950"/>
              <a:chOff x="0" y="0"/>
              <a:chExt cx="4105350" cy="2104950"/>
            </a:xfrm>
          </p:grpSpPr>
          <p:sp>
            <p:nvSpPr>
              <p:cNvPr id="230" name="Google Shape;230;p18"/>
              <p:cNvSpPr/>
              <p:nvPr/>
            </p:nvSpPr>
            <p:spPr>
              <a:xfrm>
                <a:off x="57150" y="57150"/>
                <a:ext cx="4048200" cy="2047800"/>
              </a:xfrm>
              <a:prstGeom prst="roundRect">
                <a:avLst>
                  <a:gd name="adj" fmla="val 5581"/>
                </a:avLst>
              </a:prstGeom>
              <a:solidFill>
                <a:srgbClr val="1A1A24"/>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31" name="Google Shape;231;p18"/>
              <p:cNvSpPr/>
              <p:nvPr/>
            </p:nvSpPr>
            <p:spPr>
              <a:xfrm>
                <a:off x="0" y="0"/>
                <a:ext cx="4048200" cy="2047800"/>
              </a:xfrm>
              <a:prstGeom prst="roundRect">
                <a:avLst>
                  <a:gd name="adj" fmla="val 5581"/>
                </a:avLst>
              </a:prstGeom>
              <a:solidFill>
                <a:srgbClr val="FFFFFF"/>
              </a:solidFill>
              <a:ln w="28575" cap="flat" cmpd="sng">
                <a:solidFill>
                  <a:srgbClr val="1A1A24"/>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32" name="Google Shape;232;p18"/>
              <p:cNvSpPr/>
              <p:nvPr/>
            </p:nvSpPr>
            <p:spPr>
              <a:xfrm>
                <a:off x="0" y="0"/>
                <a:ext cx="4048200" cy="400200"/>
              </a:xfrm>
              <a:prstGeom prst="roundRect">
                <a:avLst>
                  <a:gd name="adj" fmla="val 28571"/>
                </a:avLst>
              </a:prstGeom>
              <a:solidFill>
                <a:srgbClr val="FF6B6B"/>
              </a:solidFill>
              <a:ln w="28575" cap="flat" cmpd="sng">
                <a:solidFill>
                  <a:srgbClr val="1A1A24"/>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33" name="Google Shape;233;p18"/>
              <p:cNvSpPr/>
              <p:nvPr/>
            </p:nvSpPr>
            <p:spPr>
              <a:xfrm>
                <a:off x="0" y="238125"/>
                <a:ext cx="4048200" cy="162000"/>
              </a:xfrm>
              <a:prstGeom prst="rect">
                <a:avLst/>
              </a:prstGeom>
              <a:solidFill>
                <a:srgbClr val="FF6B6B"/>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cxnSp>
            <p:nvCxnSpPr>
              <p:cNvPr id="234" name="Google Shape;234;p18"/>
              <p:cNvCxnSpPr/>
              <p:nvPr/>
            </p:nvCxnSpPr>
            <p:spPr>
              <a:xfrm>
                <a:off x="0" y="400050"/>
                <a:ext cx="4048200" cy="0"/>
              </a:xfrm>
              <a:prstGeom prst="straightConnector1">
                <a:avLst/>
              </a:prstGeom>
              <a:solidFill>
                <a:srgbClr val="FFFFFF"/>
              </a:solidFill>
              <a:ln w="28575" cap="flat" cmpd="sng">
                <a:solidFill>
                  <a:srgbClr val="1A1A24"/>
                </a:solidFill>
                <a:prstDash val="solid"/>
                <a:round/>
                <a:headEnd type="none" w="sm" len="sm"/>
                <a:tailEnd type="none" w="sm" len="sm"/>
              </a:ln>
            </p:spPr>
          </p:cxnSp>
          <p:sp>
            <p:nvSpPr>
              <p:cNvPr id="235" name="Google Shape;235;p18"/>
              <p:cNvSpPr txBox="1"/>
              <p:nvPr/>
            </p:nvSpPr>
            <p:spPr>
              <a:xfrm>
                <a:off x="190500" y="95250"/>
                <a:ext cx="3667200" cy="247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1300" b="1">
                    <a:solidFill>
                      <a:srgbClr val="FFFFFF"/>
                    </a:solidFill>
                    <a:latin typeface="Space Grotesk"/>
                    <a:ea typeface="Space Grotesk"/>
                    <a:cs typeface="Space Grotesk"/>
                    <a:sym typeface="Space Grotesk"/>
                  </a:rPr>
                  <a:t>TENURE &amp; PERFORMANCE PROFILE</a:t>
                </a:r>
                <a:endParaRPr sz="1300" b="1">
                  <a:solidFill>
                    <a:srgbClr val="FFFFFF"/>
                  </a:solidFill>
                  <a:latin typeface="Space Grotesk"/>
                  <a:ea typeface="Space Grotesk"/>
                  <a:cs typeface="Space Grotesk"/>
                  <a:sym typeface="Space Grotesk"/>
                </a:endParaRPr>
              </a:p>
            </p:txBody>
          </p:sp>
          <p:sp>
            <p:nvSpPr>
              <p:cNvPr id="236" name="Google Shape;236;p18"/>
              <p:cNvSpPr txBox="1"/>
              <p:nvPr/>
            </p:nvSpPr>
            <p:spPr>
              <a:xfrm>
                <a:off x="228600" y="533400"/>
                <a:ext cx="3591000" cy="13812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1300" b="1">
                    <a:solidFill>
                      <a:srgbClr val="1A1A24"/>
                    </a:solidFill>
                    <a:latin typeface="Plus Jakarta Sans"/>
                    <a:ea typeface="Plus Jakarta Sans"/>
                    <a:cs typeface="Plus Jakarta Sans"/>
                    <a:sym typeface="Plus Jakarta Sans"/>
                  </a:rPr>
                  <a:t>Active Headcount:</a:t>
                </a:r>
                <a:r>
                  <a:rPr lang="en" sz="1300" b="0">
                    <a:solidFill>
                      <a:srgbClr val="4A4A5A"/>
                    </a:solidFill>
                    <a:latin typeface="Plus Jakarta Sans"/>
                    <a:ea typeface="Plus Jakarta Sans"/>
                    <a:cs typeface="Plus Jakarta Sans"/>
                    <a:sym typeface="Plus Jakarta Sans"/>
                  </a:rPr>
                  <a:t> 1,182 employees actively engaged</a:t>
                </a:r>
                <a:endParaRPr sz="1300" b="0">
                  <a:solidFill>
                    <a:srgbClr val="4A4A5A"/>
                  </a:solidFill>
                  <a:latin typeface="Plus Jakarta Sans"/>
                  <a:ea typeface="Plus Jakarta Sans"/>
                  <a:cs typeface="Plus Jakarta Sans"/>
                  <a:sym typeface="Plus Jakarta Sans"/>
                </a:endParaRPr>
              </a:p>
              <a:p>
                <a:pPr marL="0" lvl="0" indent="0" algn="l" rtl="0">
                  <a:spcBef>
                    <a:spcPts val="600"/>
                  </a:spcBef>
                  <a:spcAft>
                    <a:spcPts val="0"/>
                  </a:spcAft>
                  <a:buNone/>
                </a:pPr>
                <a:r>
                  <a:rPr lang="en" sz="1300" b="1">
                    <a:solidFill>
                      <a:srgbClr val="1A1A24"/>
                    </a:solidFill>
                    <a:latin typeface="Plus Jakarta Sans"/>
                    <a:ea typeface="Plus Jakarta Sans"/>
                    <a:cs typeface="Plus Jakarta Sans"/>
                    <a:sym typeface="Plus Jakarta Sans"/>
                  </a:rPr>
                  <a:t>Average Tenure:</a:t>
                </a:r>
                <a:r>
                  <a:rPr lang="en" sz="1300" b="0">
                    <a:solidFill>
                      <a:srgbClr val="4A4A5A"/>
                    </a:solidFill>
                    <a:latin typeface="Plus Jakarta Sans"/>
                    <a:ea typeface="Plus Jakarta Sans"/>
                    <a:cs typeface="Plus Jakarta Sans"/>
                    <a:sym typeface="Plus Jakarta Sans"/>
                  </a:rPr>
                  <a:t> 6.8 years across total workforce</a:t>
                </a:r>
                <a:endParaRPr sz="1300" b="0">
                  <a:solidFill>
                    <a:srgbClr val="4A4A5A"/>
                  </a:solidFill>
                  <a:latin typeface="Plus Jakarta Sans"/>
                  <a:ea typeface="Plus Jakarta Sans"/>
                  <a:cs typeface="Plus Jakarta Sans"/>
                  <a:sym typeface="Plus Jakarta Sans"/>
                </a:endParaRPr>
              </a:p>
              <a:p>
                <a:pPr marL="0" lvl="0" indent="0" algn="l" rtl="0">
                  <a:spcBef>
                    <a:spcPts val="600"/>
                  </a:spcBef>
                  <a:spcAft>
                    <a:spcPts val="0"/>
                  </a:spcAft>
                  <a:buNone/>
                </a:pPr>
                <a:r>
                  <a:rPr lang="en" sz="1300" b="1">
                    <a:solidFill>
                      <a:srgbClr val="1A1A24"/>
                    </a:solidFill>
                    <a:latin typeface="Plus Jakarta Sans"/>
                    <a:ea typeface="Plus Jakarta Sans"/>
                    <a:cs typeface="Plus Jakarta Sans"/>
                    <a:sym typeface="Plus Jakarta Sans"/>
                  </a:rPr>
                  <a:t>Performance Rating:</a:t>
                </a:r>
                <a:r>
                  <a:rPr lang="en" sz="1300" b="0">
                    <a:solidFill>
                      <a:srgbClr val="4A4A5A"/>
                    </a:solidFill>
                    <a:latin typeface="Plus Jakarta Sans"/>
                    <a:ea typeface="Plus Jakarta Sans"/>
                    <a:cs typeface="Plus Jakarta Sans"/>
                    <a:sym typeface="Plus Jakarta Sans"/>
                  </a:rPr>
                  <a:t> 3.2 / 5 average score maintained</a:t>
                </a:r>
                <a:endParaRPr sz="1300" b="0">
                  <a:solidFill>
                    <a:srgbClr val="4A4A5A"/>
                  </a:solidFill>
                  <a:latin typeface="Plus Jakarta Sans"/>
                  <a:ea typeface="Plus Jakarta Sans"/>
                  <a:cs typeface="Plus Jakarta Sans"/>
                  <a:sym typeface="Plus Jakarta Sans"/>
                </a:endParaRPr>
              </a:p>
            </p:txBody>
          </p:sp>
        </p:grpSp>
        <p:grpSp>
          <p:nvGrpSpPr>
            <p:cNvPr id="237" name="Google Shape;237;p18"/>
            <p:cNvGrpSpPr/>
            <p:nvPr/>
          </p:nvGrpSpPr>
          <p:grpSpPr>
            <a:xfrm>
              <a:off x="4714875" y="2714625"/>
              <a:ext cx="4105350" cy="2104950"/>
              <a:chOff x="0" y="0"/>
              <a:chExt cx="4105350" cy="2104950"/>
            </a:xfrm>
          </p:grpSpPr>
          <p:sp>
            <p:nvSpPr>
              <p:cNvPr id="238" name="Google Shape;238;p18"/>
              <p:cNvSpPr/>
              <p:nvPr/>
            </p:nvSpPr>
            <p:spPr>
              <a:xfrm>
                <a:off x="57150" y="57150"/>
                <a:ext cx="4048200" cy="2047800"/>
              </a:xfrm>
              <a:prstGeom prst="roundRect">
                <a:avLst>
                  <a:gd name="adj" fmla="val 5581"/>
                </a:avLst>
              </a:prstGeom>
              <a:solidFill>
                <a:srgbClr val="1A1A24"/>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39" name="Google Shape;239;p18"/>
              <p:cNvSpPr/>
              <p:nvPr/>
            </p:nvSpPr>
            <p:spPr>
              <a:xfrm>
                <a:off x="0" y="0"/>
                <a:ext cx="4048200" cy="2047800"/>
              </a:xfrm>
              <a:prstGeom prst="roundRect">
                <a:avLst>
                  <a:gd name="adj" fmla="val 5581"/>
                </a:avLst>
              </a:prstGeom>
              <a:solidFill>
                <a:srgbClr val="FFFFFF"/>
              </a:solidFill>
              <a:ln w="28575" cap="flat" cmpd="sng">
                <a:solidFill>
                  <a:srgbClr val="1A1A24"/>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40" name="Google Shape;240;p18"/>
              <p:cNvSpPr/>
              <p:nvPr/>
            </p:nvSpPr>
            <p:spPr>
              <a:xfrm>
                <a:off x="0" y="0"/>
                <a:ext cx="4048200" cy="400200"/>
              </a:xfrm>
              <a:prstGeom prst="roundRect">
                <a:avLst>
                  <a:gd name="adj" fmla="val 28571"/>
                </a:avLst>
              </a:prstGeom>
              <a:solidFill>
                <a:srgbClr val="4ECDC4"/>
              </a:solidFill>
              <a:ln w="28575" cap="flat" cmpd="sng">
                <a:solidFill>
                  <a:srgbClr val="1A1A24"/>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41" name="Google Shape;241;p18"/>
              <p:cNvSpPr/>
              <p:nvPr/>
            </p:nvSpPr>
            <p:spPr>
              <a:xfrm>
                <a:off x="0" y="238125"/>
                <a:ext cx="4048200" cy="162000"/>
              </a:xfrm>
              <a:prstGeom prst="rect">
                <a:avLst/>
              </a:prstGeom>
              <a:solidFill>
                <a:srgbClr val="4ECDC4"/>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cxnSp>
            <p:nvCxnSpPr>
              <p:cNvPr id="242" name="Google Shape;242;p18"/>
              <p:cNvCxnSpPr/>
              <p:nvPr/>
            </p:nvCxnSpPr>
            <p:spPr>
              <a:xfrm>
                <a:off x="0" y="400050"/>
                <a:ext cx="4048200" cy="0"/>
              </a:xfrm>
              <a:prstGeom prst="straightConnector1">
                <a:avLst/>
              </a:prstGeom>
              <a:solidFill>
                <a:srgbClr val="FFFFFF"/>
              </a:solidFill>
              <a:ln w="28575" cap="flat" cmpd="sng">
                <a:solidFill>
                  <a:srgbClr val="1A1A24"/>
                </a:solidFill>
                <a:prstDash val="solid"/>
                <a:round/>
                <a:headEnd type="none" w="sm" len="sm"/>
                <a:tailEnd type="none" w="sm" len="sm"/>
              </a:ln>
            </p:spPr>
          </p:cxnSp>
          <p:sp>
            <p:nvSpPr>
              <p:cNvPr id="243" name="Google Shape;243;p18"/>
              <p:cNvSpPr txBox="1"/>
              <p:nvPr/>
            </p:nvSpPr>
            <p:spPr>
              <a:xfrm>
                <a:off x="190500" y="95250"/>
                <a:ext cx="3667200" cy="247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1300" b="1">
                    <a:solidFill>
                      <a:srgbClr val="1A1A24"/>
                    </a:solidFill>
                    <a:latin typeface="Space Grotesk"/>
                    <a:ea typeface="Space Grotesk"/>
                    <a:cs typeface="Space Grotesk"/>
                    <a:sym typeface="Space Grotesk"/>
                  </a:rPr>
                  <a:t>MOBILITY &amp; ATTENDANCE METRICS</a:t>
                </a:r>
                <a:endParaRPr sz="1300" b="1">
                  <a:solidFill>
                    <a:srgbClr val="1A1A24"/>
                  </a:solidFill>
                  <a:latin typeface="Space Grotesk"/>
                  <a:ea typeface="Space Grotesk"/>
                  <a:cs typeface="Space Grotesk"/>
                  <a:sym typeface="Space Grotesk"/>
                </a:endParaRPr>
              </a:p>
            </p:txBody>
          </p:sp>
          <p:sp>
            <p:nvSpPr>
              <p:cNvPr id="244" name="Google Shape;244;p18"/>
              <p:cNvSpPr txBox="1"/>
              <p:nvPr/>
            </p:nvSpPr>
            <p:spPr>
              <a:xfrm>
                <a:off x="228600" y="533400"/>
                <a:ext cx="3591000" cy="13812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1300" b="1">
                    <a:solidFill>
                      <a:srgbClr val="1A1A24"/>
                    </a:solidFill>
                    <a:latin typeface="Plus Jakarta Sans"/>
                    <a:ea typeface="Plus Jakarta Sans"/>
                    <a:cs typeface="Plus Jakarta Sans"/>
                    <a:sym typeface="Plus Jakarta Sans"/>
                  </a:rPr>
                  <a:t>Promotion Rate:</a:t>
                </a:r>
                <a:r>
                  <a:rPr lang="en" sz="1300" b="0">
                    <a:solidFill>
                      <a:srgbClr val="4A4A5A"/>
                    </a:solidFill>
                    <a:latin typeface="Plus Jakarta Sans"/>
                    <a:ea typeface="Plus Jakarta Sans"/>
                    <a:cs typeface="Plus Jakarta Sans"/>
                    <a:sym typeface="Plus Jakarta Sans"/>
                  </a:rPr>
                  <a:t> 8.7% internal advancement rate</a:t>
                </a:r>
                <a:endParaRPr sz="1300" b="0">
                  <a:solidFill>
                    <a:srgbClr val="4A4A5A"/>
                  </a:solidFill>
                  <a:latin typeface="Plus Jakarta Sans"/>
                  <a:ea typeface="Plus Jakarta Sans"/>
                  <a:cs typeface="Plus Jakarta Sans"/>
                  <a:sym typeface="Plus Jakarta Sans"/>
                </a:endParaRPr>
              </a:p>
              <a:p>
                <a:pPr marL="0" lvl="0" indent="0" algn="l" rtl="0">
                  <a:spcBef>
                    <a:spcPts val="600"/>
                  </a:spcBef>
                  <a:spcAft>
                    <a:spcPts val="0"/>
                  </a:spcAft>
                  <a:buNone/>
                </a:pPr>
                <a:r>
                  <a:rPr lang="en" sz="1300" b="1">
                    <a:solidFill>
                      <a:srgbClr val="1A1A24"/>
                    </a:solidFill>
                    <a:latin typeface="Plus Jakarta Sans"/>
                    <a:ea typeface="Plus Jakarta Sans"/>
                    <a:cs typeface="Plus Jakarta Sans"/>
                    <a:sym typeface="Plus Jakarta Sans"/>
                  </a:rPr>
                  <a:t>Overall Attendance:</a:t>
                </a:r>
                <a:r>
                  <a:rPr lang="en" sz="1300" b="0">
                    <a:solidFill>
                      <a:srgbClr val="4A4A5A"/>
                    </a:solidFill>
                    <a:latin typeface="Plus Jakarta Sans"/>
                    <a:ea typeface="Plus Jakarta Sans"/>
                    <a:cs typeface="Plus Jakarta Sans"/>
                    <a:sym typeface="Plus Jakarta Sans"/>
                  </a:rPr>
                  <a:t> 94.2% high sustained attendance</a:t>
                </a:r>
                <a:endParaRPr sz="1300" b="0">
                  <a:solidFill>
                    <a:srgbClr val="4A4A5A"/>
                  </a:solidFill>
                  <a:latin typeface="Plus Jakarta Sans"/>
                  <a:ea typeface="Plus Jakarta Sans"/>
                  <a:cs typeface="Plus Jakarta Sans"/>
                  <a:sym typeface="Plus Jakarta Sans"/>
                </a:endParaRPr>
              </a:p>
              <a:p>
                <a:pPr marL="0" lvl="0" indent="0" algn="l" rtl="0">
                  <a:spcBef>
                    <a:spcPts val="600"/>
                  </a:spcBef>
                  <a:spcAft>
                    <a:spcPts val="0"/>
                  </a:spcAft>
                  <a:buNone/>
                </a:pPr>
                <a:r>
                  <a:rPr lang="en" sz="1300" b="1">
                    <a:solidFill>
                      <a:srgbClr val="1A1A24"/>
                    </a:solidFill>
                    <a:latin typeface="Plus Jakarta Sans"/>
                    <a:ea typeface="Plus Jakarta Sans"/>
                    <a:cs typeface="Plus Jakarta Sans"/>
                    <a:sym typeface="Plus Jakarta Sans"/>
                  </a:rPr>
                  <a:t>Average Leave:</a:t>
                </a:r>
                <a:r>
                  <a:rPr lang="en" sz="1300" b="0">
                    <a:solidFill>
                      <a:srgbClr val="4A4A5A"/>
                    </a:solidFill>
                    <a:latin typeface="Plus Jakarta Sans"/>
                    <a:ea typeface="Plus Jakarta Sans"/>
                    <a:cs typeface="Plus Jakarta Sans"/>
                    <a:sym typeface="Plus Jakarta Sans"/>
                  </a:rPr>
                  <a:t> 8.5 days utilized per employee</a:t>
                </a:r>
                <a:endParaRPr sz="1300" b="0">
                  <a:solidFill>
                    <a:srgbClr val="4A4A5A"/>
                  </a:solidFill>
                  <a:latin typeface="Plus Jakarta Sans"/>
                  <a:ea typeface="Plus Jakarta Sans"/>
                  <a:cs typeface="Plus Jakarta Sans"/>
                  <a:sym typeface="Plus Jakarta Sans"/>
                </a:endParaRPr>
              </a:p>
            </p:txBody>
          </p:sp>
        </p:grpSp>
      </p:grpSp>
    </p:spTree>
  </p:cSld>
  <p:clrMapOvr>
    <a:masterClrMapping/>
  </p:clrMapOvr>
  <mc:AlternateContent xmlns:mc="http://schemas.openxmlformats.org/markup-compatibility/2006">
    <mc:Choice xmlns:p14="http://schemas.microsoft.com/office/powerpoint/2010/main" Requires="p14">
      <p:transition spd="slow" p14:dur="2500">
        <p14:flash/>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grpSp>
        <p:nvGrpSpPr>
          <p:cNvPr id="249" name="Google Shape;249;p19"/>
          <p:cNvGrpSpPr/>
          <p:nvPr/>
        </p:nvGrpSpPr>
        <p:grpSpPr>
          <a:xfrm>
            <a:off x="0" y="0"/>
            <a:ext cx="9144000" cy="5143500"/>
            <a:chOff x="0" y="0"/>
            <a:chExt cx="9144000" cy="5143500"/>
          </a:xfrm>
        </p:grpSpPr>
        <p:sp>
          <p:nvSpPr>
            <p:cNvPr id="250" name="Google Shape;250;p19"/>
            <p:cNvSpPr/>
            <p:nvPr/>
          </p:nvSpPr>
          <p:spPr>
            <a:xfrm>
              <a:off x="0" y="0"/>
              <a:ext cx="9144000" cy="5143500"/>
            </a:xfrm>
            <a:prstGeom prst="rect">
              <a:avLst/>
            </a:prstGeom>
            <a:solidFill>
              <a:srgbClr val="F4F4F0"/>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pic>
          <p:nvPicPr>
            <p:cNvPr id="251" name="Google Shape;251;p19"/>
            <p:cNvPicPr preferRelativeResize="0"/>
            <p:nvPr/>
          </p:nvPicPr>
          <p:blipFill rotWithShape="1">
            <a:blip r:embed="rId3">
              <a:alphaModFix/>
            </a:blip>
            <a:srcRect/>
            <a:stretch/>
          </p:blipFill>
          <p:spPr>
            <a:xfrm>
              <a:off x="4763" y="4763"/>
              <a:ext cx="8982000" cy="4981500"/>
            </a:xfrm>
            <a:prstGeom prst="rect">
              <a:avLst/>
            </a:prstGeom>
            <a:noFill/>
            <a:ln>
              <a:noFill/>
            </a:ln>
          </p:spPr>
        </p:pic>
        <p:grpSp>
          <p:nvGrpSpPr>
            <p:cNvPr id="252" name="Google Shape;252;p19"/>
            <p:cNvGrpSpPr/>
            <p:nvPr/>
          </p:nvGrpSpPr>
          <p:grpSpPr>
            <a:xfrm>
              <a:off x="381000" y="238125"/>
              <a:ext cx="419100" cy="419100"/>
              <a:chOff x="0" y="0"/>
              <a:chExt cx="419100" cy="419100"/>
            </a:xfrm>
          </p:grpSpPr>
          <p:sp>
            <p:nvSpPr>
              <p:cNvPr id="253" name="Google Shape;253;p19"/>
              <p:cNvSpPr/>
              <p:nvPr/>
            </p:nvSpPr>
            <p:spPr>
              <a:xfrm>
                <a:off x="38100" y="38100"/>
                <a:ext cx="381000" cy="381000"/>
              </a:xfrm>
              <a:prstGeom prst="roundRect">
                <a:avLst>
                  <a:gd name="adj" fmla="val 20000"/>
                </a:avLst>
              </a:prstGeom>
              <a:solidFill>
                <a:srgbClr val="1A1A24"/>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54" name="Google Shape;254;p19"/>
              <p:cNvSpPr/>
              <p:nvPr/>
            </p:nvSpPr>
            <p:spPr>
              <a:xfrm>
                <a:off x="0" y="0"/>
                <a:ext cx="381000" cy="381000"/>
              </a:xfrm>
              <a:prstGeom prst="roundRect">
                <a:avLst>
                  <a:gd name="adj" fmla="val 20000"/>
                </a:avLst>
              </a:prstGeom>
              <a:solidFill>
                <a:srgbClr val="FFD93D"/>
              </a:solidFill>
              <a:ln w="28575" cap="flat" cmpd="sng">
                <a:solidFill>
                  <a:srgbClr val="1A1A24"/>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55" name="Google Shape;255;p19"/>
              <p:cNvSpPr/>
              <p:nvPr/>
            </p:nvSpPr>
            <p:spPr>
              <a:xfrm>
                <a:off x="95250" y="114300"/>
                <a:ext cx="190500" cy="152400"/>
              </a:xfrm>
              <a:custGeom>
                <a:avLst/>
                <a:gdLst/>
                <a:ahLst/>
                <a:cxnLst/>
                <a:rect l="l" t="t" r="r" b="b"/>
                <a:pathLst>
                  <a:path w="120000" h="120000" extrusionOk="0">
                    <a:moveTo>
                      <a:pt x="0" y="0"/>
                    </a:moveTo>
                    <a:lnTo>
                      <a:pt x="36000" y="120000"/>
                    </a:lnTo>
                    <a:lnTo>
                      <a:pt x="60000" y="60000"/>
                    </a:lnTo>
                    <a:lnTo>
                      <a:pt x="84000" y="120000"/>
                    </a:lnTo>
                    <a:lnTo>
                      <a:pt x="120000" y="0"/>
                    </a:lnTo>
                  </a:path>
                </a:pathLst>
              </a:custGeom>
              <a:solidFill>
                <a:srgbClr val="000000">
                  <a:alpha val="0"/>
                </a:srgbClr>
              </a:solidFill>
              <a:ln w="28575" cap="rnd" cmpd="sng">
                <a:solidFill>
                  <a:srgbClr val="1A1A24"/>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grpSp>
        <p:sp>
          <p:nvSpPr>
            <p:cNvPr id="256" name="Google Shape;256;p19"/>
            <p:cNvSpPr/>
            <p:nvPr/>
          </p:nvSpPr>
          <p:spPr>
            <a:xfrm>
              <a:off x="0" y="0"/>
              <a:ext cx="9144000" cy="76200"/>
            </a:xfrm>
            <a:prstGeom prst="rect">
              <a:avLst/>
            </a:prstGeom>
            <a:solidFill>
              <a:srgbClr val="FFD93D"/>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grpSp>
      <p:sp>
        <p:nvSpPr>
          <p:cNvPr id="257" name="Google Shape;257;p19"/>
          <p:cNvSpPr txBox="1"/>
          <p:nvPr/>
        </p:nvSpPr>
        <p:spPr>
          <a:xfrm>
            <a:off x="952500" y="171450"/>
            <a:ext cx="7810500" cy="714300"/>
          </a:xfrm>
          <a:prstGeom prst="rect">
            <a:avLst/>
          </a:prstGeom>
          <a:solidFill>
            <a:srgbClr val="000000">
              <a:alpha val="0"/>
            </a:srgbClr>
          </a:solidFill>
          <a:ln>
            <a:noFill/>
          </a:ln>
        </p:spPr>
        <p:txBody>
          <a:bodyPr spcFirstLastPara="1" wrap="square" lIns="0" tIns="0" rIns="0" bIns="0" anchor="t" anchorCtr="0">
            <a:noAutofit/>
          </a:bodyPr>
          <a:lstStyle/>
          <a:p>
            <a:pPr marL="0" lvl="0" indent="0" algn="l" rtl="0">
              <a:spcBef>
                <a:spcPts val="0"/>
              </a:spcBef>
              <a:spcAft>
                <a:spcPts val="0"/>
              </a:spcAft>
              <a:buNone/>
            </a:pPr>
            <a:r>
              <a:rPr lang="en" sz="1870" b="1">
                <a:solidFill>
                  <a:srgbClr val="1A1A24"/>
                </a:solidFill>
                <a:latin typeface="Space Grotesk"/>
                <a:ea typeface="Space Grotesk"/>
                <a:cs typeface="Space Grotesk"/>
                <a:sym typeface="Space Grotesk"/>
              </a:rPr>
              <a:t>HR Leads in Performance Rating, While Sales Faces Highest Attrition</a:t>
            </a:r>
            <a:endParaRPr sz="1870" b="1">
              <a:solidFill>
                <a:srgbClr val="1A1A24"/>
              </a:solidFill>
              <a:latin typeface="Space Grotesk"/>
              <a:ea typeface="Space Grotesk"/>
              <a:cs typeface="Space Grotesk"/>
              <a:sym typeface="Space Grotesk"/>
            </a:endParaRPr>
          </a:p>
          <a:p>
            <a:pPr marL="0" lvl="0" indent="0" algn="l" rtl="0">
              <a:spcBef>
                <a:spcPts val="300"/>
              </a:spcBef>
              <a:spcAft>
                <a:spcPts val="0"/>
              </a:spcAft>
              <a:buNone/>
            </a:pPr>
            <a:r>
              <a:rPr lang="en" sz="935" b="0">
                <a:solidFill>
                  <a:srgbClr val="4A4A5A"/>
                </a:solidFill>
                <a:latin typeface="Plus Jakarta Sans"/>
                <a:ea typeface="Plus Jakarta Sans"/>
                <a:cs typeface="Plus Jakarta Sans"/>
                <a:sym typeface="Plus Jakarta Sans"/>
              </a:rPr>
              <a:t>A breakdown of department metrics highlights key variations across the organization.</a:t>
            </a:r>
            <a:endParaRPr sz="935" b="0">
              <a:solidFill>
                <a:srgbClr val="4A4A5A"/>
              </a:solidFill>
              <a:latin typeface="Plus Jakarta Sans"/>
              <a:ea typeface="Plus Jakarta Sans"/>
              <a:cs typeface="Plus Jakarta Sans"/>
              <a:sym typeface="Plus Jakarta Sans"/>
            </a:endParaRPr>
          </a:p>
        </p:txBody>
      </p:sp>
      <p:cxnSp>
        <p:nvCxnSpPr>
          <p:cNvPr id="258" name="Google Shape;258;p19"/>
          <p:cNvCxnSpPr/>
          <p:nvPr/>
        </p:nvCxnSpPr>
        <p:spPr>
          <a:xfrm>
            <a:off x="381000" y="952500"/>
            <a:ext cx="8382000" cy="0"/>
          </a:xfrm>
          <a:prstGeom prst="straightConnector1">
            <a:avLst/>
          </a:prstGeom>
          <a:solidFill>
            <a:srgbClr val="FFFFFF"/>
          </a:solidFill>
          <a:ln w="28575" cap="flat" cmpd="sng">
            <a:solidFill>
              <a:srgbClr val="1A1A24"/>
            </a:solidFill>
            <a:prstDash val="solid"/>
            <a:round/>
            <a:headEnd type="none" w="sm" len="sm"/>
            <a:tailEnd type="none" w="sm" len="sm"/>
          </a:ln>
        </p:spPr>
      </p:cxnSp>
      <p:grpSp>
        <p:nvGrpSpPr>
          <p:cNvPr id="259" name="Google Shape;259;p19"/>
          <p:cNvGrpSpPr/>
          <p:nvPr/>
        </p:nvGrpSpPr>
        <p:grpSpPr>
          <a:xfrm>
            <a:off x="381000" y="1123950"/>
            <a:ext cx="8439300" cy="3695850"/>
            <a:chOff x="0" y="0"/>
            <a:chExt cx="8439300" cy="3695850"/>
          </a:xfrm>
        </p:grpSpPr>
        <p:grpSp>
          <p:nvGrpSpPr>
            <p:cNvPr id="260" name="Google Shape;260;p19"/>
            <p:cNvGrpSpPr/>
            <p:nvPr/>
          </p:nvGrpSpPr>
          <p:grpSpPr>
            <a:xfrm>
              <a:off x="0" y="0"/>
              <a:ext cx="2667150" cy="3695850"/>
              <a:chOff x="0" y="0"/>
              <a:chExt cx="2667150" cy="3695850"/>
            </a:xfrm>
          </p:grpSpPr>
          <p:sp>
            <p:nvSpPr>
              <p:cNvPr id="261" name="Google Shape;261;p19"/>
              <p:cNvSpPr/>
              <p:nvPr/>
            </p:nvSpPr>
            <p:spPr>
              <a:xfrm>
                <a:off x="57150" y="57150"/>
                <a:ext cx="2610000" cy="3638700"/>
              </a:xfrm>
              <a:prstGeom prst="roundRect">
                <a:avLst>
                  <a:gd name="adj" fmla="val 5109"/>
                </a:avLst>
              </a:prstGeom>
              <a:solidFill>
                <a:srgbClr val="1A1A24"/>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62" name="Google Shape;262;p19"/>
              <p:cNvSpPr/>
              <p:nvPr/>
            </p:nvSpPr>
            <p:spPr>
              <a:xfrm>
                <a:off x="0" y="0"/>
                <a:ext cx="2610000" cy="3638700"/>
              </a:xfrm>
              <a:prstGeom prst="roundRect">
                <a:avLst>
                  <a:gd name="adj" fmla="val 5109"/>
                </a:avLst>
              </a:prstGeom>
              <a:solidFill>
                <a:srgbClr val="FFFFFF"/>
              </a:solidFill>
              <a:ln w="28575" cap="flat" cmpd="sng">
                <a:solidFill>
                  <a:srgbClr val="1A1A24"/>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63" name="Google Shape;263;p19"/>
              <p:cNvSpPr/>
              <p:nvPr/>
            </p:nvSpPr>
            <p:spPr>
              <a:xfrm>
                <a:off x="0" y="0"/>
                <a:ext cx="2610000" cy="590700"/>
              </a:xfrm>
              <a:custGeom>
                <a:avLst/>
                <a:gdLst/>
                <a:ahLst/>
                <a:cxnLst/>
                <a:rect l="l" t="t" r="r" b="b"/>
                <a:pathLst>
                  <a:path w="120000" h="120000" extrusionOk="0">
                    <a:moveTo>
                      <a:pt x="0" y="27097"/>
                    </a:moveTo>
                    <a:cubicBezTo>
                      <a:pt x="0" y="19910"/>
                      <a:pt x="646" y="13018"/>
                      <a:pt x="1796" y="7937"/>
                    </a:cubicBezTo>
                    <a:cubicBezTo>
                      <a:pt x="2946" y="2855"/>
                      <a:pt x="4505" y="0"/>
                      <a:pt x="6131" y="0"/>
                    </a:cubicBezTo>
                    <a:lnTo>
                      <a:pt x="113869" y="0"/>
                    </a:lnTo>
                    <a:cubicBezTo>
                      <a:pt x="117255" y="1"/>
                      <a:pt x="120000" y="12132"/>
                      <a:pt x="120000" y="27097"/>
                    </a:cubicBezTo>
                    <a:lnTo>
                      <a:pt x="120000" y="120000"/>
                    </a:lnTo>
                    <a:lnTo>
                      <a:pt x="0" y="120000"/>
                    </a:lnTo>
                    <a:close/>
                  </a:path>
                </a:pathLst>
              </a:custGeom>
              <a:solidFill>
                <a:srgbClr val="C8B6FF"/>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cxnSp>
            <p:nvCxnSpPr>
              <p:cNvPr id="264" name="Google Shape;264;p19"/>
              <p:cNvCxnSpPr/>
              <p:nvPr/>
            </p:nvCxnSpPr>
            <p:spPr>
              <a:xfrm>
                <a:off x="0" y="590550"/>
                <a:ext cx="2610000" cy="0"/>
              </a:xfrm>
              <a:prstGeom prst="straightConnector1">
                <a:avLst/>
              </a:prstGeom>
              <a:solidFill>
                <a:srgbClr val="FFFFFF"/>
              </a:solidFill>
              <a:ln w="28575" cap="flat" cmpd="sng">
                <a:solidFill>
                  <a:srgbClr val="1A1A24"/>
                </a:solidFill>
                <a:prstDash val="solid"/>
                <a:round/>
                <a:headEnd type="none" w="sm" len="sm"/>
                <a:tailEnd type="none" w="sm" len="sm"/>
              </a:ln>
            </p:spPr>
          </p:cxnSp>
          <p:sp>
            <p:nvSpPr>
              <p:cNvPr id="265" name="Google Shape;265;p19"/>
              <p:cNvSpPr txBox="1"/>
              <p:nvPr/>
            </p:nvSpPr>
            <p:spPr>
              <a:xfrm>
                <a:off x="0" y="0"/>
                <a:ext cx="2610000" cy="5907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1800" b="1">
                    <a:solidFill>
                      <a:srgbClr val="1A1A24"/>
                    </a:solidFill>
                    <a:latin typeface="Space Grotesk"/>
                    <a:ea typeface="Space Grotesk"/>
                    <a:cs typeface="Space Grotesk"/>
                    <a:sym typeface="Space Grotesk"/>
                  </a:rPr>
                  <a:t>R&amp;D</a:t>
                </a:r>
                <a:endParaRPr sz="1800" b="1">
                  <a:solidFill>
                    <a:srgbClr val="1A1A24"/>
                  </a:solidFill>
                  <a:latin typeface="Space Grotesk"/>
                  <a:ea typeface="Space Grotesk"/>
                  <a:cs typeface="Space Grotesk"/>
                  <a:sym typeface="Space Grotesk"/>
                </a:endParaRPr>
              </a:p>
            </p:txBody>
          </p:sp>
          <p:grpSp>
            <p:nvGrpSpPr>
              <p:cNvPr id="266" name="Google Shape;266;p19"/>
              <p:cNvGrpSpPr/>
              <p:nvPr/>
            </p:nvGrpSpPr>
            <p:grpSpPr>
              <a:xfrm>
                <a:off x="171450" y="742950"/>
                <a:ext cx="2267100" cy="800100"/>
                <a:chOff x="0" y="0"/>
                <a:chExt cx="2267100" cy="800100"/>
              </a:xfrm>
            </p:grpSpPr>
            <p:sp>
              <p:nvSpPr>
                <p:cNvPr id="267" name="Google Shape;267;p19"/>
                <p:cNvSpPr/>
                <p:nvPr/>
              </p:nvSpPr>
              <p:spPr>
                <a:xfrm>
                  <a:off x="0" y="0"/>
                  <a:ext cx="2267100" cy="800100"/>
                </a:xfrm>
                <a:prstGeom prst="roundRect">
                  <a:avLst>
                    <a:gd name="adj" fmla="val 11904"/>
                  </a:avLst>
                </a:prstGeom>
                <a:solidFill>
                  <a:srgbClr val="F8F8F6"/>
                </a:solidFill>
                <a:ln w="19050" cap="flat" cmpd="sng">
                  <a:solidFill>
                    <a:srgbClr val="1A1A24"/>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68" name="Google Shape;268;p19"/>
                <p:cNvSpPr txBox="1"/>
                <p:nvPr/>
              </p:nvSpPr>
              <p:spPr>
                <a:xfrm>
                  <a:off x="152400" y="95250"/>
                  <a:ext cx="1962300" cy="6096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900" b="1" dirty="0">
                      <a:solidFill>
                        <a:srgbClr val="5A5A6A"/>
                      </a:solidFill>
                      <a:latin typeface="Plus Jakarta Sans"/>
                      <a:ea typeface="Plus Jakarta Sans"/>
                      <a:cs typeface="Plus Jakarta Sans"/>
                      <a:sym typeface="Plus Jakarta Sans"/>
                    </a:rPr>
                    <a:t>Headcount</a:t>
                  </a:r>
                  <a:endParaRPr sz="900" b="1" dirty="0">
                    <a:solidFill>
                      <a:srgbClr val="5A5A6A"/>
                    </a:solidFill>
                    <a:latin typeface="Plus Jakarta Sans"/>
                    <a:ea typeface="Plus Jakarta Sans"/>
                    <a:cs typeface="Plus Jakarta Sans"/>
                    <a:sym typeface="Plus Jakarta Sans"/>
                  </a:endParaRPr>
                </a:p>
                <a:p>
                  <a:pPr marL="0" lvl="0" indent="0" algn="l" rtl="0">
                    <a:spcBef>
                      <a:spcPts val="150"/>
                    </a:spcBef>
                    <a:spcAft>
                      <a:spcPts val="0"/>
                    </a:spcAft>
                    <a:buNone/>
                  </a:pPr>
                  <a:r>
                    <a:rPr lang="en" sz="2200" b="1">
                      <a:solidFill>
                        <a:srgbClr val="1A1A24"/>
                      </a:solidFill>
                      <a:latin typeface="Space Grotesk"/>
                      <a:ea typeface="Space Grotesk"/>
                      <a:cs typeface="Space Grotesk"/>
                      <a:sym typeface="Space Grotesk"/>
                    </a:rPr>
                    <a:t>1,470</a:t>
                  </a:r>
                </a:p>
              </p:txBody>
            </p:sp>
          </p:grpSp>
          <p:grpSp>
            <p:nvGrpSpPr>
              <p:cNvPr id="269" name="Google Shape;269;p19"/>
              <p:cNvGrpSpPr/>
              <p:nvPr/>
            </p:nvGrpSpPr>
            <p:grpSpPr>
              <a:xfrm>
                <a:off x="171450" y="1676400"/>
                <a:ext cx="2267100" cy="800100"/>
                <a:chOff x="0" y="0"/>
                <a:chExt cx="2267100" cy="800100"/>
              </a:xfrm>
            </p:grpSpPr>
            <p:sp>
              <p:nvSpPr>
                <p:cNvPr id="270" name="Google Shape;270;p19"/>
                <p:cNvSpPr/>
                <p:nvPr/>
              </p:nvSpPr>
              <p:spPr>
                <a:xfrm>
                  <a:off x="0" y="0"/>
                  <a:ext cx="2267100" cy="800100"/>
                </a:xfrm>
                <a:prstGeom prst="roundRect">
                  <a:avLst>
                    <a:gd name="adj" fmla="val 11904"/>
                  </a:avLst>
                </a:prstGeom>
                <a:solidFill>
                  <a:srgbClr val="F8F8F6"/>
                </a:solidFill>
                <a:ln w="19050" cap="flat" cmpd="sng">
                  <a:solidFill>
                    <a:srgbClr val="1A1A24"/>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71" name="Google Shape;271;p19"/>
                <p:cNvSpPr txBox="1"/>
                <p:nvPr/>
              </p:nvSpPr>
              <p:spPr>
                <a:xfrm>
                  <a:off x="152400" y="95250"/>
                  <a:ext cx="1962300" cy="6096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900" b="1">
                      <a:solidFill>
                        <a:srgbClr val="5A5A6A"/>
                      </a:solidFill>
                      <a:latin typeface="Plus Jakarta Sans"/>
                      <a:ea typeface="Plus Jakarta Sans"/>
                      <a:cs typeface="Plus Jakarta Sans"/>
                      <a:sym typeface="Plus Jakarta Sans"/>
                    </a:rPr>
                    <a:t>Attrition Rate</a:t>
                  </a:r>
                  <a:endParaRPr sz="900" b="1">
                    <a:solidFill>
                      <a:srgbClr val="5A5A6A"/>
                    </a:solidFill>
                    <a:latin typeface="Plus Jakarta Sans"/>
                    <a:ea typeface="Plus Jakarta Sans"/>
                    <a:cs typeface="Plus Jakarta Sans"/>
                    <a:sym typeface="Plus Jakarta Sans"/>
                  </a:endParaRPr>
                </a:p>
                <a:p>
                  <a:pPr marL="0" lvl="0" indent="0" algn="l" rtl="0">
                    <a:spcBef>
                      <a:spcPts val="150"/>
                    </a:spcBef>
                    <a:spcAft>
                      <a:spcPts val="0"/>
                    </a:spcAft>
                    <a:buNone/>
                  </a:pPr>
                  <a:r>
                    <a:rPr lang="en" sz="2200" b="1">
                      <a:solidFill>
                        <a:srgbClr val="1A1A24"/>
                      </a:solidFill>
                      <a:latin typeface="Space Grotesk"/>
                      <a:ea typeface="Space Grotesk"/>
                      <a:cs typeface="Space Grotesk"/>
                      <a:sym typeface="Space Grotesk"/>
                    </a:rPr>
                    <a:t>19.2%</a:t>
                  </a:r>
                  <a:endParaRPr sz="2200" b="1">
                    <a:solidFill>
                      <a:srgbClr val="1A1A24"/>
                    </a:solidFill>
                    <a:latin typeface="Space Grotesk"/>
                    <a:ea typeface="Space Grotesk"/>
                    <a:cs typeface="Space Grotesk"/>
                    <a:sym typeface="Space Grotesk"/>
                  </a:endParaRPr>
                </a:p>
              </p:txBody>
            </p:sp>
          </p:grpSp>
          <p:grpSp>
            <p:nvGrpSpPr>
              <p:cNvPr id="272" name="Google Shape;272;p19"/>
              <p:cNvGrpSpPr/>
              <p:nvPr/>
            </p:nvGrpSpPr>
            <p:grpSpPr>
              <a:xfrm>
                <a:off x="171450" y="2609850"/>
                <a:ext cx="2267100" cy="800100"/>
                <a:chOff x="0" y="0"/>
                <a:chExt cx="2267100" cy="800100"/>
              </a:xfrm>
            </p:grpSpPr>
            <p:sp>
              <p:nvSpPr>
                <p:cNvPr id="273" name="Google Shape;273;p19"/>
                <p:cNvSpPr/>
                <p:nvPr/>
              </p:nvSpPr>
              <p:spPr>
                <a:xfrm>
                  <a:off x="0" y="0"/>
                  <a:ext cx="2267100" cy="800100"/>
                </a:xfrm>
                <a:prstGeom prst="roundRect">
                  <a:avLst>
                    <a:gd name="adj" fmla="val 11904"/>
                  </a:avLst>
                </a:prstGeom>
                <a:solidFill>
                  <a:srgbClr val="F8F8F6"/>
                </a:solidFill>
                <a:ln w="19050" cap="flat" cmpd="sng">
                  <a:solidFill>
                    <a:srgbClr val="1A1A24"/>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74" name="Google Shape;274;p19"/>
                <p:cNvSpPr txBox="1"/>
                <p:nvPr/>
              </p:nvSpPr>
              <p:spPr>
                <a:xfrm>
                  <a:off x="152400" y="95250"/>
                  <a:ext cx="1962300" cy="6096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900" b="1">
                      <a:solidFill>
                        <a:srgbClr val="5A5A6A"/>
                      </a:solidFill>
                      <a:latin typeface="Plus Jakarta Sans"/>
                      <a:ea typeface="Plus Jakarta Sans"/>
                      <a:cs typeface="Plus Jakarta Sans"/>
                      <a:sym typeface="Plus Jakarta Sans"/>
                    </a:rPr>
                    <a:t>Health Score</a:t>
                  </a:r>
                  <a:endParaRPr sz="900" b="1">
                    <a:solidFill>
                      <a:srgbClr val="5A5A6A"/>
                    </a:solidFill>
                    <a:latin typeface="Plus Jakarta Sans"/>
                    <a:ea typeface="Plus Jakarta Sans"/>
                    <a:cs typeface="Plus Jakarta Sans"/>
                    <a:sym typeface="Plus Jakarta Sans"/>
                  </a:endParaRPr>
                </a:p>
                <a:p>
                  <a:pPr marL="0" lvl="0" indent="0" algn="l" rtl="0">
                    <a:spcBef>
                      <a:spcPts val="150"/>
                    </a:spcBef>
                    <a:spcAft>
                      <a:spcPts val="0"/>
                    </a:spcAft>
                    <a:buNone/>
                  </a:pPr>
                  <a:r>
                    <a:rPr lang="en" sz="2200" b="1">
                      <a:solidFill>
                        <a:srgbClr val="1A1A24"/>
                      </a:solidFill>
                      <a:latin typeface="Space Grotesk"/>
                      <a:ea typeface="Space Grotesk"/>
                      <a:cs typeface="Space Grotesk"/>
                      <a:sym typeface="Space Grotesk"/>
                    </a:rPr>
                    <a:t>72.8</a:t>
                  </a:r>
                  <a:endParaRPr sz="2200" b="1">
                    <a:solidFill>
                      <a:srgbClr val="1A1A24"/>
                    </a:solidFill>
                    <a:latin typeface="Space Grotesk"/>
                    <a:ea typeface="Space Grotesk"/>
                    <a:cs typeface="Space Grotesk"/>
                    <a:sym typeface="Space Grotesk"/>
                  </a:endParaRPr>
                </a:p>
              </p:txBody>
            </p:sp>
          </p:grpSp>
        </p:grpSp>
        <p:grpSp>
          <p:nvGrpSpPr>
            <p:cNvPr id="275" name="Google Shape;275;p19"/>
            <p:cNvGrpSpPr/>
            <p:nvPr/>
          </p:nvGrpSpPr>
          <p:grpSpPr>
            <a:xfrm>
              <a:off x="2886075" y="0"/>
              <a:ext cx="2667150" cy="3695850"/>
              <a:chOff x="0" y="0"/>
              <a:chExt cx="2667150" cy="3695850"/>
            </a:xfrm>
          </p:grpSpPr>
          <p:sp>
            <p:nvSpPr>
              <p:cNvPr id="276" name="Google Shape;276;p19"/>
              <p:cNvSpPr/>
              <p:nvPr/>
            </p:nvSpPr>
            <p:spPr>
              <a:xfrm>
                <a:off x="57150" y="57150"/>
                <a:ext cx="2610000" cy="3638700"/>
              </a:xfrm>
              <a:prstGeom prst="roundRect">
                <a:avLst>
                  <a:gd name="adj" fmla="val 5109"/>
                </a:avLst>
              </a:prstGeom>
              <a:solidFill>
                <a:srgbClr val="1A1A24"/>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77" name="Google Shape;277;p19"/>
              <p:cNvSpPr/>
              <p:nvPr/>
            </p:nvSpPr>
            <p:spPr>
              <a:xfrm>
                <a:off x="0" y="0"/>
                <a:ext cx="2610000" cy="3638700"/>
              </a:xfrm>
              <a:prstGeom prst="roundRect">
                <a:avLst>
                  <a:gd name="adj" fmla="val 5109"/>
                </a:avLst>
              </a:prstGeom>
              <a:solidFill>
                <a:srgbClr val="FFFFFF"/>
              </a:solidFill>
              <a:ln w="28575" cap="flat" cmpd="sng">
                <a:solidFill>
                  <a:srgbClr val="1A1A24"/>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78" name="Google Shape;278;p19"/>
              <p:cNvSpPr/>
              <p:nvPr/>
            </p:nvSpPr>
            <p:spPr>
              <a:xfrm>
                <a:off x="0" y="0"/>
                <a:ext cx="2610000" cy="590700"/>
              </a:xfrm>
              <a:custGeom>
                <a:avLst/>
                <a:gdLst/>
                <a:ahLst/>
                <a:cxnLst/>
                <a:rect l="l" t="t" r="r" b="b"/>
                <a:pathLst>
                  <a:path w="120000" h="120000" extrusionOk="0">
                    <a:moveTo>
                      <a:pt x="0" y="27097"/>
                    </a:moveTo>
                    <a:cubicBezTo>
                      <a:pt x="0" y="19910"/>
                      <a:pt x="646" y="13018"/>
                      <a:pt x="1796" y="7937"/>
                    </a:cubicBezTo>
                    <a:cubicBezTo>
                      <a:pt x="2946" y="2855"/>
                      <a:pt x="4505" y="0"/>
                      <a:pt x="6131" y="0"/>
                    </a:cubicBezTo>
                    <a:lnTo>
                      <a:pt x="113869" y="0"/>
                    </a:lnTo>
                    <a:cubicBezTo>
                      <a:pt x="117255" y="1"/>
                      <a:pt x="120000" y="12132"/>
                      <a:pt x="120000" y="27097"/>
                    </a:cubicBezTo>
                    <a:lnTo>
                      <a:pt x="120000" y="120000"/>
                    </a:lnTo>
                    <a:lnTo>
                      <a:pt x="0" y="120000"/>
                    </a:lnTo>
                    <a:close/>
                  </a:path>
                </a:pathLst>
              </a:custGeom>
              <a:solidFill>
                <a:srgbClr val="FF6B6B"/>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cxnSp>
            <p:nvCxnSpPr>
              <p:cNvPr id="279" name="Google Shape;279;p19"/>
              <p:cNvCxnSpPr/>
              <p:nvPr/>
            </p:nvCxnSpPr>
            <p:spPr>
              <a:xfrm>
                <a:off x="0" y="590550"/>
                <a:ext cx="2610000" cy="0"/>
              </a:xfrm>
              <a:prstGeom prst="straightConnector1">
                <a:avLst/>
              </a:prstGeom>
              <a:solidFill>
                <a:srgbClr val="FFFFFF"/>
              </a:solidFill>
              <a:ln w="28575" cap="flat" cmpd="sng">
                <a:solidFill>
                  <a:srgbClr val="1A1A24"/>
                </a:solidFill>
                <a:prstDash val="solid"/>
                <a:round/>
                <a:headEnd type="none" w="sm" len="sm"/>
                <a:tailEnd type="none" w="sm" len="sm"/>
              </a:ln>
            </p:spPr>
          </p:cxnSp>
          <p:sp>
            <p:nvSpPr>
              <p:cNvPr id="280" name="Google Shape;280;p19"/>
              <p:cNvSpPr txBox="1"/>
              <p:nvPr/>
            </p:nvSpPr>
            <p:spPr>
              <a:xfrm>
                <a:off x="0" y="0"/>
                <a:ext cx="2610000" cy="5907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1800" b="1">
                    <a:solidFill>
                      <a:srgbClr val="FFFFFF"/>
                    </a:solidFill>
                    <a:latin typeface="Space Grotesk"/>
                    <a:ea typeface="Space Grotesk"/>
                    <a:cs typeface="Space Grotesk"/>
                    <a:sym typeface="Space Grotesk"/>
                  </a:rPr>
                  <a:t>Sales</a:t>
                </a:r>
                <a:endParaRPr sz="1800" b="1">
                  <a:solidFill>
                    <a:srgbClr val="FFFFFF"/>
                  </a:solidFill>
                  <a:latin typeface="Space Grotesk"/>
                  <a:ea typeface="Space Grotesk"/>
                  <a:cs typeface="Space Grotesk"/>
                  <a:sym typeface="Space Grotesk"/>
                </a:endParaRPr>
              </a:p>
            </p:txBody>
          </p:sp>
          <p:grpSp>
            <p:nvGrpSpPr>
              <p:cNvPr id="281" name="Google Shape;281;p19"/>
              <p:cNvGrpSpPr/>
              <p:nvPr/>
            </p:nvGrpSpPr>
            <p:grpSpPr>
              <a:xfrm>
                <a:off x="171450" y="742950"/>
                <a:ext cx="2267100" cy="800100"/>
                <a:chOff x="0" y="0"/>
                <a:chExt cx="2267100" cy="800100"/>
              </a:xfrm>
            </p:grpSpPr>
            <p:sp>
              <p:nvSpPr>
                <p:cNvPr id="282" name="Google Shape;282;p19"/>
                <p:cNvSpPr/>
                <p:nvPr/>
              </p:nvSpPr>
              <p:spPr>
                <a:xfrm>
                  <a:off x="0" y="0"/>
                  <a:ext cx="2267100" cy="800100"/>
                </a:xfrm>
                <a:prstGeom prst="roundRect">
                  <a:avLst>
                    <a:gd name="adj" fmla="val 11904"/>
                  </a:avLst>
                </a:prstGeom>
                <a:solidFill>
                  <a:srgbClr val="F8F8F6"/>
                </a:solidFill>
                <a:ln w="19050" cap="flat" cmpd="sng">
                  <a:solidFill>
                    <a:srgbClr val="1A1A24"/>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83" name="Google Shape;283;p19"/>
                <p:cNvSpPr txBox="1"/>
                <p:nvPr/>
              </p:nvSpPr>
              <p:spPr>
                <a:xfrm>
                  <a:off x="152400" y="95250"/>
                  <a:ext cx="1962300" cy="6096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900" b="1">
                      <a:solidFill>
                        <a:srgbClr val="5A5A6A"/>
                      </a:solidFill>
                      <a:latin typeface="Plus Jakarta Sans"/>
                      <a:ea typeface="Plus Jakarta Sans"/>
                      <a:cs typeface="Plus Jakarta Sans"/>
                      <a:sym typeface="Plus Jakarta Sans"/>
                    </a:rPr>
                    <a:t>Headcount</a:t>
                  </a:r>
                  <a:endParaRPr sz="900" b="1">
                    <a:solidFill>
                      <a:srgbClr val="5A5A6A"/>
                    </a:solidFill>
                    <a:latin typeface="Plus Jakarta Sans"/>
                    <a:ea typeface="Plus Jakarta Sans"/>
                    <a:cs typeface="Plus Jakarta Sans"/>
                    <a:sym typeface="Plus Jakarta Sans"/>
                  </a:endParaRPr>
                </a:p>
                <a:p>
                  <a:pPr marL="0" lvl="0" indent="0" algn="l" rtl="0">
                    <a:spcBef>
                      <a:spcPts val="150"/>
                    </a:spcBef>
                    <a:spcAft>
                      <a:spcPts val="0"/>
                    </a:spcAft>
                    <a:buNone/>
                  </a:pPr>
                  <a:r>
                    <a:rPr lang="en" sz="2200" b="1">
                      <a:solidFill>
                        <a:srgbClr val="1A1A24"/>
                      </a:solidFill>
                      <a:latin typeface="Space Grotesk"/>
                      <a:ea typeface="Space Grotesk"/>
                      <a:cs typeface="Space Grotesk"/>
                      <a:sym typeface="Space Grotesk"/>
                    </a:rPr>
                    <a:t>264</a:t>
                  </a:r>
                  <a:endParaRPr sz="2200" b="1">
                    <a:solidFill>
                      <a:srgbClr val="1A1A24"/>
                    </a:solidFill>
                    <a:latin typeface="Space Grotesk"/>
                    <a:ea typeface="Space Grotesk"/>
                    <a:cs typeface="Space Grotesk"/>
                    <a:sym typeface="Space Grotesk"/>
                  </a:endParaRPr>
                </a:p>
              </p:txBody>
            </p:sp>
          </p:grpSp>
          <p:grpSp>
            <p:nvGrpSpPr>
              <p:cNvPr id="284" name="Google Shape;284;p19"/>
              <p:cNvGrpSpPr/>
              <p:nvPr/>
            </p:nvGrpSpPr>
            <p:grpSpPr>
              <a:xfrm>
                <a:off x="171450" y="1676400"/>
                <a:ext cx="2267100" cy="800100"/>
                <a:chOff x="0" y="0"/>
                <a:chExt cx="2267100" cy="800100"/>
              </a:xfrm>
            </p:grpSpPr>
            <p:sp>
              <p:nvSpPr>
                <p:cNvPr id="285" name="Google Shape;285;p19"/>
                <p:cNvSpPr/>
                <p:nvPr/>
              </p:nvSpPr>
              <p:spPr>
                <a:xfrm>
                  <a:off x="0" y="0"/>
                  <a:ext cx="2267100" cy="800100"/>
                </a:xfrm>
                <a:prstGeom prst="roundRect">
                  <a:avLst>
                    <a:gd name="adj" fmla="val 11904"/>
                  </a:avLst>
                </a:prstGeom>
                <a:solidFill>
                  <a:srgbClr val="FFEAE8"/>
                </a:solidFill>
                <a:ln w="19050" cap="flat" cmpd="sng">
                  <a:solidFill>
                    <a:srgbClr val="FF6B6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86" name="Google Shape;286;p19"/>
                <p:cNvSpPr txBox="1"/>
                <p:nvPr/>
              </p:nvSpPr>
              <p:spPr>
                <a:xfrm>
                  <a:off x="152400" y="95250"/>
                  <a:ext cx="1962300" cy="6096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900" b="1">
                      <a:solidFill>
                        <a:srgbClr val="D32F2F"/>
                      </a:solidFill>
                      <a:latin typeface="Plus Jakarta Sans"/>
                      <a:ea typeface="Plus Jakarta Sans"/>
                      <a:cs typeface="Plus Jakarta Sans"/>
                      <a:sym typeface="Plus Jakarta Sans"/>
                    </a:rPr>
                    <a:t>Highest Attrition</a:t>
                  </a:r>
                  <a:endParaRPr sz="900" b="1">
                    <a:solidFill>
                      <a:srgbClr val="D32F2F"/>
                    </a:solidFill>
                    <a:latin typeface="Plus Jakarta Sans"/>
                    <a:ea typeface="Plus Jakarta Sans"/>
                    <a:cs typeface="Plus Jakarta Sans"/>
                    <a:sym typeface="Plus Jakarta Sans"/>
                  </a:endParaRPr>
                </a:p>
                <a:p>
                  <a:pPr marL="0" lvl="0" indent="0" algn="l" rtl="0">
                    <a:spcBef>
                      <a:spcPts val="150"/>
                    </a:spcBef>
                    <a:spcAft>
                      <a:spcPts val="0"/>
                    </a:spcAft>
                    <a:buNone/>
                  </a:pPr>
                  <a:r>
                    <a:rPr lang="en" sz="2200" b="1">
                      <a:solidFill>
                        <a:srgbClr val="D32F2F"/>
                      </a:solidFill>
                      <a:latin typeface="Space Grotesk"/>
                      <a:ea typeface="Space Grotesk"/>
                      <a:cs typeface="Space Grotesk"/>
                      <a:sym typeface="Space Grotesk"/>
                    </a:rPr>
                    <a:t>22.0%</a:t>
                  </a:r>
                  <a:endParaRPr sz="2200" b="1">
                    <a:solidFill>
                      <a:srgbClr val="D32F2F"/>
                    </a:solidFill>
                    <a:latin typeface="Space Grotesk"/>
                    <a:ea typeface="Space Grotesk"/>
                    <a:cs typeface="Space Grotesk"/>
                    <a:sym typeface="Space Grotesk"/>
                  </a:endParaRPr>
                </a:p>
              </p:txBody>
            </p:sp>
          </p:grpSp>
          <p:grpSp>
            <p:nvGrpSpPr>
              <p:cNvPr id="287" name="Google Shape;287;p19"/>
              <p:cNvGrpSpPr/>
              <p:nvPr/>
            </p:nvGrpSpPr>
            <p:grpSpPr>
              <a:xfrm>
                <a:off x="171450" y="2609850"/>
                <a:ext cx="2267100" cy="800100"/>
                <a:chOff x="0" y="0"/>
                <a:chExt cx="2267100" cy="800100"/>
              </a:xfrm>
            </p:grpSpPr>
            <p:sp>
              <p:nvSpPr>
                <p:cNvPr id="288" name="Google Shape;288;p19"/>
                <p:cNvSpPr/>
                <p:nvPr/>
              </p:nvSpPr>
              <p:spPr>
                <a:xfrm>
                  <a:off x="0" y="0"/>
                  <a:ext cx="2267100" cy="800100"/>
                </a:xfrm>
                <a:prstGeom prst="roundRect">
                  <a:avLst>
                    <a:gd name="adj" fmla="val 11904"/>
                  </a:avLst>
                </a:prstGeom>
                <a:solidFill>
                  <a:srgbClr val="F8F8F6"/>
                </a:solidFill>
                <a:ln w="19050" cap="flat" cmpd="sng">
                  <a:solidFill>
                    <a:srgbClr val="1A1A24"/>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89" name="Google Shape;289;p19"/>
                <p:cNvSpPr txBox="1"/>
                <p:nvPr/>
              </p:nvSpPr>
              <p:spPr>
                <a:xfrm>
                  <a:off x="152400" y="95250"/>
                  <a:ext cx="1962300" cy="6096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900" b="1">
                      <a:solidFill>
                        <a:srgbClr val="5A5A6A"/>
                      </a:solidFill>
                      <a:latin typeface="Plus Jakarta Sans"/>
                      <a:ea typeface="Plus Jakarta Sans"/>
                      <a:cs typeface="Plus Jakarta Sans"/>
                      <a:sym typeface="Plus Jakarta Sans"/>
                    </a:rPr>
                    <a:t>Performance Rating</a:t>
                  </a:r>
                  <a:endParaRPr sz="900" b="1">
                    <a:solidFill>
                      <a:srgbClr val="5A5A6A"/>
                    </a:solidFill>
                    <a:latin typeface="Plus Jakarta Sans"/>
                    <a:ea typeface="Plus Jakarta Sans"/>
                    <a:cs typeface="Plus Jakarta Sans"/>
                    <a:sym typeface="Plus Jakarta Sans"/>
                  </a:endParaRPr>
                </a:p>
                <a:p>
                  <a:pPr marL="0" lvl="0" indent="0" algn="l" rtl="0">
                    <a:spcBef>
                      <a:spcPts val="150"/>
                    </a:spcBef>
                    <a:spcAft>
                      <a:spcPts val="0"/>
                    </a:spcAft>
                    <a:buNone/>
                  </a:pPr>
                  <a:r>
                    <a:rPr lang="en" sz="2200" b="1">
                      <a:solidFill>
                        <a:srgbClr val="1A1A24"/>
                      </a:solidFill>
                      <a:latin typeface="Space Grotesk"/>
                      <a:ea typeface="Space Grotesk"/>
                      <a:cs typeface="Space Grotesk"/>
                      <a:sym typeface="Space Grotesk"/>
                    </a:rPr>
                    <a:t>3.5</a:t>
                  </a:r>
                  <a:endParaRPr sz="2200" b="1">
                    <a:solidFill>
                      <a:srgbClr val="1A1A24"/>
                    </a:solidFill>
                    <a:latin typeface="Space Grotesk"/>
                    <a:ea typeface="Space Grotesk"/>
                    <a:cs typeface="Space Grotesk"/>
                    <a:sym typeface="Space Grotesk"/>
                  </a:endParaRPr>
                </a:p>
              </p:txBody>
            </p:sp>
          </p:grpSp>
        </p:grpSp>
        <p:grpSp>
          <p:nvGrpSpPr>
            <p:cNvPr id="290" name="Google Shape;290;p19"/>
            <p:cNvGrpSpPr/>
            <p:nvPr/>
          </p:nvGrpSpPr>
          <p:grpSpPr>
            <a:xfrm>
              <a:off x="5772150" y="0"/>
              <a:ext cx="2667150" cy="3695850"/>
              <a:chOff x="0" y="0"/>
              <a:chExt cx="2667150" cy="3695850"/>
            </a:xfrm>
          </p:grpSpPr>
          <p:sp>
            <p:nvSpPr>
              <p:cNvPr id="291" name="Google Shape;291;p19"/>
              <p:cNvSpPr/>
              <p:nvPr/>
            </p:nvSpPr>
            <p:spPr>
              <a:xfrm>
                <a:off x="57150" y="57150"/>
                <a:ext cx="2610000" cy="3638700"/>
              </a:xfrm>
              <a:prstGeom prst="roundRect">
                <a:avLst>
                  <a:gd name="adj" fmla="val 5109"/>
                </a:avLst>
              </a:prstGeom>
              <a:solidFill>
                <a:srgbClr val="1A1A24"/>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92" name="Google Shape;292;p19"/>
              <p:cNvSpPr/>
              <p:nvPr/>
            </p:nvSpPr>
            <p:spPr>
              <a:xfrm>
                <a:off x="0" y="0"/>
                <a:ext cx="2610000" cy="3638700"/>
              </a:xfrm>
              <a:prstGeom prst="roundRect">
                <a:avLst>
                  <a:gd name="adj" fmla="val 5109"/>
                </a:avLst>
              </a:prstGeom>
              <a:solidFill>
                <a:srgbClr val="FFFFFF"/>
              </a:solidFill>
              <a:ln w="28575" cap="flat" cmpd="sng">
                <a:solidFill>
                  <a:srgbClr val="1A1A24"/>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93" name="Google Shape;293;p19"/>
              <p:cNvSpPr/>
              <p:nvPr/>
            </p:nvSpPr>
            <p:spPr>
              <a:xfrm>
                <a:off x="0" y="0"/>
                <a:ext cx="2610000" cy="590700"/>
              </a:xfrm>
              <a:custGeom>
                <a:avLst/>
                <a:gdLst/>
                <a:ahLst/>
                <a:cxnLst/>
                <a:rect l="l" t="t" r="r" b="b"/>
                <a:pathLst>
                  <a:path w="120000" h="120000" extrusionOk="0">
                    <a:moveTo>
                      <a:pt x="0" y="27097"/>
                    </a:moveTo>
                    <a:cubicBezTo>
                      <a:pt x="0" y="19910"/>
                      <a:pt x="646" y="13018"/>
                      <a:pt x="1796" y="7937"/>
                    </a:cubicBezTo>
                    <a:cubicBezTo>
                      <a:pt x="2946" y="2855"/>
                      <a:pt x="4505" y="0"/>
                      <a:pt x="6131" y="0"/>
                    </a:cubicBezTo>
                    <a:lnTo>
                      <a:pt x="113869" y="0"/>
                    </a:lnTo>
                    <a:cubicBezTo>
                      <a:pt x="117255" y="1"/>
                      <a:pt x="120000" y="12132"/>
                      <a:pt x="120000" y="27097"/>
                    </a:cubicBezTo>
                    <a:lnTo>
                      <a:pt x="120000" y="120000"/>
                    </a:lnTo>
                    <a:lnTo>
                      <a:pt x="0" y="120000"/>
                    </a:lnTo>
                    <a:close/>
                  </a:path>
                </a:pathLst>
              </a:custGeom>
              <a:solidFill>
                <a:srgbClr val="4ECDC4"/>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cxnSp>
            <p:nvCxnSpPr>
              <p:cNvPr id="294" name="Google Shape;294;p19"/>
              <p:cNvCxnSpPr/>
              <p:nvPr/>
            </p:nvCxnSpPr>
            <p:spPr>
              <a:xfrm>
                <a:off x="0" y="590550"/>
                <a:ext cx="2610000" cy="0"/>
              </a:xfrm>
              <a:prstGeom prst="straightConnector1">
                <a:avLst/>
              </a:prstGeom>
              <a:solidFill>
                <a:srgbClr val="FFFFFF"/>
              </a:solidFill>
              <a:ln w="28575" cap="flat" cmpd="sng">
                <a:solidFill>
                  <a:srgbClr val="1A1A24"/>
                </a:solidFill>
                <a:prstDash val="solid"/>
                <a:round/>
                <a:headEnd type="none" w="sm" len="sm"/>
                <a:tailEnd type="none" w="sm" len="sm"/>
              </a:ln>
            </p:spPr>
          </p:cxnSp>
          <p:sp>
            <p:nvSpPr>
              <p:cNvPr id="295" name="Google Shape;295;p19"/>
              <p:cNvSpPr txBox="1"/>
              <p:nvPr/>
            </p:nvSpPr>
            <p:spPr>
              <a:xfrm>
                <a:off x="0" y="0"/>
                <a:ext cx="2610000" cy="5907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1800" b="1">
                    <a:solidFill>
                      <a:srgbClr val="1A1A24"/>
                    </a:solidFill>
                    <a:latin typeface="Space Grotesk"/>
                    <a:ea typeface="Space Grotesk"/>
                    <a:cs typeface="Space Grotesk"/>
                    <a:sym typeface="Space Grotesk"/>
                  </a:rPr>
                  <a:t>HR</a:t>
                </a:r>
                <a:endParaRPr sz="1800" b="1">
                  <a:solidFill>
                    <a:srgbClr val="1A1A24"/>
                  </a:solidFill>
                  <a:latin typeface="Space Grotesk"/>
                  <a:ea typeface="Space Grotesk"/>
                  <a:cs typeface="Space Grotesk"/>
                  <a:sym typeface="Space Grotesk"/>
                </a:endParaRPr>
              </a:p>
            </p:txBody>
          </p:sp>
          <p:grpSp>
            <p:nvGrpSpPr>
              <p:cNvPr id="296" name="Google Shape;296;p19"/>
              <p:cNvGrpSpPr/>
              <p:nvPr/>
            </p:nvGrpSpPr>
            <p:grpSpPr>
              <a:xfrm>
                <a:off x="171450" y="742950"/>
                <a:ext cx="2267100" cy="800100"/>
                <a:chOff x="0" y="0"/>
                <a:chExt cx="2267100" cy="800100"/>
              </a:xfrm>
            </p:grpSpPr>
            <p:sp>
              <p:nvSpPr>
                <p:cNvPr id="297" name="Google Shape;297;p19"/>
                <p:cNvSpPr/>
                <p:nvPr/>
              </p:nvSpPr>
              <p:spPr>
                <a:xfrm>
                  <a:off x="0" y="0"/>
                  <a:ext cx="2267100" cy="800100"/>
                </a:xfrm>
                <a:prstGeom prst="roundRect">
                  <a:avLst>
                    <a:gd name="adj" fmla="val 11904"/>
                  </a:avLst>
                </a:prstGeom>
                <a:solidFill>
                  <a:srgbClr val="F8F8F6"/>
                </a:solidFill>
                <a:ln w="19050" cap="flat" cmpd="sng">
                  <a:solidFill>
                    <a:srgbClr val="1A1A24"/>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98" name="Google Shape;298;p19"/>
                <p:cNvSpPr txBox="1"/>
                <p:nvPr/>
              </p:nvSpPr>
              <p:spPr>
                <a:xfrm>
                  <a:off x="152400" y="95250"/>
                  <a:ext cx="1962300" cy="6096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900" b="1">
                      <a:solidFill>
                        <a:srgbClr val="5A5A6A"/>
                      </a:solidFill>
                      <a:latin typeface="Plus Jakarta Sans"/>
                      <a:ea typeface="Plus Jakarta Sans"/>
                      <a:cs typeface="Plus Jakarta Sans"/>
                      <a:sym typeface="Plus Jakarta Sans"/>
                    </a:rPr>
                    <a:t>Lowest Attrition</a:t>
                  </a:r>
                  <a:endParaRPr sz="900" b="1">
                    <a:solidFill>
                      <a:srgbClr val="5A5A6A"/>
                    </a:solidFill>
                    <a:latin typeface="Plus Jakarta Sans"/>
                    <a:ea typeface="Plus Jakarta Sans"/>
                    <a:cs typeface="Plus Jakarta Sans"/>
                    <a:sym typeface="Plus Jakarta Sans"/>
                  </a:endParaRPr>
                </a:p>
                <a:p>
                  <a:pPr marL="0" lvl="0" indent="0" algn="l" rtl="0">
                    <a:spcBef>
                      <a:spcPts val="150"/>
                    </a:spcBef>
                    <a:spcAft>
                      <a:spcPts val="0"/>
                    </a:spcAft>
                    <a:buNone/>
                  </a:pPr>
                  <a:r>
                    <a:rPr lang="en" sz="2200" b="1">
                      <a:solidFill>
                        <a:srgbClr val="1A1A24"/>
                      </a:solidFill>
                      <a:latin typeface="Space Grotesk"/>
                      <a:ea typeface="Space Grotesk"/>
                      <a:cs typeface="Space Grotesk"/>
                      <a:sym typeface="Space Grotesk"/>
                    </a:rPr>
                    <a:t>14.8%</a:t>
                  </a:r>
                  <a:endParaRPr sz="2200" b="1">
                    <a:solidFill>
                      <a:srgbClr val="1A1A24"/>
                    </a:solidFill>
                    <a:latin typeface="Space Grotesk"/>
                    <a:ea typeface="Space Grotesk"/>
                    <a:cs typeface="Space Grotesk"/>
                    <a:sym typeface="Space Grotesk"/>
                  </a:endParaRPr>
                </a:p>
              </p:txBody>
            </p:sp>
          </p:grpSp>
          <p:grpSp>
            <p:nvGrpSpPr>
              <p:cNvPr id="299" name="Google Shape;299;p19"/>
              <p:cNvGrpSpPr/>
              <p:nvPr/>
            </p:nvGrpSpPr>
            <p:grpSpPr>
              <a:xfrm>
                <a:off x="171450" y="1676400"/>
                <a:ext cx="2267100" cy="800100"/>
                <a:chOff x="0" y="0"/>
                <a:chExt cx="2267100" cy="800100"/>
              </a:xfrm>
            </p:grpSpPr>
            <p:sp>
              <p:nvSpPr>
                <p:cNvPr id="300" name="Google Shape;300;p19"/>
                <p:cNvSpPr/>
                <p:nvPr/>
              </p:nvSpPr>
              <p:spPr>
                <a:xfrm>
                  <a:off x="0" y="0"/>
                  <a:ext cx="2267100" cy="800100"/>
                </a:xfrm>
                <a:prstGeom prst="roundRect">
                  <a:avLst>
                    <a:gd name="adj" fmla="val 11904"/>
                  </a:avLst>
                </a:prstGeom>
                <a:solidFill>
                  <a:srgbClr val="E8F8F7"/>
                </a:solidFill>
                <a:ln w="19050" cap="flat" cmpd="sng">
                  <a:solidFill>
                    <a:srgbClr val="00897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01" name="Google Shape;301;p19"/>
                <p:cNvSpPr txBox="1"/>
                <p:nvPr/>
              </p:nvSpPr>
              <p:spPr>
                <a:xfrm>
                  <a:off x="152400" y="95250"/>
                  <a:ext cx="1962300" cy="6096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900" b="1">
                      <a:solidFill>
                        <a:srgbClr val="00796B"/>
                      </a:solidFill>
                      <a:latin typeface="Plus Jakarta Sans"/>
                      <a:ea typeface="Plus Jakarta Sans"/>
                      <a:cs typeface="Plus Jakarta Sans"/>
                      <a:sym typeface="Plus Jakarta Sans"/>
                    </a:rPr>
                    <a:t>Top Performance</a:t>
                  </a:r>
                  <a:endParaRPr sz="900" b="1">
                    <a:solidFill>
                      <a:srgbClr val="00796B"/>
                    </a:solidFill>
                    <a:latin typeface="Plus Jakarta Sans"/>
                    <a:ea typeface="Plus Jakarta Sans"/>
                    <a:cs typeface="Plus Jakarta Sans"/>
                    <a:sym typeface="Plus Jakarta Sans"/>
                  </a:endParaRPr>
                </a:p>
                <a:p>
                  <a:pPr marL="0" lvl="0" indent="0" algn="l" rtl="0">
                    <a:spcBef>
                      <a:spcPts val="150"/>
                    </a:spcBef>
                    <a:spcAft>
                      <a:spcPts val="0"/>
                    </a:spcAft>
                    <a:buNone/>
                  </a:pPr>
                  <a:r>
                    <a:rPr lang="en" sz="2200" b="1">
                      <a:solidFill>
                        <a:srgbClr val="00796B"/>
                      </a:solidFill>
                      <a:latin typeface="Space Grotesk"/>
                      <a:ea typeface="Space Grotesk"/>
                      <a:cs typeface="Space Grotesk"/>
                      <a:sym typeface="Space Grotesk"/>
                    </a:rPr>
                    <a:t>3.6</a:t>
                  </a:r>
                  <a:endParaRPr sz="2200" b="1">
                    <a:solidFill>
                      <a:srgbClr val="00796B"/>
                    </a:solidFill>
                    <a:latin typeface="Space Grotesk"/>
                    <a:ea typeface="Space Grotesk"/>
                    <a:cs typeface="Space Grotesk"/>
                    <a:sym typeface="Space Grotesk"/>
                  </a:endParaRPr>
                </a:p>
              </p:txBody>
            </p:sp>
          </p:grpSp>
          <p:grpSp>
            <p:nvGrpSpPr>
              <p:cNvPr id="302" name="Google Shape;302;p19"/>
              <p:cNvGrpSpPr/>
              <p:nvPr/>
            </p:nvGrpSpPr>
            <p:grpSpPr>
              <a:xfrm>
                <a:off x="171450" y="2609850"/>
                <a:ext cx="2267100" cy="800100"/>
                <a:chOff x="0" y="0"/>
                <a:chExt cx="2267100" cy="800100"/>
              </a:xfrm>
            </p:grpSpPr>
            <p:sp>
              <p:nvSpPr>
                <p:cNvPr id="303" name="Google Shape;303;p19"/>
                <p:cNvSpPr/>
                <p:nvPr/>
              </p:nvSpPr>
              <p:spPr>
                <a:xfrm>
                  <a:off x="0" y="0"/>
                  <a:ext cx="2267100" cy="800100"/>
                </a:xfrm>
                <a:prstGeom prst="roundRect">
                  <a:avLst>
                    <a:gd name="adj" fmla="val 11904"/>
                  </a:avLst>
                </a:prstGeom>
                <a:solidFill>
                  <a:srgbClr val="F8F8F6"/>
                </a:solidFill>
                <a:ln w="19050" cap="flat" cmpd="sng">
                  <a:solidFill>
                    <a:srgbClr val="1A1A24"/>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04" name="Google Shape;304;p19"/>
                <p:cNvSpPr txBox="1"/>
                <p:nvPr/>
              </p:nvSpPr>
              <p:spPr>
                <a:xfrm>
                  <a:off x="152400" y="95250"/>
                  <a:ext cx="1962300" cy="6096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900" b="1">
                      <a:solidFill>
                        <a:srgbClr val="5A5A6A"/>
                      </a:solidFill>
                      <a:latin typeface="Plus Jakarta Sans"/>
                      <a:ea typeface="Plus Jakarta Sans"/>
                      <a:cs typeface="Plus Jakarta Sans"/>
                      <a:sym typeface="Plus Jakarta Sans"/>
                    </a:rPr>
                    <a:t>Strongest Health</a:t>
                  </a:r>
                  <a:endParaRPr sz="900" b="1">
                    <a:solidFill>
                      <a:srgbClr val="5A5A6A"/>
                    </a:solidFill>
                    <a:latin typeface="Plus Jakarta Sans"/>
                    <a:ea typeface="Plus Jakarta Sans"/>
                    <a:cs typeface="Plus Jakarta Sans"/>
                    <a:sym typeface="Plus Jakarta Sans"/>
                  </a:endParaRPr>
                </a:p>
                <a:p>
                  <a:pPr marL="0" lvl="0" indent="0" algn="l" rtl="0">
                    <a:spcBef>
                      <a:spcPts val="150"/>
                    </a:spcBef>
                    <a:spcAft>
                      <a:spcPts val="0"/>
                    </a:spcAft>
                    <a:buNone/>
                  </a:pPr>
                  <a:r>
                    <a:rPr lang="en" sz="2200" b="1">
                      <a:solidFill>
                        <a:srgbClr val="1A1A24"/>
                      </a:solidFill>
                      <a:latin typeface="Space Grotesk"/>
                      <a:ea typeface="Space Grotesk"/>
                      <a:cs typeface="Space Grotesk"/>
                      <a:sym typeface="Space Grotesk"/>
                    </a:rPr>
                    <a:t>78.5</a:t>
                  </a:r>
                  <a:endParaRPr sz="2200" b="1">
                    <a:solidFill>
                      <a:srgbClr val="1A1A24"/>
                    </a:solidFill>
                    <a:latin typeface="Space Grotesk"/>
                    <a:ea typeface="Space Grotesk"/>
                    <a:cs typeface="Space Grotesk"/>
                    <a:sym typeface="Space Grotesk"/>
                  </a:endParaRPr>
                </a:p>
              </p:txBody>
            </p:sp>
          </p:grpSp>
        </p:grpSp>
      </p:grpSp>
    </p:spTree>
  </p:cSld>
  <p:clrMapOvr>
    <a:masterClrMapping/>
  </p:clrMapOvr>
  <mc:AlternateContent xmlns:mc="http://schemas.openxmlformats.org/markup-compatibility/2006">
    <mc:Choice xmlns:p14="http://schemas.microsoft.com/office/powerpoint/2010/main" Requires="p14">
      <p:transition spd="slow" p14:dur="2500">
        <p14:flash/>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grpSp>
        <p:nvGrpSpPr>
          <p:cNvPr id="309" name="Google Shape;309;p20"/>
          <p:cNvGrpSpPr/>
          <p:nvPr/>
        </p:nvGrpSpPr>
        <p:grpSpPr>
          <a:xfrm>
            <a:off x="0" y="0"/>
            <a:ext cx="9144000" cy="5143500"/>
            <a:chOff x="0" y="0"/>
            <a:chExt cx="9144000" cy="5143500"/>
          </a:xfrm>
        </p:grpSpPr>
        <p:sp>
          <p:nvSpPr>
            <p:cNvPr id="310" name="Google Shape;310;p20"/>
            <p:cNvSpPr/>
            <p:nvPr/>
          </p:nvSpPr>
          <p:spPr>
            <a:xfrm>
              <a:off x="0" y="0"/>
              <a:ext cx="9144000" cy="5143500"/>
            </a:xfrm>
            <a:prstGeom prst="rect">
              <a:avLst/>
            </a:prstGeom>
            <a:solidFill>
              <a:srgbClr val="F4F4F0"/>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grpSp>
          <p:nvGrpSpPr>
            <p:cNvPr id="311" name="Google Shape;311;p20"/>
            <p:cNvGrpSpPr/>
            <p:nvPr/>
          </p:nvGrpSpPr>
          <p:grpSpPr>
            <a:xfrm>
              <a:off x="381000" y="238125"/>
              <a:ext cx="419100" cy="419100"/>
              <a:chOff x="0" y="0"/>
              <a:chExt cx="419100" cy="419100"/>
            </a:xfrm>
          </p:grpSpPr>
          <p:sp>
            <p:nvSpPr>
              <p:cNvPr id="312" name="Google Shape;312;p20"/>
              <p:cNvSpPr/>
              <p:nvPr/>
            </p:nvSpPr>
            <p:spPr>
              <a:xfrm>
                <a:off x="38100" y="38100"/>
                <a:ext cx="381000" cy="381000"/>
              </a:xfrm>
              <a:prstGeom prst="roundRect">
                <a:avLst>
                  <a:gd name="adj" fmla="val 20000"/>
                </a:avLst>
              </a:prstGeom>
              <a:solidFill>
                <a:srgbClr val="1A1A24"/>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13" name="Google Shape;313;p20"/>
              <p:cNvSpPr/>
              <p:nvPr/>
            </p:nvSpPr>
            <p:spPr>
              <a:xfrm>
                <a:off x="0" y="0"/>
                <a:ext cx="381000" cy="381000"/>
              </a:xfrm>
              <a:prstGeom prst="roundRect">
                <a:avLst>
                  <a:gd name="adj" fmla="val 20000"/>
                </a:avLst>
              </a:prstGeom>
              <a:solidFill>
                <a:srgbClr val="FFD93D"/>
              </a:solidFill>
              <a:ln w="28575" cap="flat" cmpd="sng">
                <a:solidFill>
                  <a:srgbClr val="1A1A24"/>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14" name="Google Shape;314;p20"/>
              <p:cNvSpPr/>
              <p:nvPr/>
            </p:nvSpPr>
            <p:spPr>
              <a:xfrm>
                <a:off x="95250" y="114300"/>
                <a:ext cx="190500" cy="152400"/>
              </a:xfrm>
              <a:custGeom>
                <a:avLst/>
                <a:gdLst/>
                <a:ahLst/>
                <a:cxnLst/>
                <a:rect l="l" t="t" r="r" b="b"/>
                <a:pathLst>
                  <a:path w="120000" h="120000" extrusionOk="0">
                    <a:moveTo>
                      <a:pt x="0" y="0"/>
                    </a:moveTo>
                    <a:lnTo>
                      <a:pt x="36000" y="120000"/>
                    </a:lnTo>
                    <a:lnTo>
                      <a:pt x="60000" y="60000"/>
                    </a:lnTo>
                    <a:lnTo>
                      <a:pt x="84000" y="120000"/>
                    </a:lnTo>
                    <a:lnTo>
                      <a:pt x="120000" y="0"/>
                    </a:lnTo>
                  </a:path>
                </a:pathLst>
              </a:custGeom>
              <a:solidFill>
                <a:srgbClr val="000000">
                  <a:alpha val="0"/>
                </a:srgbClr>
              </a:solidFill>
              <a:ln w="28575" cap="rnd" cmpd="sng">
                <a:solidFill>
                  <a:srgbClr val="1A1A24"/>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grpSp>
        <p:cxnSp>
          <p:nvCxnSpPr>
            <p:cNvPr id="315" name="Google Shape;315;p20"/>
            <p:cNvCxnSpPr/>
            <p:nvPr/>
          </p:nvCxnSpPr>
          <p:spPr>
            <a:xfrm>
              <a:off x="381000" y="952500"/>
              <a:ext cx="8382000" cy="0"/>
            </a:xfrm>
            <a:prstGeom prst="straightConnector1">
              <a:avLst/>
            </a:prstGeom>
            <a:solidFill>
              <a:srgbClr val="FFFFFF"/>
            </a:solidFill>
            <a:ln w="28575" cap="flat" cmpd="sng">
              <a:solidFill>
                <a:srgbClr val="1A1A24"/>
              </a:solidFill>
              <a:prstDash val="solid"/>
              <a:round/>
              <a:headEnd type="none" w="sm" len="sm"/>
              <a:tailEnd type="none" w="sm" len="sm"/>
            </a:ln>
          </p:spPr>
        </p:cxnSp>
      </p:grpSp>
      <p:sp>
        <p:nvSpPr>
          <p:cNvPr id="316" name="Google Shape;316;p20"/>
          <p:cNvSpPr txBox="1"/>
          <p:nvPr/>
        </p:nvSpPr>
        <p:spPr>
          <a:xfrm>
            <a:off x="904875" y="285750"/>
            <a:ext cx="7858200" cy="5715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2400" b="1">
                <a:solidFill>
                  <a:srgbClr val="1A1A24"/>
                </a:solidFill>
                <a:latin typeface="Space Grotesk"/>
                <a:ea typeface="Space Grotesk"/>
                <a:cs typeface="Space Grotesk"/>
                <a:sym typeface="Space Grotesk"/>
              </a:rPr>
              <a:t>Overtime and Low Satisfaction Drive Attrition</a:t>
            </a:r>
            <a:endParaRPr sz="2400" b="1">
              <a:solidFill>
                <a:srgbClr val="1A1A24"/>
              </a:solidFill>
              <a:latin typeface="Space Grotesk"/>
              <a:ea typeface="Space Grotesk"/>
              <a:cs typeface="Space Grotesk"/>
              <a:sym typeface="Space Grotesk"/>
            </a:endParaRPr>
          </a:p>
        </p:txBody>
      </p:sp>
      <p:grpSp>
        <p:nvGrpSpPr>
          <p:cNvPr id="317" name="Google Shape;317;p20"/>
          <p:cNvGrpSpPr/>
          <p:nvPr/>
        </p:nvGrpSpPr>
        <p:grpSpPr>
          <a:xfrm>
            <a:off x="381000" y="1238250"/>
            <a:ext cx="4076700" cy="3600600"/>
            <a:chOff x="0" y="0"/>
            <a:chExt cx="4076700" cy="3600600"/>
          </a:xfrm>
        </p:grpSpPr>
        <p:sp>
          <p:nvSpPr>
            <p:cNvPr id="318" name="Google Shape;318;p20"/>
            <p:cNvSpPr/>
            <p:nvPr/>
          </p:nvSpPr>
          <p:spPr>
            <a:xfrm>
              <a:off x="76200" y="76200"/>
              <a:ext cx="4000500" cy="3524400"/>
            </a:xfrm>
            <a:prstGeom prst="roundRect">
              <a:avLst>
                <a:gd name="adj" fmla="val 4324"/>
              </a:avLst>
            </a:prstGeom>
            <a:solidFill>
              <a:srgbClr val="1A1A24"/>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19" name="Google Shape;319;p20"/>
            <p:cNvSpPr/>
            <p:nvPr/>
          </p:nvSpPr>
          <p:spPr>
            <a:xfrm>
              <a:off x="0" y="0"/>
              <a:ext cx="4000500" cy="3524400"/>
            </a:xfrm>
            <a:prstGeom prst="roundRect">
              <a:avLst>
                <a:gd name="adj" fmla="val 4324"/>
              </a:avLst>
            </a:prstGeom>
            <a:solidFill>
              <a:srgbClr val="FFFFFF"/>
            </a:solidFill>
            <a:ln w="28575" cap="flat" cmpd="sng">
              <a:solidFill>
                <a:srgbClr val="1A1A24"/>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20" name="Google Shape;320;p20"/>
            <p:cNvSpPr txBox="1"/>
            <p:nvPr/>
          </p:nvSpPr>
          <p:spPr>
            <a:xfrm>
              <a:off x="285750" y="238125"/>
              <a:ext cx="3429000" cy="2859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1000" b="1">
                  <a:solidFill>
                    <a:srgbClr val="FF6B6B"/>
                  </a:solidFill>
                  <a:latin typeface="Plus Jakarta Sans"/>
                  <a:ea typeface="Plus Jakarta Sans"/>
                  <a:cs typeface="Plus Jakarta Sans"/>
                  <a:sym typeface="Plus Jakarta Sans"/>
                </a:rPr>
                <a:t>IDENTIFIED AT-RISK POPULATION</a:t>
              </a:r>
              <a:endParaRPr sz="1000" b="1">
                <a:solidFill>
                  <a:srgbClr val="FF6B6B"/>
                </a:solidFill>
                <a:latin typeface="Plus Jakarta Sans"/>
                <a:ea typeface="Plus Jakarta Sans"/>
                <a:cs typeface="Plus Jakarta Sans"/>
                <a:sym typeface="Plus Jakarta Sans"/>
              </a:endParaRPr>
            </a:p>
          </p:txBody>
        </p:sp>
        <p:sp>
          <p:nvSpPr>
            <p:cNvPr id="321" name="Google Shape;321;p20"/>
            <p:cNvSpPr txBox="1"/>
            <p:nvPr/>
          </p:nvSpPr>
          <p:spPr>
            <a:xfrm>
              <a:off x="285750" y="476250"/>
              <a:ext cx="3429000" cy="6192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3720" b="1">
                  <a:solidFill>
                    <a:srgbClr val="FF6B6B"/>
                  </a:solidFill>
                  <a:latin typeface="Space Grotesk"/>
                  <a:ea typeface="Space Grotesk"/>
                  <a:cs typeface="Space Grotesk"/>
                  <a:sym typeface="Space Grotesk"/>
                </a:rPr>
                <a:t>288</a:t>
              </a:r>
              <a:endParaRPr sz="3720" b="1">
                <a:solidFill>
                  <a:srgbClr val="FF6B6B"/>
                </a:solidFill>
                <a:latin typeface="Space Grotesk"/>
                <a:ea typeface="Space Grotesk"/>
                <a:cs typeface="Space Grotesk"/>
                <a:sym typeface="Space Grotesk"/>
              </a:endParaRPr>
            </a:p>
          </p:txBody>
        </p:sp>
        <p:sp>
          <p:nvSpPr>
            <p:cNvPr id="322" name="Google Shape;322;p20"/>
            <p:cNvSpPr txBox="1"/>
            <p:nvPr/>
          </p:nvSpPr>
          <p:spPr>
            <a:xfrm>
              <a:off x="285750" y="1095375"/>
              <a:ext cx="3429000" cy="2859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1600" b="1">
                  <a:solidFill>
                    <a:srgbClr val="1A1A24"/>
                  </a:solidFill>
                  <a:latin typeface="Space Grotesk"/>
                  <a:ea typeface="Space Grotesk"/>
                  <a:cs typeface="Space Grotesk"/>
                  <a:sym typeface="Space Grotesk"/>
                </a:rPr>
                <a:t>High-Risk Employees Identified</a:t>
              </a:r>
              <a:endParaRPr sz="1600" b="1">
                <a:solidFill>
                  <a:srgbClr val="1A1A24"/>
                </a:solidFill>
                <a:latin typeface="Space Grotesk"/>
                <a:ea typeface="Space Grotesk"/>
                <a:cs typeface="Space Grotesk"/>
                <a:sym typeface="Space Grotesk"/>
              </a:endParaRPr>
            </a:p>
          </p:txBody>
        </p:sp>
        <p:grpSp>
          <p:nvGrpSpPr>
            <p:cNvPr id="323" name="Google Shape;323;p20"/>
            <p:cNvGrpSpPr/>
            <p:nvPr/>
          </p:nvGrpSpPr>
          <p:grpSpPr>
            <a:xfrm>
              <a:off x="285750" y="1619250"/>
              <a:ext cx="3429000" cy="1286025"/>
              <a:chOff x="0" y="142875"/>
              <a:chExt cx="3429000" cy="1286025"/>
            </a:xfrm>
          </p:grpSpPr>
          <p:sp>
            <p:nvSpPr>
              <p:cNvPr id="324" name="Google Shape;324;p20"/>
              <p:cNvSpPr/>
              <p:nvPr/>
            </p:nvSpPr>
            <p:spPr>
              <a:xfrm>
                <a:off x="0" y="381000"/>
                <a:ext cx="571500" cy="1047900"/>
              </a:xfrm>
              <a:prstGeom prst="roundRect">
                <a:avLst>
                  <a:gd name="adj" fmla="val 6666"/>
                </a:avLst>
              </a:prstGeom>
              <a:solidFill>
                <a:srgbClr val="FF6B6B"/>
              </a:solidFill>
              <a:ln w="19050" cap="flat" cmpd="sng">
                <a:solidFill>
                  <a:srgbClr val="1A1A24"/>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25" name="Google Shape;325;p20"/>
              <p:cNvSpPr txBox="1"/>
              <p:nvPr/>
            </p:nvSpPr>
            <p:spPr>
              <a:xfrm>
                <a:off x="0" y="142875"/>
                <a:ext cx="571500" cy="1905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 sz="1000" b="1">
                    <a:solidFill>
                      <a:srgbClr val="1A1A24"/>
                    </a:solidFill>
                    <a:latin typeface="Plus Jakarta Sans"/>
                    <a:ea typeface="Plus Jakarta Sans"/>
                    <a:cs typeface="Plus Jakarta Sans"/>
                    <a:sym typeface="Plus Jakarta Sans"/>
                  </a:rPr>
                  <a:t>30.2%</a:t>
                </a:r>
                <a:endParaRPr sz="1000" b="1">
                  <a:solidFill>
                    <a:srgbClr val="1A1A24"/>
                  </a:solidFill>
                  <a:latin typeface="Plus Jakarta Sans"/>
                  <a:ea typeface="Plus Jakarta Sans"/>
                  <a:cs typeface="Plus Jakarta Sans"/>
                  <a:sym typeface="Plus Jakarta Sans"/>
                </a:endParaRPr>
              </a:p>
            </p:txBody>
          </p:sp>
          <p:sp>
            <p:nvSpPr>
              <p:cNvPr id="326" name="Google Shape;326;p20"/>
              <p:cNvSpPr/>
              <p:nvPr/>
            </p:nvSpPr>
            <p:spPr>
              <a:xfrm>
                <a:off x="809625" y="533400"/>
                <a:ext cx="571500" cy="895500"/>
              </a:xfrm>
              <a:prstGeom prst="roundRect">
                <a:avLst>
                  <a:gd name="adj" fmla="val 6666"/>
                </a:avLst>
              </a:prstGeom>
              <a:solidFill>
                <a:srgbClr val="FFD93D"/>
              </a:solidFill>
              <a:ln w="19050" cap="flat" cmpd="sng">
                <a:solidFill>
                  <a:srgbClr val="1A1A24"/>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27" name="Google Shape;327;p20"/>
              <p:cNvSpPr txBox="1"/>
              <p:nvPr/>
            </p:nvSpPr>
            <p:spPr>
              <a:xfrm>
                <a:off x="809625" y="295275"/>
                <a:ext cx="571500" cy="1905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 sz="1000" b="1">
                    <a:solidFill>
                      <a:srgbClr val="1A1A24"/>
                    </a:solidFill>
                    <a:latin typeface="Plus Jakarta Sans"/>
                    <a:ea typeface="Plus Jakarta Sans"/>
                    <a:cs typeface="Plus Jakarta Sans"/>
                    <a:sym typeface="Plus Jakarta Sans"/>
                  </a:rPr>
                  <a:t>25.8%</a:t>
                </a:r>
                <a:endParaRPr sz="1000" b="1">
                  <a:solidFill>
                    <a:srgbClr val="1A1A24"/>
                  </a:solidFill>
                  <a:latin typeface="Plus Jakarta Sans"/>
                  <a:ea typeface="Plus Jakarta Sans"/>
                  <a:cs typeface="Plus Jakarta Sans"/>
                  <a:sym typeface="Plus Jakarta Sans"/>
                </a:endParaRPr>
              </a:p>
            </p:txBody>
          </p:sp>
          <p:sp>
            <p:nvSpPr>
              <p:cNvPr id="328" name="Google Shape;328;p20"/>
              <p:cNvSpPr/>
              <p:nvPr/>
            </p:nvSpPr>
            <p:spPr>
              <a:xfrm>
                <a:off x="1619250" y="666750"/>
                <a:ext cx="571500" cy="762000"/>
              </a:xfrm>
              <a:prstGeom prst="roundRect">
                <a:avLst>
                  <a:gd name="adj" fmla="val 6666"/>
                </a:avLst>
              </a:prstGeom>
              <a:solidFill>
                <a:srgbClr val="4ECDC4"/>
              </a:solidFill>
              <a:ln w="19050" cap="flat" cmpd="sng">
                <a:solidFill>
                  <a:srgbClr val="1A1A24"/>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29" name="Google Shape;329;p20"/>
              <p:cNvSpPr txBox="1"/>
              <p:nvPr/>
            </p:nvSpPr>
            <p:spPr>
              <a:xfrm>
                <a:off x="1619250" y="428625"/>
                <a:ext cx="571500" cy="1905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 sz="1000" b="1">
                    <a:solidFill>
                      <a:srgbClr val="1A1A24"/>
                    </a:solidFill>
                    <a:latin typeface="Plus Jakarta Sans"/>
                    <a:ea typeface="Plus Jakarta Sans"/>
                    <a:cs typeface="Plus Jakarta Sans"/>
                    <a:sym typeface="Plus Jakarta Sans"/>
                  </a:rPr>
                  <a:t>22.1%</a:t>
                </a:r>
                <a:endParaRPr sz="1000" b="1">
                  <a:solidFill>
                    <a:srgbClr val="1A1A24"/>
                  </a:solidFill>
                  <a:latin typeface="Plus Jakarta Sans"/>
                  <a:ea typeface="Plus Jakarta Sans"/>
                  <a:cs typeface="Plus Jakarta Sans"/>
                  <a:sym typeface="Plus Jakarta Sans"/>
                </a:endParaRPr>
              </a:p>
            </p:txBody>
          </p:sp>
          <p:sp>
            <p:nvSpPr>
              <p:cNvPr id="330" name="Google Shape;330;p20"/>
              <p:cNvSpPr/>
              <p:nvPr/>
            </p:nvSpPr>
            <p:spPr>
              <a:xfrm>
                <a:off x="2428875" y="752475"/>
                <a:ext cx="571500" cy="676200"/>
              </a:xfrm>
              <a:prstGeom prst="roundRect">
                <a:avLst>
                  <a:gd name="adj" fmla="val 6666"/>
                </a:avLst>
              </a:prstGeom>
              <a:solidFill>
                <a:srgbClr val="C8B6FF"/>
              </a:solidFill>
              <a:ln w="19050" cap="flat" cmpd="sng">
                <a:solidFill>
                  <a:srgbClr val="1A1A24"/>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31" name="Google Shape;331;p20"/>
              <p:cNvSpPr txBox="1"/>
              <p:nvPr/>
            </p:nvSpPr>
            <p:spPr>
              <a:xfrm>
                <a:off x="2428875" y="514350"/>
                <a:ext cx="571500" cy="1905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 sz="1000" b="1">
                    <a:solidFill>
                      <a:srgbClr val="1A1A24"/>
                    </a:solidFill>
                    <a:latin typeface="Plus Jakarta Sans"/>
                    <a:ea typeface="Plus Jakarta Sans"/>
                    <a:cs typeface="Plus Jakarta Sans"/>
                    <a:sym typeface="Plus Jakarta Sans"/>
                  </a:rPr>
                  <a:t>19.5%</a:t>
                </a:r>
                <a:endParaRPr sz="1000" b="1">
                  <a:solidFill>
                    <a:srgbClr val="1A1A24"/>
                  </a:solidFill>
                  <a:latin typeface="Plus Jakarta Sans"/>
                  <a:ea typeface="Plus Jakarta Sans"/>
                  <a:cs typeface="Plus Jakarta Sans"/>
                  <a:sym typeface="Plus Jakarta Sans"/>
                </a:endParaRPr>
              </a:p>
            </p:txBody>
          </p:sp>
          <p:cxnSp>
            <p:nvCxnSpPr>
              <p:cNvPr id="332" name="Google Shape;332;p20"/>
              <p:cNvCxnSpPr/>
              <p:nvPr/>
            </p:nvCxnSpPr>
            <p:spPr>
              <a:xfrm>
                <a:off x="0" y="1428750"/>
                <a:ext cx="3429000" cy="0"/>
              </a:xfrm>
              <a:prstGeom prst="straightConnector1">
                <a:avLst/>
              </a:prstGeom>
              <a:solidFill>
                <a:srgbClr val="FFFFFF"/>
              </a:solidFill>
              <a:ln w="28575" cap="flat" cmpd="sng">
                <a:solidFill>
                  <a:srgbClr val="1A1A24"/>
                </a:solidFill>
                <a:prstDash val="solid"/>
                <a:round/>
                <a:headEnd type="none" w="sm" len="sm"/>
                <a:tailEnd type="none" w="sm" len="sm"/>
              </a:ln>
            </p:spPr>
          </p:cxnSp>
        </p:grpSp>
        <p:sp>
          <p:nvSpPr>
            <p:cNvPr id="333" name="Google Shape;333;p20"/>
            <p:cNvSpPr txBox="1"/>
            <p:nvPr/>
          </p:nvSpPr>
          <p:spPr>
            <a:xfrm>
              <a:off x="285750" y="3048000"/>
              <a:ext cx="3429000" cy="3810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1000" b="0">
                  <a:solidFill>
                    <a:srgbClr val="4A4A5A"/>
                  </a:solidFill>
                  <a:latin typeface="Plus Jakarta Sans"/>
                  <a:ea typeface="Plus Jakarta Sans"/>
                  <a:cs typeface="Plus Jakarta Sans"/>
                  <a:sym typeface="Plus Jakarta Sans"/>
                </a:rPr>
                <a:t>Monitoring these key indicators enables proactive and targeted retention strategies.</a:t>
              </a:r>
              <a:endParaRPr sz="1000" b="0">
                <a:solidFill>
                  <a:srgbClr val="4A4A5A"/>
                </a:solidFill>
                <a:latin typeface="Plus Jakarta Sans"/>
                <a:ea typeface="Plus Jakarta Sans"/>
                <a:cs typeface="Plus Jakarta Sans"/>
                <a:sym typeface="Plus Jakarta Sans"/>
              </a:endParaRPr>
            </a:p>
          </p:txBody>
        </p:sp>
      </p:grpSp>
      <p:grpSp>
        <p:nvGrpSpPr>
          <p:cNvPr id="334" name="Google Shape;334;p20"/>
          <p:cNvGrpSpPr/>
          <p:nvPr/>
        </p:nvGrpSpPr>
        <p:grpSpPr>
          <a:xfrm>
            <a:off x="4762500" y="1238250"/>
            <a:ext cx="4076700" cy="3600600"/>
            <a:chOff x="0" y="0"/>
            <a:chExt cx="4076700" cy="3600600"/>
          </a:xfrm>
        </p:grpSpPr>
        <p:sp>
          <p:nvSpPr>
            <p:cNvPr id="335" name="Google Shape;335;p20"/>
            <p:cNvSpPr/>
            <p:nvPr/>
          </p:nvSpPr>
          <p:spPr>
            <a:xfrm>
              <a:off x="76200" y="76200"/>
              <a:ext cx="4000500" cy="3524400"/>
            </a:xfrm>
            <a:prstGeom prst="roundRect">
              <a:avLst>
                <a:gd name="adj" fmla="val 4324"/>
              </a:avLst>
            </a:prstGeom>
            <a:solidFill>
              <a:srgbClr val="1A1A24"/>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36" name="Google Shape;336;p20"/>
            <p:cNvSpPr/>
            <p:nvPr/>
          </p:nvSpPr>
          <p:spPr>
            <a:xfrm>
              <a:off x="0" y="0"/>
              <a:ext cx="4000500" cy="3524400"/>
            </a:xfrm>
            <a:prstGeom prst="roundRect">
              <a:avLst>
                <a:gd name="adj" fmla="val 4324"/>
              </a:avLst>
            </a:prstGeom>
            <a:solidFill>
              <a:srgbClr val="FFFFFF"/>
            </a:solidFill>
            <a:ln w="28575" cap="flat" cmpd="sng">
              <a:solidFill>
                <a:srgbClr val="1A1A24"/>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37" name="Google Shape;337;p20"/>
            <p:cNvSpPr txBox="1"/>
            <p:nvPr/>
          </p:nvSpPr>
          <p:spPr>
            <a:xfrm>
              <a:off x="285750" y="238125"/>
              <a:ext cx="3429000" cy="3333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1600" b="1">
                  <a:solidFill>
                    <a:srgbClr val="1A1A24"/>
                  </a:solidFill>
                  <a:latin typeface="Space Grotesk"/>
                  <a:ea typeface="Space Grotesk"/>
                  <a:cs typeface="Space Grotesk"/>
                  <a:sym typeface="Space Grotesk"/>
                </a:rPr>
                <a:t>Primary Attrition Risk Drivers</a:t>
              </a:r>
              <a:endParaRPr sz="1600" b="1">
                <a:solidFill>
                  <a:srgbClr val="1A1A24"/>
                </a:solidFill>
                <a:latin typeface="Space Grotesk"/>
                <a:ea typeface="Space Grotesk"/>
                <a:cs typeface="Space Grotesk"/>
                <a:sym typeface="Space Grotesk"/>
              </a:endParaRPr>
            </a:p>
          </p:txBody>
        </p:sp>
        <p:grpSp>
          <p:nvGrpSpPr>
            <p:cNvPr id="338" name="Google Shape;338;p20"/>
            <p:cNvGrpSpPr/>
            <p:nvPr/>
          </p:nvGrpSpPr>
          <p:grpSpPr>
            <a:xfrm>
              <a:off x="285750" y="666750"/>
              <a:ext cx="3429000" cy="523800"/>
              <a:chOff x="0" y="0"/>
              <a:chExt cx="3429000" cy="523800"/>
            </a:xfrm>
          </p:grpSpPr>
          <p:sp>
            <p:nvSpPr>
              <p:cNvPr id="339" name="Google Shape;339;p20"/>
              <p:cNvSpPr/>
              <p:nvPr/>
            </p:nvSpPr>
            <p:spPr>
              <a:xfrm>
                <a:off x="0" y="0"/>
                <a:ext cx="342900" cy="342900"/>
              </a:xfrm>
              <a:prstGeom prst="ellipse">
                <a:avLst/>
              </a:prstGeom>
              <a:solidFill>
                <a:srgbClr val="FF6B6B"/>
              </a:solidFill>
              <a:ln w="19050" cap="flat" cmpd="sng">
                <a:solidFill>
                  <a:srgbClr val="1A1A24"/>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40" name="Google Shape;340;p20"/>
              <p:cNvSpPr/>
              <p:nvPr/>
            </p:nvSpPr>
            <p:spPr>
              <a:xfrm>
                <a:off x="171450" y="85725"/>
                <a:ext cx="0" cy="162000"/>
              </a:xfrm>
              <a:custGeom>
                <a:avLst/>
                <a:gdLst/>
                <a:ahLst/>
                <a:cxnLst/>
                <a:rect l="l" t="t" r="r" b="b"/>
                <a:pathLst>
                  <a:path w="120000" h="120000" extrusionOk="0">
                    <a:moveTo>
                      <a:pt x="0" y="0"/>
                    </a:moveTo>
                    <a:lnTo>
                      <a:pt x="0" y="77647"/>
                    </a:lnTo>
                    <a:moveTo>
                      <a:pt x="0" y="120000"/>
                    </a:moveTo>
                    <a:lnTo>
                      <a:pt x="120000" y="120000"/>
                    </a:lnTo>
                  </a:path>
                </a:pathLst>
              </a:custGeom>
              <a:solidFill>
                <a:srgbClr val="000000">
                  <a:alpha val="0"/>
                </a:srgbClr>
              </a:solidFill>
              <a:ln w="28575" cap="rnd" cmpd="sng">
                <a:solidFill>
                  <a:srgbClr val="1A1A24"/>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41" name="Google Shape;341;p20"/>
              <p:cNvSpPr txBox="1"/>
              <p:nvPr/>
            </p:nvSpPr>
            <p:spPr>
              <a:xfrm>
                <a:off x="457200" y="0"/>
                <a:ext cx="2971800" cy="5238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1200" b="1">
                    <a:solidFill>
                      <a:srgbClr val="1A1A24"/>
                    </a:solidFill>
                    <a:latin typeface="Plus Jakarta Sans"/>
                    <a:ea typeface="Plus Jakarta Sans"/>
                    <a:cs typeface="Plus Jakarta Sans"/>
                    <a:sym typeface="Plus Jakarta Sans"/>
                  </a:rPr>
                  <a:t>Overtime Work </a:t>
                </a:r>
                <a:r>
                  <a:rPr lang="en" sz="1200" b="1">
                    <a:solidFill>
                      <a:srgbClr val="FF6B6B"/>
                    </a:solidFill>
                    <a:latin typeface="Plus Jakarta Sans"/>
                    <a:ea typeface="Plus Jakarta Sans"/>
                    <a:cs typeface="Plus Jakarta Sans"/>
                    <a:sym typeface="Plus Jakarta Sans"/>
                  </a:rPr>
                  <a:t>(30.2%)</a:t>
                </a:r>
                <a:endParaRPr sz="1200" b="1">
                  <a:solidFill>
                    <a:srgbClr val="1A1A24"/>
                  </a:solidFill>
                  <a:latin typeface="Plus Jakarta Sans"/>
                  <a:ea typeface="Plus Jakarta Sans"/>
                  <a:cs typeface="Plus Jakarta Sans"/>
                  <a:sym typeface="Plus Jakarta Sans"/>
                </a:endParaRPr>
              </a:p>
              <a:p>
                <a:pPr marL="0" lvl="0" indent="0" algn="l" rtl="0">
                  <a:spcBef>
                    <a:spcPts val="0"/>
                  </a:spcBef>
                  <a:spcAft>
                    <a:spcPts val="0"/>
                  </a:spcAft>
                  <a:buNone/>
                </a:pPr>
                <a:r>
                  <a:rPr lang="en" sz="1100" b="0">
                    <a:solidFill>
                      <a:srgbClr val="4A4A5A"/>
                    </a:solidFill>
                    <a:latin typeface="Plus Jakarta Sans"/>
                    <a:ea typeface="Plus Jakarta Sans"/>
                    <a:cs typeface="Plus Jakarta Sans"/>
                    <a:sym typeface="Plus Jakarta Sans"/>
                  </a:rPr>
                  <a:t>Primary contributor to employee burnout and exit intent.</a:t>
                </a:r>
                <a:endParaRPr sz="1100" b="0">
                  <a:solidFill>
                    <a:srgbClr val="4A4A5A"/>
                  </a:solidFill>
                  <a:latin typeface="Plus Jakarta Sans"/>
                  <a:ea typeface="Plus Jakarta Sans"/>
                  <a:cs typeface="Plus Jakarta Sans"/>
                  <a:sym typeface="Plus Jakarta Sans"/>
                </a:endParaRPr>
              </a:p>
            </p:txBody>
          </p:sp>
        </p:grpSp>
        <p:grpSp>
          <p:nvGrpSpPr>
            <p:cNvPr id="342" name="Google Shape;342;p20"/>
            <p:cNvGrpSpPr/>
            <p:nvPr/>
          </p:nvGrpSpPr>
          <p:grpSpPr>
            <a:xfrm>
              <a:off x="285750" y="1333500"/>
              <a:ext cx="3429000" cy="523800"/>
              <a:chOff x="0" y="0"/>
              <a:chExt cx="3429000" cy="523800"/>
            </a:xfrm>
          </p:grpSpPr>
          <p:sp>
            <p:nvSpPr>
              <p:cNvPr id="343" name="Google Shape;343;p20"/>
              <p:cNvSpPr/>
              <p:nvPr/>
            </p:nvSpPr>
            <p:spPr>
              <a:xfrm>
                <a:off x="0" y="0"/>
                <a:ext cx="342900" cy="342900"/>
              </a:xfrm>
              <a:prstGeom prst="ellipse">
                <a:avLst/>
              </a:prstGeom>
              <a:solidFill>
                <a:srgbClr val="FFD93D"/>
              </a:solidFill>
              <a:ln w="19050" cap="flat" cmpd="sng">
                <a:solidFill>
                  <a:srgbClr val="1A1A24"/>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44" name="Google Shape;344;p20"/>
              <p:cNvSpPr/>
              <p:nvPr/>
            </p:nvSpPr>
            <p:spPr>
              <a:xfrm>
                <a:off x="171450" y="85725"/>
                <a:ext cx="0" cy="162000"/>
              </a:xfrm>
              <a:custGeom>
                <a:avLst/>
                <a:gdLst/>
                <a:ahLst/>
                <a:cxnLst/>
                <a:rect l="l" t="t" r="r" b="b"/>
                <a:pathLst>
                  <a:path w="120000" h="120000" extrusionOk="0">
                    <a:moveTo>
                      <a:pt x="0" y="0"/>
                    </a:moveTo>
                    <a:lnTo>
                      <a:pt x="0" y="77647"/>
                    </a:lnTo>
                    <a:moveTo>
                      <a:pt x="0" y="120000"/>
                    </a:moveTo>
                    <a:lnTo>
                      <a:pt x="120000" y="120000"/>
                    </a:lnTo>
                  </a:path>
                </a:pathLst>
              </a:custGeom>
              <a:solidFill>
                <a:srgbClr val="000000">
                  <a:alpha val="0"/>
                </a:srgbClr>
              </a:solidFill>
              <a:ln w="28575" cap="rnd" cmpd="sng">
                <a:solidFill>
                  <a:srgbClr val="1A1A24"/>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45" name="Google Shape;345;p20"/>
              <p:cNvSpPr txBox="1"/>
              <p:nvPr/>
            </p:nvSpPr>
            <p:spPr>
              <a:xfrm>
                <a:off x="457200" y="0"/>
                <a:ext cx="2971800" cy="5238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1200" b="1">
                    <a:solidFill>
                      <a:srgbClr val="1A1A24"/>
                    </a:solidFill>
                    <a:latin typeface="Plus Jakarta Sans"/>
                    <a:ea typeface="Plus Jakarta Sans"/>
                    <a:cs typeface="Plus Jakarta Sans"/>
                    <a:sym typeface="Plus Jakarta Sans"/>
                  </a:rPr>
                  <a:t>Low Job Satisfaction (25.8%)</a:t>
                </a:r>
                <a:endParaRPr sz="1200" b="1">
                  <a:solidFill>
                    <a:srgbClr val="1A1A24"/>
                  </a:solidFill>
                  <a:latin typeface="Plus Jakarta Sans"/>
                  <a:ea typeface="Plus Jakarta Sans"/>
                  <a:cs typeface="Plus Jakarta Sans"/>
                  <a:sym typeface="Plus Jakarta Sans"/>
                </a:endParaRPr>
              </a:p>
              <a:p>
                <a:pPr marL="0" lvl="0" indent="0" algn="l" rtl="0">
                  <a:spcBef>
                    <a:spcPts val="0"/>
                  </a:spcBef>
                  <a:spcAft>
                    <a:spcPts val="0"/>
                  </a:spcAft>
                  <a:buNone/>
                </a:pPr>
                <a:r>
                  <a:rPr lang="en" sz="1100" b="0">
                    <a:solidFill>
                      <a:srgbClr val="4A4A5A"/>
                    </a:solidFill>
                    <a:latin typeface="Plus Jakarta Sans"/>
                    <a:ea typeface="Plus Jakarta Sans"/>
                    <a:cs typeface="Plus Jakarta Sans"/>
                    <a:sym typeface="Plus Jakarta Sans"/>
                  </a:rPr>
                  <a:t>Direct impact on engagement and long-term retention.</a:t>
                </a:r>
                <a:endParaRPr sz="1100" b="0">
                  <a:solidFill>
                    <a:srgbClr val="4A4A5A"/>
                  </a:solidFill>
                  <a:latin typeface="Plus Jakarta Sans"/>
                  <a:ea typeface="Plus Jakarta Sans"/>
                  <a:cs typeface="Plus Jakarta Sans"/>
                  <a:sym typeface="Plus Jakarta Sans"/>
                </a:endParaRPr>
              </a:p>
            </p:txBody>
          </p:sp>
        </p:grpSp>
        <p:grpSp>
          <p:nvGrpSpPr>
            <p:cNvPr id="346" name="Google Shape;346;p20"/>
            <p:cNvGrpSpPr/>
            <p:nvPr/>
          </p:nvGrpSpPr>
          <p:grpSpPr>
            <a:xfrm>
              <a:off x="285750" y="2000250"/>
              <a:ext cx="3429000" cy="523800"/>
              <a:chOff x="0" y="0"/>
              <a:chExt cx="3429000" cy="523800"/>
            </a:xfrm>
          </p:grpSpPr>
          <p:sp>
            <p:nvSpPr>
              <p:cNvPr id="347" name="Google Shape;347;p20"/>
              <p:cNvSpPr/>
              <p:nvPr/>
            </p:nvSpPr>
            <p:spPr>
              <a:xfrm>
                <a:off x="0" y="0"/>
                <a:ext cx="342900" cy="342900"/>
              </a:xfrm>
              <a:prstGeom prst="ellipse">
                <a:avLst/>
              </a:prstGeom>
              <a:solidFill>
                <a:srgbClr val="4ECDC4"/>
              </a:solidFill>
              <a:ln w="19050" cap="flat" cmpd="sng">
                <a:solidFill>
                  <a:srgbClr val="1A1A24"/>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48" name="Google Shape;348;p20"/>
              <p:cNvSpPr/>
              <p:nvPr/>
            </p:nvSpPr>
            <p:spPr>
              <a:xfrm>
                <a:off x="171450" y="85725"/>
                <a:ext cx="0" cy="162000"/>
              </a:xfrm>
              <a:custGeom>
                <a:avLst/>
                <a:gdLst/>
                <a:ahLst/>
                <a:cxnLst/>
                <a:rect l="l" t="t" r="r" b="b"/>
                <a:pathLst>
                  <a:path w="120000" h="120000" extrusionOk="0">
                    <a:moveTo>
                      <a:pt x="0" y="0"/>
                    </a:moveTo>
                    <a:lnTo>
                      <a:pt x="0" y="77647"/>
                    </a:lnTo>
                    <a:moveTo>
                      <a:pt x="0" y="120000"/>
                    </a:moveTo>
                    <a:lnTo>
                      <a:pt x="120000" y="120000"/>
                    </a:lnTo>
                  </a:path>
                </a:pathLst>
              </a:custGeom>
              <a:solidFill>
                <a:srgbClr val="000000">
                  <a:alpha val="0"/>
                </a:srgbClr>
              </a:solidFill>
              <a:ln w="28575" cap="rnd" cmpd="sng">
                <a:solidFill>
                  <a:srgbClr val="1A1A24"/>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49" name="Google Shape;349;p20"/>
              <p:cNvSpPr txBox="1"/>
              <p:nvPr/>
            </p:nvSpPr>
            <p:spPr>
              <a:xfrm>
                <a:off x="457200" y="0"/>
                <a:ext cx="2971800" cy="5238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1200" b="1">
                    <a:solidFill>
                      <a:srgbClr val="1A1A24"/>
                    </a:solidFill>
                    <a:latin typeface="Plus Jakarta Sans"/>
                    <a:ea typeface="Plus Jakarta Sans"/>
                    <a:cs typeface="Plus Jakarta Sans"/>
                    <a:sym typeface="Plus Jakarta Sans"/>
                  </a:rPr>
                  <a:t>Lack of Promotion </a:t>
                </a:r>
                <a:r>
                  <a:rPr lang="en" sz="1200" b="1">
                    <a:solidFill>
                      <a:srgbClr val="4ECDC4"/>
                    </a:solidFill>
                    <a:latin typeface="Plus Jakarta Sans"/>
                    <a:ea typeface="Plus Jakarta Sans"/>
                    <a:cs typeface="Plus Jakarta Sans"/>
                    <a:sym typeface="Plus Jakarta Sans"/>
                  </a:rPr>
                  <a:t>(22.1%)</a:t>
                </a:r>
                <a:endParaRPr sz="1200" b="1">
                  <a:solidFill>
                    <a:srgbClr val="1A1A24"/>
                  </a:solidFill>
                  <a:latin typeface="Plus Jakarta Sans"/>
                  <a:ea typeface="Plus Jakarta Sans"/>
                  <a:cs typeface="Plus Jakarta Sans"/>
                  <a:sym typeface="Plus Jakarta Sans"/>
                </a:endParaRPr>
              </a:p>
              <a:p>
                <a:pPr marL="0" lvl="0" indent="0" algn="l" rtl="0">
                  <a:spcBef>
                    <a:spcPts val="0"/>
                  </a:spcBef>
                  <a:spcAft>
                    <a:spcPts val="0"/>
                  </a:spcAft>
                  <a:buNone/>
                </a:pPr>
                <a:r>
                  <a:rPr lang="en" sz="1100" b="0">
                    <a:solidFill>
                      <a:srgbClr val="4A4A5A"/>
                    </a:solidFill>
                    <a:latin typeface="Plus Jakarta Sans"/>
                    <a:ea typeface="Plus Jakarta Sans"/>
                    <a:cs typeface="Plus Jakarta Sans"/>
                    <a:sym typeface="Plus Jakarta Sans"/>
                  </a:rPr>
                  <a:t>Limited career progression drives talent to look externally.</a:t>
                </a:r>
                <a:endParaRPr sz="1100" b="0">
                  <a:solidFill>
                    <a:srgbClr val="4A4A5A"/>
                  </a:solidFill>
                  <a:latin typeface="Plus Jakarta Sans"/>
                  <a:ea typeface="Plus Jakarta Sans"/>
                  <a:cs typeface="Plus Jakarta Sans"/>
                  <a:sym typeface="Plus Jakarta Sans"/>
                </a:endParaRPr>
              </a:p>
            </p:txBody>
          </p:sp>
        </p:grpSp>
        <p:grpSp>
          <p:nvGrpSpPr>
            <p:cNvPr id="350" name="Google Shape;350;p20"/>
            <p:cNvGrpSpPr/>
            <p:nvPr/>
          </p:nvGrpSpPr>
          <p:grpSpPr>
            <a:xfrm>
              <a:off x="285750" y="2667000"/>
              <a:ext cx="3429000" cy="523800"/>
              <a:chOff x="0" y="0"/>
              <a:chExt cx="3429000" cy="523800"/>
            </a:xfrm>
          </p:grpSpPr>
          <p:sp>
            <p:nvSpPr>
              <p:cNvPr id="351" name="Google Shape;351;p20"/>
              <p:cNvSpPr/>
              <p:nvPr/>
            </p:nvSpPr>
            <p:spPr>
              <a:xfrm>
                <a:off x="0" y="0"/>
                <a:ext cx="342900" cy="342900"/>
              </a:xfrm>
              <a:prstGeom prst="ellipse">
                <a:avLst/>
              </a:prstGeom>
              <a:solidFill>
                <a:srgbClr val="C8B6FF"/>
              </a:solidFill>
              <a:ln w="19050" cap="flat" cmpd="sng">
                <a:solidFill>
                  <a:srgbClr val="1A1A24"/>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52" name="Google Shape;352;p20"/>
              <p:cNvSpPr/>
              <p:nvPr/>
            </p:nvSpPr>
            <p:spPr>
              <a:xfrm>
                <a:off x="171450" y="85725"/>
                <a:ext cx="0" cy="162000"/>
              </a:xfrm>
              <a:custGeom>
                <a:avLst/>
                <a:gdLst/>
                <a:ahLst/>
                <a:cxnLst/>
                <a:rect l="l" t="t" r="r" b="b"/>
                <a:pathLst>
                  <a:path w="120000" h="120000" extrusionOk="0">
                    <a:moveTo>
                      <a:pt x="0" y="0"/>
                    </a:moveTo>
                    <a:lnTo>
                      <a:pt x="0" y="77647"/>
                    </a:lnTo>
                    <a:moveTo>
                      <a:pt x="0" y="120000"/>
                    </a:moveTo>
                    <a:lnTo>
                      <a:pt x="120000" y="120000"/>
                    </a:lnTo>
                  </a:path>
                </a:pathLst>
              </a:custGeom>
              <a:solidFill>
                <a:srgbClr val="000000">
                  <a:alpha val="0"/>
                </a:srgbClr>
              </a:solidFill>
              <a:ln w="28575" cap="rnd" cmpd="sng">
                <a:solidFill>
                  <a:srgbClr val="1A1A24"/>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53" name="Google Shape;353;p20"/>
              <p:cNvSpPr txBox="1"/>
              <p:nvPr/>
            </p:nvSpPr>
            <p:spPr>
              <a:xfrm>
                <a:off x="457200" y="0"/>
                <a:ext cx="2971800" cy="5238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1200" b="1">
                    <a:solidFill>
                      <a:srgbClr val="1A1A24"/>
                    </a:solidFill>
                    <a:latin typeface="Plus Jakarta Sans"/>
                    <a:ea typeface="Plus Jakarta Sans"/>
                    <a:cs typeface="Plus Jakarta Sans"/>
                    <a:sym typeface="Plus Jakarta Sans"/>
                  </a:rPr>
                  <a:t>Junior-Level Roles </a:t>
                </a:r>
                <a:r>
                  <a:rPr lang="en" sz="1200" b="1">
                    <a:solidFill>
                      <a:srgbClr val="6C5CE7"/>
                    </a:solidFill>
                    <a:latin typeface="Plus Jakarta Sans"/>
                    <a:ea typeface="Plus Jakarta Sans"/>
                    <a:cs typeface="Plus Jakarta Sans"/>
                    <a:sym typeface="Plus Jakarta Sans"/>
                  </a:rPr>
                  <a:t>(19.5%)</a:t>
                </a:r>
                <a:endParaRPr sz="1200" b="1">
                  <a:solidFill>
                    <a:srgbClr val="1A1A24"/>
                  </a:solidFill>
                  <a:latin typeface="Plus Jakarta Sans"/>
                  <a:ea typeface="Plus Jakarta Sans"/>
                  <a:cs typeface="Plus Jakarta Sans"/>
                  <a:sym typeface="Plus Jakarta Sans"/>
                </a:endParaRPr>
              </a:p>
              <a:p>
                <a:pPr marL="0" lvl="0" indent="0" algn="l" rtl="0">
                  <a:spcBef>
                    <a:spcPts val="0"/>
                  </a:spcBef>
                  <a:spcAft>
                    <a:spcPts val="0"/>
                  </a:spcAft>
                  <a:buNone/>
                </a:pPr>
                <a:r>
                  <a:rPr lang="en" sz="1100" b="0">
                    <a:solidFill>
                      <a:srgbClr val="4A4A5A"/>
                    </a:solidFill>
                    <a:latin typeface="Plus Jakarta Sans"/>
                    <a:ea typeface="Plus Jakarta Sans"/>
                    <a:cs typeface="Plus Jakarta Sans"/>
                    <a:sym typeface="Plus Jakarta Sans"/>
                  </a:rPr>
                  <a:t>Higher turnover baseline requiring early-career support.</a:t>
                </a:r>
                <a:endParaRPr sz="1100" b="0">
                  <a:solidFill>
                    <a:srgbClr val="4A4A5A"/>
                  </a:solidFill>
                  <a:latin typeface="Plus Jakarta Sans"/>
                  <a:ea typeface="Plus Jakarta Sans"/>
                  <a:cs typeface="Plus Jakarta Sans"/>
                  <a:sym typeface="Plus Jakarta Sans"/>
                </a:endParaRPr>
              </a:p>
            </p:txBody>
          </p:sp>
        </p:grpSp>
      </p:grpSp>
    </p:spTree>
  </p:cSld>
  <p:clrMapOvr>
    <a:masterClrMapping/>
  </p:clrMapOvr>
  <mc:AlternateContent xmlns:mc="http://schemas.openxmlformats.org/markup-compatibility/2006">
    <mc:Choice xmlns:p14="http://schemas.microsoft.com/office/powerpoint/2010/main" Requires="p14">
      <p:transition spd="slow" p14:dur="2500">
        <p14:flash/>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57"/>
        <p:cNvGrpSpPr/>
        <p:nvPr/>
      </p:nvGrpSpPr>
      <p:grpSpPr>
        <a:xfrm>
          <a:off x="0" y="0"/>
          <a:ext cx="0" cy="0"/>
          <a:chOff x="0" y="0"/>
          <a:chExt cx="0" cy="0"/>
        </a:xfrm>
      </p:grpSpPr>
      <p:sp>
        <p:nvSpPr>
          <p:cNvPr id="358" name="Google Shape;358;p21"/>
          <p:cNvSpPr/>
          <p:nvPr/>
        </p:nvSpPr>
        <p:spPr>
          <a:xfrm>
            <a:off x="0" y="0"/>
            <a:ext cx="9144000" cy="5143500"/>
          </a:xfrm>
          <a:prstGeom prst="rect">
            <a:avLst/>
          </a:prstGeom>
          <a:solidFill>
            <a:srgbClr val="F4F4F0"/>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grpSp>
        <p:nvGrpSpPr>
          <p:cNvPr id="359" name="Google Shape;359;p21"/>
          <p:cNvGrpSpPr/>
          <p:nvPr/>
        </p:nvGrpSpPr>
        <p:grpSpPr>
          <a:xfrm>
            <a:off x="381000" y="238125"/>
            <a:ext cx="419100" cy="419100"/>
            <a:chOff x="0" y="0"/>
            <a:chExt cx="419100" cy="419100"/>
          </a:xfrm>
        </p:grpSpPr>
        <p:sp>
          <p:nvSpPr>
            <p:cNvPr id="360" name="Google Shape;360;p21"/>
            <p:cNvSpPr/>
            <p:nvPr/>
          </p:nvSpPr>
          <p:spPr>
            <a:xfrm>
              <a:off x="38100" y="38100"/>
              <a:ext cx="381000" cy="381000"/>
            </a:xfrm>
            <a:prstGeom prst="roundRect">
              <a:avLst>
                <a:gd name="adj" fmla="val 20000"/>
              </a:avLst>
            </a:prstGeom>
            <a:solidFill>
              <a:srgbClr val="1A1A24"/>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61" name="Google Shape;361;p21"/>
            <p:cNvSpPr/>
            <p:nvPr/>
          </p:nvSpPr>
          <p:spPr>
            <a:xfrm>
              <a:off x="0" y="0"/>
              <a:ext cx="381000" cy="381000"/>
            </a:xfrm>
            <a:prstGeom prst="roundRect">
              <a:avLst>
                <a:gd name="adj" fmla="val 20000"/>
              </a:avLst>
            </a:prstGeom>
            <a:solidFill>
              <a:srgbClr val="FFD93D"/>
            </a:solidFill>
            <a:ln w="28575" cap="flat" cmpd="sng">
              <a:solidFill>
                <a:srgbClr val="1A1A24"/>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62" name="Google Shape;362;p21"/>
            <p:cNvSpPr/>
            <p:nvPr/>
          </p:nvSpPr>
          <p:spPr>
            <a:xfrm>
              <a:off x="95250" y="114300"/>
              <a:ext cx="190500" cy="152400"/>
            </a:xfrm>
            <a:custGeom>
              <a:avLst/>
              <a:gdLst/>
              <a:ahLst/>
              <a:cxnLst/>
              <a:rect l="l" t="t" r="r" b="b"/>
              <a:pathLst>
                <a:path w="120000" h="120000" extrusionOk="0">
                  <a:moveTo>
                    <a:pt x="0" y="0"/>
                  </a:moveTo>
                  <a:lnTo>
                    <a:pt x="36000" y="120000"/>
                  </a:lnTo>
                  <a:lnTo>
                    <a:pt x="60000" y="60000"/>
                  </a:lnTo>
                  <a:lnTo>
                    <a:pt x="84000" y="120000"/>
                  </a:lnTo>
                  <a:lnTo>
                    <a:pt x="120000" y="0"/>
                  </a:lnTo>
                </a:path>
              </a:pathLst>
            </a:custGeom>
            <a:solidFill>
              <a:srgbClr val="000000">
                <a:alpha val="0"/>
              </a:srgbClr>
            </a:solidFill>
            <a:ln w="28575" cap="rnd" cmpd="sng">
              <a:solidFill>
                <a:srgbClr val="1A1A24"/>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grpSp>
      <p:sp>
        <p:nvSpPr>
          <p:cNvPr id="363" name="Google Shape;363;p21"/>
          <p:cNvSpPr txBox="1"/>
          <p:nvPr/>
        </p:nvSpPr>
        <p:spPr>
          <a:xfrm>
            <a:off x="904875" y="190500"/>
            <a:ext cx="7858200" cy="7143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2400" b="1">
                <a:solidFill>
                  <a:srgbClr val="1A1A24"/>
                </a:solidFill>
                <a:latin typeface="Space Grotesk"/>
                <a:ea typeface="Space Grotesk"/>
                <a:cs typeface="Space Grotesk"/>
                <a:sym typeface="Space Grotesk"/>
              </a:rPr>
              <a:t>127 Employees Eligible for Promotion</a:t>
            </a:r>
            <a:endParaRPr sz="2400" b="1">
              <a:solidFill>
                <a:srgbClr val="1A1A24"/>
              </a:solidFill>
              <a:latin typeface="Space Grotesk"/>
              <a:ea typeface="Space Grotesk"/>
              <a:cs typeface="Space Grotesk"/>
              <a:sym typeface="Space Grotesk"/>
            </a:endParaRPr>
          </a:p>
          <a:p>
            <a:pPr marL="0" lvl="0" indent="0" algn="l" rtl="0">
              <a:spcBef>
                <a:spcPts val="225"/>
              </a:spcBef>
              <a:spcAft>
                <a:spcPts val="0"/>
              </a:spcAft>
              <a:buNone/>
            </a:pPr>
            <a:r>
              <a:rPr lang="en" sz="1100" b="0">
                <a:solidFill>
                  <a:srgbClr val="4A4A5A"/>
                </a:solidFill>
                <a:latin typeface="Plus Jakarta Sans"/>
                <a:ea typeface="Plus Jakarta Sans"/>
                <a:cs typeface="Plus Jakarta Sans"/>
                <a:sym typeface="Plus Jakarta Sans"/>
              </a:rPr>
              <a:t>Performance metrics &amp; talent development overview</a:t>
            </a:r>
            <a:endParaRPr sz="1100" b="0">
              <a:solidFill>
                <a:srgbClr val="4A4A5A"/>
              </a:solidFill>
              <a:latin typeface="Plus Jakarta Sans"/>
              <a:ea typeface="Plus Jakarta Sans"/>
              <a:cs typeface="Plus Jakarta Sans"/>
              <a:sym typeface="Plus Jakarta Sans"/>
            </a:endParaRPr>
          </a:p>
        </p:txBody>
      </p:sp>
      <p:cxnSp>
        <p:nvCxnSpPr>
          <p:cNvPr id="364" name="Google Shape;364;p21"/>
          <p:cNvCxnSpPr/>
          <p:nvPr/>
        </p:nvCxnSpPr>
        <p:spPr>
          <a:xfrm>
            <a:off x="381000" y="1000125"/>
            <a:ext cx="8382000" cy="0"/>
          </a:xfrm>
          <a:prstGeom prst="straightConnector1">
            <a:avLst/>
          </a:prstGeom>
          <a:solidFill>
            <a:srgbClr val="FFFFFF"/>
          </a:solidFill>
          <a:ln w="28575" cap="flat" cmpd="sng">
            <a:solidFill>
              <a:srgbClr val="1A1A24"/>
            </a:solidFill>
            <a:prstDash val="solid"/>
            <a:round/>
            <a:headEnd type="none" w="sm" len="sm"/>
            <a:tailEnd type="none" w="sm" len="sm"/>
          </a:ln>
        </p:spPr>
      </p:cxnSp>
      <p:grpSp>
        <p:nvGrpSpPr>
          <p:cNvPr id="365" name="Google Shape;365;p21"/>
          <p:cNvGrpSpPr/>
          <p:nvPr/>
        </p:nvGrpSpPr>
        <p:grpSpPr>
          <a:xfrm>
            <a:off x="381000" y="1190625"/>
            <a:ext cx="4057650" cy="1533450"/>
            <a:chOff x="0" y="0"/>
            <a:chExt cx="4057650" cy="1533450"/>
          </a:xfrm>
        </p:grpSpPr>
        <p:sp>
          <p:nvSpPr>
            <p:cNvPr id="366" name="Google Shape;366;p21"/>
            <p:cNvSpPr/>
            <p:nvPr/>
          </p:nvSpPr>
          <p:spPr>
            <a:xfrm>
              <a:off x="57150" y="57150"/>
              <a:ext cx="4000500" cy="1476300"/>
            </a:xfrm>
            <a:prstGeom prst="roundRect">
              <a:avLst>
                <a:gd name="adj" fmla="val 7741"/>
              </a:avLst>
            </a:prstGeom>
            <a:solidFill>
              <a:srgbClr val="1A1A24"/>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67" name="Google Shape;367;p21"/>
            <p:cNvSpPr/>
            <p:nvPr/>
          </p:nvSpPr>
          <p:spPr>
            <a:xfrm>
              <a:off x="0" y="0"/>
              <a:ext cx="4000500" cy="1476300"/>
            </a:xfrm>
            <a:prstGeom prst="roundRect">
              <a:avLst>
                <a:gd name="adj" fmla="val 7741"/>
              </a:avLst>
            </a:prstGeom>
            <a:solidFill>
              <a:srgbClr val="FFD93D"/>
            </a:solidFill>
            <a:ln w="28575" cap="flat" cmpd="sng">
              <a:solidFill>
                <a:srgbClr val="1A1A24"/>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68" name="Google Shape;368;p21"/>
            <p:cNvSpPr txBox="1"/>
            <p:nvPr/>
          </p:nvSpPr>
          <p:spPr>
            <a:xfrm>
              <a:off x="238125" y="152400"/>
              <a:ext cx="3524400" cy="2382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1100" b="1">
                  <a:solidFill>
                    <a:srgbClr val="1A1A24"/>
                  </a:solidFill>
                  <a:latin typeface="Plus Jakarta Sans"/>
                  <a:ea typeface="Plus Jakarta Sans"/>
                  <a:cs typeface="Plus Jakarta Sans"/>
                  <a:sym typeface="Plus Jakarta Sans"/>
                </a:rPr>
                <a:t>ORGANIZATION TOP PERFORMERS</a:t>
              </a:r>
              <a:endParaRPr sz="1100" b="1">
                <a:solidFill>
                  <a:srgbClr val="1A1A24"/>
                </a:solidFill>
                <a:latin typeface="Plus Jakarta Sans"/>
                <a:ea typeface="Plus Jakarta Sans"/>
                <a:cs typeface="Plus Jakarta Sans"/>
                <a:sym typeface="Plus Jakarta Sans"/>
              </a:endParaRPr>
            </a:p>
          </p:txBody>
        </p:sp>
        <p:sp>
          <p:nvSpPr>
            <p:cNvPr id="369" name="Google Shape;369;p21"/>
            <p:cNvSpPr txBox="1"/>
            <p:nvPr/>
          </p:nvSpPr>
          <p:spPr>
            <a:xfrm>
              <a:off x="238125" y="400050"/>
              <a:ext cx="1905000" cy="6192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3875" b="1">
                  <a:solidFill>
                    <a:srgbClr val="1A1A24"/>
                  </a:solidFill>
                  <a:latin typeface="Space Grotesk"/>
                  <a:ea typeface="Space Grotesk"/>
                  <a:cs typeface="Space Grotesk"/>
                  <a:sym typeface="Space Grotesk"/>
                </a:rPr>
                <a:t>350</a:t>
              </a:r>
              <a:endParaRPr sz="3875" b="1">
                <a:solidFill>
                  <a:srgbClr val="1A1A24"/>
                </a:solidFill>
                <a:latin typeface="Space Grotesk"/>
                <a:ea typeface="Space Grotesk"/>
                <a:cs typeface="Space Grotesk"/>
                <a:sym typeface="Space Grotesk"/>
              </a:endParaRPr>
            </a:p>
          </p:txBody>
        </p:sp>
        <p:grpSp>
          <p:nvGrpSpPr>
            <p:cNvPr id="370" name="Google Shape;370;p21"/>
            <p:cNvGrpSpPr/>
            <p:nvPr/>
          </p:nvGrpSpPr>
          <p:grpSpPr>
            <a:xfrm>
              <a:off x="2286000" y="438150"/>
              <a:ext cx="1476300" cy="523800"/>
              <a:chOff x="0" y="0"/>
              <a:chExt cx="1476300" cy="523800"/>
            </a:xfrm>
          </p:grpSpPr>
          <p:sp>
            <p:nvSpPr>
              <p:cNvPr id="371" name="Google Shape;371;p21"/>
              <p:cNvSpPr/>
              <p:nvPr/>
            </p:nvSpPr>
            <p:spPr>
              <a:xfrm>
                <a:off x="0" y="0"/>
                <a:ext cx="1476300" cy="523800"/>
              </a:xfrm>
              <a:prstGeom prst="roundRect">
                <a:avLst>
                  <a:gd name="adj" fmla="val 14545"/>
                </a:avLst>
              </a:prstGeom>
              <a:solidFill>
                <a:srgbClr val="FFFFFF"/>
              </a:solidFill>
              <a:ln w="19050" cap="flat" cmpd="sng">
                <a:solidFill>
                  <a:srgbClr val="1A1A24"/>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72" name="Google Shape;372;p21"/>
              <p:cNvSpPr txBox="1"/>
              <p:nvPr/>
            </p:nvSpPr>
            <p:spPr>
              <a:xfrm>
                <a:off x="114300" y="76200"/>
                <a:ext cx="1247700" cy="3810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800" b="1">
                    <a:solidFill>
                      <a:srgbClr val="4A4A5A"/>
                    </a:solidFill>
                    <a:latin typeface="Plus Jakarta Sans"/>
                    <a:ea typeface="Plus Jakarta Sans"/>
                    <a:cs typeface="Plus Jakarta Sans"/>
                    <a:sym typeface="Plus Jakarta Sans"/>
                  </a:rPr>
                  <a:t>LOW PERFORMERS</a:t>
                </a:r>
                <a:endParaRPr sz="800" b="1">
                  <a:solidFill>
                    <a:srgbClr val="4A4A5A"/>
                  </a:solidFill>
                  <a:latin typeface="Plus Jakarta Sans"/>
                  <a:ea typeface="Plus Jakarta Sans"/>
                  <a:cs typeface="Plus Jakarta Sans"/>
                  <a:sym typeface="Plus Jakarta Sans"/>
                </a:endParaRPr>
              </a:p>
              <a:p>
                <a:pPr marL="0" lvl="0" indent="0" algn="l" rtl="0">
                  <a:spcBef>
                    <a:spcPts val="0"/>
                  </a:spcBef>
                  <a:spcAft>
                    <a:spcPts val="0"/>
                  </a:spcAft>
                  <a:buNone/>
                </a:pPr>
                <a:r>
                  <a:rPr lang="en" sz="1600" b="1">
                    <a:solidFill>
                      <a:srgbClr val="1A1A24"/>
                    </a:solidFill>
                    <a:latin typeface="Space Grotesk"/>
                    <a:ea typeface="Space Grotesk"/>
                    <a:cs typeface="Space Grotesk"/>
                    <a:sym typeface="Space Grotesk"/>
                  </a:rPr>
                  <a:t>85 total</a:t>
                </a:r>
                <a:endParaRPr sz="1600" b="1">
                  <a:solidFill>
                    <a:srgbClr val="1A1A24"/>
                  </a:solidFill>
                  <a:latin typeface="Space Grotesk"/>
                  <a:ea typeface="Space Grotesk"/>
                  <a:cs typeface="Space Grotesk"/>
                  <a:sym typeface="Space Grotesk"/>
                </a:endParaRPr>
              </a:p>
            </p:txBody>
          </p:sp>
        </p:grpSp>
        <p:sp>
          <p:nvSpPr>
            <p:cNvPr id="373" name="Google Shape;373;p21"/>
            <p:cNvSpPr txBox="1"/>
            <p:nvPr/>
          </p:nvSpPr>
          <p:spPr>
            <a:xfrm>
              <a:off x="238125" y="1095375"/>
              <a:ext cx="3524400" cy="2382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1100" b="1">
                  <a:solidFill>
                    <a:srgbClr val="1A1A24"/>
                  </a:solidFill>
                  <a:latin typeface="Plus Jakarta Sans"/>
                  <a:ea typeface="Plus Jakarta Sans"/>
                  <a:cs typeface="Plus Jakarta Sans"/>
                  <a:sym typeface="Plus Jakarta Sans"/>
                </a:rPr>
                <a:t>Evaluated across active performance metrics</a:t>
              </a:r>
              <a:endParaRPr sz="1100" b="1">
                <a:solidFill>
                  <a:srgbClr val="1A1A24"/>
                </a:solidFill>
                <a:latin typeface="Plus Jakarta Sans"/>
                <a:ea typeface="Plus Jakarta Sans"/>
                <a:cs typeface="Plus Jakarta Sans"/>
                <a:sym typeface="Plus Jakarta Sans"/>
              </a:endParaRPr>
            </a:p>
          </p:txBody>
        </p:sp>
      </p:grpSp>
      <p:grpSp>
        <p:nvGrpSpPr>
          <p:cNvPr id="374" name="Google Shape;374;p21"/>
          <p:cNvGrpSpPr/>
          <p:nvPr/>
        </p:nvGrpSpPr>
        <p:grpSpPr>
          <a:xfrm>
            <a:off x="4572000" y="1190625"/>
            <a:ext cx="4248150" cy="1533450"/>
            <a:chOff x="0" y="0"/>
            <a:chExt cx="4248150" cy="1533450"/>
          </a:xfrm>
        </p:grpSpPr>
        <p:sp>
          <p:nvSpPr>
            <p:cNvPr id="375" name="Google Shape;375;p21"/>
            <p:cNvSpPr/>
            <p:nvPr/>
          </p:nvSpPr>
          <p:spPr>
            <a:xfrm>
              <a:off x="57150" y="57150"/>
              <a:ext cx="4191000" cy="1476300"/>
            </a:xfrm>
            <a:prstGeom prst="roundRect">
              <a:avLst>
                <a:gd name="adj" fmla="val 7741"/>
              </a:avLst>
            </a:prstGeom>
            <a:solidFill>
              <a:srgbClr val="1A1A24"/>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76" name="Google Shape;376;p21"/>
            <p:cNvSpPr/>
            <p:nvPr/>
          </p:nvSpPr>
          <p:spPr>
            <a:xfrm>
              <a:off x="0" y="0"/>
              <a:ext cx="4191000" cy="1476300"/>
            </a:xfrm>
            <a:prstGeom prst="roundRect">
              <a:avLst>
                <a:gd name="adj" fmla="val 7741"/>
              </a:avLst>
            </a:prstGeom>
            <a:solidFill>
              <a:srgbClr val="4ECDC4"/>
            </a:solidFill>
            <a:ln w="28575" cap="flat" cmpd="sng">
              <a:solidFill>
                <a:srgbClr val="1A1A24"/>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77" name="Google Shape;377;p21"/>
            <p:cNvSpPr txBox="1"/>
            <p:nvPr/>
          </p:nvSpPr>
          <p:spPr>
            <a:xfrm>
              <a:off x="238125" y="152400"/>
              <a:ext cx="3714900" cy="2382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1100" b="1">
                  <a:solidFill>
                    <a:srgbClr val="1A1A24"/>
                  </a:solidFill>
                  <a:latin typeface="Plus Jakarta Sans"/>
                  <a:ea typeface="Plus Jakarta Sans"/>
                  <a:cs typeface="Plus Jakarta Sans"/>
                  <a:sym typeface="Plus Jakarta Sans"/>
                </a:rPr>
                <a:t>PROMOTION ELIGIBLE CANDIDATES</a:t>
              </a:r>
              <a:endParaRPr sz="1100" b="1">
                <a:solidFill>
                  <a:srgbClr val="1A1A24"/>
                </a:solidFill>
                <a:latin typeface="Plus Jakarta Sans"/>
                <a:ea typeface="Plus Jakarta Sans"/>
                <a:cs typeface="Plus Jakarta Sans"/>
                <a:sym typeface="Plus Jakarta Sans"/>
              </a:endParaRPr>
            </a:p>
          </p:txBody>
        </p:sp>
        <p:sp>
          <p:nvSpPr>
            <p:cNvPr id="378" name="Google Shape;378;p21"/>
            <p:cNvSpPr txBox="1"/>
            <p:nvPr/>
          </p:nvSpPr>
          <p:spPr>
            <a:xfrm>
              <a:off x="238125" y="400050"/>
              <a:ext cx="1905000" cy="6192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3875" b="1">
                  <a:solidFill>
                    <a:srgbClr val="1A1A24"/>
                  </a:solidFill>
                  <a:latin typeface="Space Grotesk"/>
                  <a:ea typeface="Space Grotesk"/>
                  <a:cs typeface="Space Grotesk"/>
                  <a:sym typeface="Space Grotesk"/>
                </a:rPr>
                <a:t>127</a:t>
              </a:r>
              <a:endParaRPr sz="3875" b="1">
                <a:solidFill>
                  <a:srgbClr val="1A1A24"/>
                </a:solidFill>
                <a:latin typeface="Space Grotesk"/>
                <a:ea typeface="Space Grotesk"/>
                <a:cs typeface="Space Grotesk"/>
                <a:sym typeface="Space Grotesk"/>
              </a:endParaRPr>
            </a:p>
          </p:txBody>
        </p:sp>
        <p:grpSp>
          <p:nvGrpSpPr>
            <p:cNvPr id="379" name="Google Shape;379;p21"/>
            <p:cNvGrpSpPr/>
            <p:nvPr/>
          </p:nvGrpSpPr>
          <p:grpSpPr>
            <a:xfrm>
              <a:off x="2238375" y="438150"/>
              <a:ext cx="1714500" cy="523800"/>
              <a:chOff x="0" y="0"/>
              <a:chExt cx="1714500" cy="523800"/>
            </a:xfrm>
          </p:grpSpPr>
          <p:sp>
            <p:nvSpPr>
              <p:cNvPr id="380" name="Google Shape;380;p21"/>
              <p:cNvSpPr/>
              <p:nvPr/>
            </p:nvSpPr>
            <p:spPr>
              <a:xfrm>
                <a:off x="0" y="0"/>
                <a:ext cx="1714500" cy="523800"/>
              </a:xfrm>
              <a:prstGeom prst="roundRect">
                <a:avLst>
                  <a:gd name="adj" fmla="val 14545"/>
                </a:avLst>
              </a:prstGeom>
              <a:solidFill>
                <a:srgbClr val="1A1A24"/>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81" name="Google Shape;381;p21"/>
              <p:cNvSpPr txBox="1"/>
              <p:nvPr/>
            </p:nvSpPr>
            <p:spPr>
              <a:xfrm>
                <a:off x="114300" y="76200"/>
                <a:ext cx="1485900" cy="3810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800" b="1">
                    <a:solidFill>
                      <a:srgbClr val="4ECDC4"/>
                    </a:solidFill>
                    <a:latin typeface="Plus Jakarta Sans"/>
                    <a:ea typeface="Plus Jakarta Sans"/>
                    <a:cs typeface="Plus Jakarta Sans"/>
                    <a:sym typeface="Plus Jakarta Sans"/>
                  </a:rPr>
                  <a:t>PROMOTION PROBABILITY</a:t>
                </a:r>
                <a:endParaRPr sz="800" b="1">
                  <a:solidFill>
                    <a:srgbClr val="4ECDC4"/>
                  </a:solidFill>
                  <a:latin typeface="Plus Jakarta Sans"/>
                  <a:ea typeface="Plus Jakarta Sans"/>
                  <a:cs typeface="Plus Jakarta Sans"/>
                  <a:sym typeface="Plus Jakarta Sans"/>
                </a:endParaRPr>
              </a:p>
              <a:p>
                <a:pPr marL="0" lvl="0" indent="0" algn="l" rtl="0">
                  <a:spcBef>
                    <a:spcPts val="0"/>
                  </a:spcBef>
                  <a:spcAft>
                    <a:spcPts val="0"/>
                  </a:spcAft>
                  <a:buNone/>
                </a:pPr>
                <a:r>
                  <a:rPr lang="en" sz="1700" b="1">
                    <a:solidFill>
                      <a:srgbClr val="FFFFFF"/>
                    </a:solidFill>
                    <a:latin typeface="Space Grotesk"/>
                    <a:ea typeface="Space Grotesk"/>
                    <a:cs typeface="Space Grotesk"/>
                    <a:sym typeface="Space Grotesk"/>
                  </a:rPr>
                  <a:t>62.3%</a:t>
                </a:r>
                <a:endParaRPr sz="1700" b="1">
                  <a:solidFill>
                    <a:srgbClr val="FFFFFF"/>
                  </a:solidFill>
                  <a:latin typeface="Space Grotesk"/>
                  <a:ea typeface="Space Grotesk"/>
                  <a:cs typeface="Space Grotesk"/>
                  <a:sym typeface="Space Grotesk"/>
                </a:endParaRPr>
              </a:p>
            </p:txBody>
          </p:sp>
        </p:grpSp>
        <p:sp>
          <p:nvSpPr>
            <p:cNvPr id="382" name="Google Shape;382;p21"/>
            <p:cNvSpPr txBox="1"/>
            <p:nvPr/>
          </p:nvSpPr>
          <p:spPr>
            <a:xfrm>
              <a:off x="238125" y="1095375"/>
              <a:ext cx="3714900" cy="2382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1100" b="1">
                  <a:solidFill>
                    <a:srgbClr val="1A1A24"/>
                  </a:solidFill>
                  <a:latin typeface="Plus Jakarta Sans"/>
                  <a:ea typeface="Plus Jakarta Sans"/>
                  <a:cs typeface="Plus Jakarta Sans"/>
                  <a:sym typeface="Plus Jakarta Sans"/>
                </a:rPr>
                <a:t>Displaying high probability for advancement</a:t>
              </a:r>
              <a:endParaRPr sz="1100" b="1">
                <a:solidFill>
                  <a:srgbClr val="1A1A24"/>
                </a:solidFill>
                <a:latin typeface="Plus Jakarta Sans"/>
                <a:ea typeface="Plus Jakarta Sans"/>
                <a:cs typeface="Plus Jakarta Sans"/>
                <a:sym typeface="Plus Jakarta Sans"/>
              </a:endParaRPr>
            </a:p>
          </p:txBody>
        </p:sp>
      </p:grpSp>
      <p:grpSp>
        <p:nvGrpSpPr>
          <p:cNvPr id="383" name="Google Shape;383;p21"/>
          <p:cNvGrpSpPr/>
          <p:nvPr/>
        </p:nvGrpSpPr>
        <p:grpSpPr>
          <a:xfrm>
            <a:off x="381000" y="2857500"/>
            <a:ext cx="4057650" cy="2057250"/>
            <a:chOff x="0" y="0"/>
            <a:chExt cx="4057650" cy="2057250"/>
          </a:xfrm>
        </p:grpSpPr>
        <p:sp>
          <p:nvSpPr>
            <p:cNvPr id="384" name="Google Shape;384;p21"/>
            <p:cNvSpPr/>
            <p:nvPr/>
          </p:nvSpPr>
          <p:spPr>
            <a:xfrm>
              <a:off x="57150" y="57150"/>
              <a:ext cx="4000500" cy="2000100"/>
            </a:xfrm>
            <a:prstGeom prst="roundRect">
              <a:avLst>
                <a:gd name="adj" fmla="val 5714"/>
              </a:avLst>
            </a:prstGeom>
            <a:solidFill>
              <a:srgbClr val="1A1A24"/>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85" name="Google Shape;385;p21"/>
            <p:cNvSpPr/>
            <p:nvPr/>
          </p:nvSpPr>
          <p:spPr>
            <a:xfrm>
              <a:off x="0" y="0"/>
              <a:ext cx="4000500" cy="2000100"/>
            </a:xfrm>
            <a:prstGeom prst="roundRect">
              <a:avLst>
                <a:gd name="adj" fmla="val 5714"/>
              </a:avLst>
            </a:prstGeom>
            <a:solidFill>
              <a:srgbClr val="FFFFFF"/>
            </a:solidFill>
            <a:ln w="28575" cap="flat" cmpd="sng">
              <a:solidFill>
                <a:srgbClr val="1A1A24"/>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86" name="Google Shape;386;p21"/>
            <p:cNvSpPr txBox="1"/>
            <p:nvPr/>
          </p:nvSpPr>
          <p:spPr>
            <a:xfrm>
              <a:off x="238125" y="190500"/>
              <a:ext cx="3524400" cy="2859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1600" b="1">
                  <a:solidFill>
                    <a:srgbClr val="1A1A24"/>
                  </a:solidFill>
                  <a:latin typeface="Space Grotesk"/>
                  <a:ea typeface="Space Grotesk"/>
                  <a:cs typeface="Space Grotesk"/>
                  <a:sym typeface="Space Grotesk"/>
                </a:rPr>
                <a:t>Talent Evaluation Criteria</a:t>
              </a:r>
              <a:endParaRPr sz="1600" b="1">
                <a:solidFill>
                  <a:srgbClr val="1A1A24"/>
                </a:solidFill>
                <a:latin typeface="Space Grotesk"/>
                <a:ea typeface="Space Grotesk"/>
                <a:cs typeface="Space Grotesk"/>
                <a:sym typeface="Space Grotesk"/>
              </a:endParaRPr>
            </a:p>
          </p:txBody>
        </p:sp>
        <p:sp>
          <p:nvSpPr>
            <p:cNvPr id="387" name="Google Shape;387;p21"/>
            <p:cNvSpPr txBox="1"/>
            <p:nvPr/>
          </p:nvSpPr>
          <p:spPr>
            <a:xfrm>
              <a:off x="238125" y="523875"/>
              <a:ext cx="3524400" cy="13335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1100" b="0">
                  <a:solidFill>
                    <a:srgbClr val="4A4A5A"/>
                  </a:solidFill>
                  <a:latin typeface="Plus Jakarta Sans"/>
                  <a:ea typeface="Plus Jakarta Sans"/>
                  <a:cs typeface="Plus Jakarta Sans"/>
                  <a:sym typeface="Plus Jakarta Sans"/>
                </a:rPr>
                <a:t>The </a:t>
              </a:r>
              <a:r>
                <a:rPr lang="en" sz="1100" b="1">
                  <a:solidFill>
                    <a:srgbClr val="4A4A5A"/>
                  </a:solidFill>
                  <a:latin typeface="Plus Jakarta Sans"/>
                  <a:ea typeface="Plus Jakarta Sans"/>
                  <a:cs typeface="Plus Jakarta Sans"/>
                  <a:sym typeface="Plus Jakarta Sans"/>
                </a:rPr>
                <a:t>Top Performers view</a:t>
              </a:r>
              <a:r>
                <a:rPr lang="en" sz="1100" b="0">
                  <a:solidFill>
                    <a:srgbClr val="4A4A5A"/>
                  </a:solidFill>
                  <a:latin typeface="Plus Jakarta Sans"/>
                  <a:ea typeface="Plus Jakarta Sans"/>
                  <a:cs typeface="Plus Jakarta Sans"/>
                  <a:sym typeface="Plus Jakarta Sans"/>
                </a:rPr>
                <a:t> assists management in identifying ideal candidates for advancement through key criteria:</a:t>
              </a:r>
              <a:endParaRPr sz="1100" b="0">
                <a:solidFill>
                  <a:srgbClr val="4A4A5A"/>
                </a:solidFill>
                <a:latin typeface="Plus Jakarta Sans"/>
                <a:ea typeface="Plus Jakarta Sans"/>
                <a:cs typeface="Plus Jakarta Sans"/>
                <a:sym typeface="Plus Jakarta Sans"/>
              </a:endParaRPr>
            </a:p>
            <a:p>
              <a:pPr marL="0" lvl="0" indent="0" algn="l" rtl="0">
                <a:spcBef>
                  <a:spcPts val="600"/>
                </a:spcBef>
                <a:spcAft>
                  <a:spcPts val="0"/>
                </a:spcAft>
                <a:buNone/>
              </a:pPr>
              <a:r>
                <a:rPr lang="en" sz="1050" b="0">
                  <a:solidFill>
                    <a:srgbClr val="4A4A5A"/>
                  </a:solidFill>
                  <a:latin typeface="Plus Jakarta Sans"/>
                  <a:ea typeface="Plus Jakarta Sans"/>
                  <a:cs typeface="Plus Jakarta Sans"/>
                  <a:sym typeface="Plus Jakarta Sans"/>
                </a:rPr>
                <a:t>• </a:t>
              </a:r>
              <a:r>
                <a:rPr lang="en" sz="1050" b="1">
                  <a:solidFill>
                    <a:srgbClr val="4A4A5A"/>
                  </a:solidFill>
                  <a:latin typeface="Plus Jakarta Sans"/>
                  <a:ea typeface="Plus Jakarta Sans"/>
                  <a:cs typeface="Plus Jakarta Sans"/>
                  <a:sym typeface="Plus Jakarta Sans"/>
                </a:rPr>
                <a:t>Performance:</a:t>
              </a:r>
              <a:r>
                <a:rPr lang="en" sz="1050" b="0">
                  <a:solidFill>
                    <a:srgbClr val="4A4A5A"/>
                  </a:solidFill>
                  <a:latin typeface="Plus Jakarta Sans"/>
                  <a:ea typeface="Plus Jakarta Sans"/>
                  <a:cs typeface="Plus Jakarta Sans"/>
                  <a:sym typeface="Plus Jakarta Sans"/>
                </a:rPr>
                <a:t> Sustained high-output benchmarks</a:t>
              </a:r>
              <a:endParaRPr sz="1050" b="0">
                <a:solidFill>
                  <a:srgbClr val="4A4A5A"/>
                </a:solidFill>
                <a:latin typeface="Plus Jakarta Sans"/>
                <a:ea typeface="Plus Jakarta Sans"/>
                <a:cs typeface="Plus Jakarta Sans"/>
                <a:sym typeface="Plus Jakarta Sans"/>
              </a:endParaRPr>
            </a:p>
            <a:p>
              <a:pPr marL="0" lvl="0" indent="0" algn="l" rtl="0">
                <a:spcBef>
                  <a:spcPts val="375"/>
                </a:spcBef>
                <a:spcAft>
                  <a:spcPts val="0"/>
                </a:spcAft>
                <a:buNone/>
              </a:pPr>
              <a:r>
                <a:rPr lang="en" sz="1050" b="0">
                  <a:solidFill>
                    <a:srgbClr val="4A4A5A"/>
                  </a:solidFill>
                  <a:latin typeface="Plus Jakarta Sans"/>
                  <a:ea typeface="Plus Jakarta Sans"/>
                  <a:cs typeface="Plus Jakarta Sans"/>
                  <a:sym typeface="Plus Jakarta Sans"/>
                </a:rPr>
                <a:t>• </a:t>
              </a:r>
              <a:r>
                <a:rPr lang="en" sz="1050" b="1">
                  <a:solidFill>
                    <a:srgbClr val="4A4A5A"/>
                  </a:solidFill>
                  <a:latin typeface="Plus Jakarta Sans"/>
                  <a:ea typeface="Plus Jakarta Sans"/>
                  <a:cs typeface="Plus Jakarta Sans"/>
                  <a:sym typeface="Plus Jakarta Sans"/>
                </a:rPr>
                <a:t>Attendance:</a:t>
              </a:r>
              <a:r>
                <a:rPr lang="en" sz="1050" b="0">
                  <a:solidFill>
                    <a:srgbClr val="4A4A5A"/>
                  </a:solidFill>
                  <a:latin typeface="Plus Jakarta Sans"/>
                  <a:ea typeface="Plus Jakarta Sans"/>
                  <a:cs typeface="Plus Jakarta Sans"/>
                  <a:sym typeface="Plus Jakarta Sans"/>
                </a:rPr>
                <a:t> Consistent reliability &amp; engagement</a:t>
              </a:r>
              <a:endParaRPr sz="1050" b="0">
                <a:solidFill>
                  <a:srgbClr val="4A4A5A"/>
                </a:solidFill>
                <a:latin typeface="Plus Jakarta Sans"/>
                <a:ea typeface="Plus Jakarta Sans"/>
                <a:cs typeface="Plus Jakarta Sans"/>
                <a:sym typeface="Plus Jakarta Sans"/>
              </a:endParaRPr>
            </a:p>
            <a:p>
              <a:pPr marL="0" lvl="0" indent="0" algn="l" rtl="0">
                <a:spcBef>
                  <a:spcPts val="375"/>
                </a:spcBef>
                <a:spcAft>
                  <a:spcPts val="0"/>
                </a:spcAft>
                <a:buNone/>
              </a:pPr>
              <a:r>
                <a:rPr lang="en" sz="1050" b="0">
                  <a:solidFill>
                    <a:srgbClr val="4A4A5A"/>
                  </a:solidFill>
                  <a:latin typeface="Plus Jakarta Sans"/>
                  <a:ea typeface="Plus Jakarta Sans"/>
                  <a:cs typeface="Plus Jakarta Sans"/>
                  <a:sym typeface="Plus Jakarta Sans"/>
                </a:rPr>
                <a:t>• </a:t>
              </a:r>
              <a:r>
                <a:rPr lang="en" sz="1050" b="1">
                  <a:solidFill>
                    <a:srgbClr val="4A4A5A"/>
                  </a:solidFill>
                  <a:latin typeface="Plus Jakarta Sans"/>
                  <a:ea typeface="Plus Jakarta Sans"/>
                  <a:cs typeface="Plus Jakarta Sans"/>
                  <a:sym typeface="Plus Jakarta Sans"/>
                </a:rPr>
                <a:t>KPI Outcomes:</a:t>
              </a:r>
              <a:r>
                <a:rPr lang="en" sz="1050" b="0">
                  <a:solidFill>
                    <a:srgbClr val="4A4A5A"/>
                  </a:solidFill>
                  <a:latin typeface="Plus Jakarta Sans"/>
                  <a:ea typeface="Plus Jakarta Sans"/>
                  <a:cs typeface="Plus Jakarta Sans"/>
                  <a:sym typeface="Plus Jakarta Sans"/>
                </a:rPr>
                <a:t> Direct delivery on strategic targets</a:t>
              </a:r>
              <a:endParaRPr sz="1050" b="0">
                <a:solidFill>
                  <a:srgbClr val="4A4A5A"/>
                </a:solidFill>
                <a:latin typeface="Plus Jakarta Sans"/>
                <a:ea typeface="Plus Jakarta Sans"/>
                <a:cs typeface="Plus Jakarta Sans"/>
                <a:sym typeface="Plus Jakarta Sans"/>
              </a:endParaRPr>
            </a:p>
          </p:txBody>
        </p:sp>
      </p:grpSp>
      <p:grpSp>
        <p:nvGrpSpPr>
          <p:cNvPr id="388" name="Google Shape;388;p21"/>
          <p:cNvGrpSpPr/>
          <p:nvPr/>
        </p:nvGrpSpPr>
        <p:grpSpPr>
          <a:xfrm>
            <a:off x="4572000" y="2857500"/>
            <a:ext cx="4248150" cy="2057250"/>
            <a:chOff x="0" y="0"/>
            <a:chExt cx="4248150" cy="2057250"/>
          </a:xfrm>
        </p:grpSpPr>
        <p:sp>
          <p:nvSpPr>
            <p:cNvPr id="389" name="Google Shape;389;p21"/>
            <p:cNvSpPr/>
            <p:nvPr/>
          </p:nvSpPr>
          <p:spPr>
            <a:xfrm>
              <a:off x="57150" y="57150"/>
              <a:ext cx="4191000" cy="2000100"/>
            </a:xfrm>
            <a:prstGeom prst="roundRect">
              <a:avLst>
                <a:gd name="adj" fmla="val 5714"/>
              </a:avLst>
            </a:prstGeom>
            <a:solidFill>
              <a:srgbClr val="1A1A24"/>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90" name="Google Shape;390;p21"/>
            <p:cNvSpPr/>
            <p:nvPr/>
          </p:nvSpPr>
          <p:spPr>
            <a:xfrm>
              <a:off x="0" y="0"/>
              <a:ext cx="4191000" cy="2000100"/>
            </a:xfrm>
            <a:prstGeom prst="roundRect">
              <a:avLst>
                <a:gd name="adj" fmla="val 5714"/>
              </a:avLst>
            </a:prstGeom>
            <a:solidFill>
              <a:srgbClr val="C8B6FF"/>
            </a:solidFill>
            <a:ln w="28575" cap="flat" cmpd="sng">
              <a:solidFill>
                <a:srgbClr val="1A1A24"/>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91" name="Google Shape;391;p21"/>
            <p:cNvSpPr txBox="1"/>
            <p:nvPr/>
          </p:nvSpPr>
          <p:spPr>
            <a:xfrm>
              <a:off x="238125" y="190500"/>
              <a:ext cx="3714900" cy="2859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1600" b="1">
                  <a:solidFill>
                    <a:srgbClr val="1A1A24"/>
                  </a:solidFill>
                  <a:latin typeface="Space Grotesk"/>
                  <a:ea typeface="Space Grotesk"/>
                  <a:cs typeface="Space Grotesk"/>
                  <a:sym typeface="Space Grotesk"/>
                </a:rPr>
                <a:t>Data-Driven Talent Development</a:t>
              </a:r>
              <a:endParaRPr sz="1600" b="1">
                <a:solidFill>
                  <a:srgbClr val="1A1A24"/>
                </a:solidFill>
                <a:latin typeface="Space Grotesk"/>
                <a:ea typeface="Space Grotesk"/>
                <a:cs typeface="Space Grotesk"/>
                <a:sym typeface="Space Grotesk"/>
              </a:endParaRPr>
            </a:p>
          </p:txBody>
        </p:sp>
        <p:grpSp>
          <p:nvGrpSpPr>
            <p:cNvPr id="392" name="Google Shape;392;p21"/>
            <p:cNvGrpSpPr/>
            <p:nvPr/>
          </p:nvGrpSpPr>
          <p:grpSpPr>
            <a:xfrm>
              <a:off x="238125" y="523875"/>
              <a:ext cx="1790775" cy="1266975"/>
              <a:chOff x="0" y="0"/>
              <a:chExt cx="1790775" cy="1266975"/>
            </a:xfrm>
          </p:grpSpPr>
          <p:sp>
            <p:nvSpPr>
              <p:cNvPr id="393" name="Google Shape;393;p21"/>
              <p:cNvSpPr/>
              <p:nvPr/>
            </p:nvSpPr>
            <p:spPr>
              <a:xfrm>
                <a:off x="28575" y="28575"/>
                <a:ext cx="1762200" cy="1238400"/>
              </a:xfrm>
              <a:prstGeom prst="roundRect">
                <a:avLst>
                  <a:gd name="adj" fmla="val 7692"/>
                </a:avLst>
              </a:prstGeom>
              <a:solidFill>
                <a:srgbClr val="1A1A24"/>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94" name="Google Shape;394;p21"/>
              <p:cNvSpPr/>
              <p:nvPr/>
            </p:nvSpPr>
            <p:spPr>
              <a:xfrm>
                <a:off x="0" y="0"/>
                <a:ext cx="1762200" cy="1238400"/>
              </a:xfrm>
              <a:prstGeom prst="roundRect">
                <a:avLst>
                  <a:gd name="adj" fmla="val 7692"/>
                </a:avLst>
              </a:prstGeom>
              <a:solidFill>
                <a:srgbClr val="FFFFFF"/>
              </a:solidFill>
              <a:ln w="19050" cap="flat" cmpd="sng">
                <a:solidFill>
                  <a:srgbClr val="1A1A24"/>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95" name="Google Shape;395;p21"/>
              <p:cNvSpPr/>
              <p:nvPr/>
            </p:nvSpPr>
            <p:spPr>
              <a:xfrm>
                <a:off x="152400" y="152400"/>
                <a:ext cx="304800" cy="304800"/>
              </a:xfrm>
              <a:prstGeom prst="ellipse">
                <a:avLst/>
              </a:prstGeom>
              <a:solidFill>
                <a:srgbClr val="FF6B6B"/>
              </a:solidFill>
              <a:ln w="19050" cap="flat" cmpd="sng">
                <a:solidFill>
                  <a:srgbClr val="1A1A24"/>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96" name="Google Shape;396;p21"/>
              <p:cNvSpPr/>
              <p:nvPr/>
            </p:nvSpPr>
            <p:spPr>
              <a:xfrm>
                <a:off x="228600" y="304800"/>
                <a:ext cx="152400" cy="76200"/>
              </a:xfrm>
              <a:custGeom>
                <a:avLst/>
                <a:gdLst/>
                <a:ahLst/>
                <a:cxnLst/>
                <a:rect l="l" t="t" r="r" b="b"/>
                <a:pathLst>
                  <a:path w="120000" h="120000" extrusionOk="0">
                    <a:moveTo>
                      <a:pt x="0" y="120000"/>
                    </a:moveTo>
                    <a:cubicBezTo>
                      <a:pt x="0" y="0"/>
                      <a:pt x="120000" y="0"/>
                      <a:pt x="120000" y="120000"/>
                    </a:cubicBezTo>
                  </a:path>
                </a:pathLst>
              </a:custGeom>
              <a:solidFill>
                <a:srgbClr val="1A1A24"/>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97" name="Google Shape;397;p21"/>
              <p:cNvSpPr/>
              <p:nvPr/>
            </p:nvSpPr>
            <p:spPr>
              <a:xfrm>
                <a:off x="257175" y="219075"/>
                <a:ext cx="95400" cy="95400"/>
              </a:xfrm>
              <a:prstGeom prst="ellipse">
                <a:avLst/>
              </a:prstGeom>
              <a:solidFill>
                <a:srgbClr val="1A1A24"/>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98" name="Google Shape;398;p21"/>
              <p:cNvSpPr txBox="1"/>
              <p:nvPr/>
            </p:nvSpPr>
            <p:spPr>
              <a:xfrm>
                <a:off x="533400" y="114300"/>
                <a:ext cx="1143000" cy="4002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1050" b="1">
                    <a:solidFill>
                      <a:srgbClr val="1A1A24"/>
                    </a:solidFill>
                    <a:latin typeface="Plus Jakarta Sans"/>
                    <a:ea typeface="Plus Jakarta Sans"/>
                    <a:cs typeface="Plus Jakarta Sans"/>
                    <a:sym typeface="Plus Jakarta Sans"/>
                  </a:rPr>
                  <a:t>Top Performer</a:t>
                </a:r>
                <a:endParaRPr sz="1050" b="1">
                  <a:solidFill>
                    <a:srgbClr val="1A1A24"/>
                  </a:solidFill>
                  <a:latin typeface="Plus Jakarta Sans"/>
                  <a:ea typeface="Plus Jakarta Sans"/>
                  <a:cs typeface="Plus Jakarta Sans"/>
                  <a:sym typeface="Plus Jakarta Sans"/>
                </a:endParaRPr>
              </a:p>
              <a:p>
                <a:pPr marL="0" lvl="0" indent="0" algn="l" rtl="0">
                  <a:spcBef>
                    <a:spcPts val="0"/>
                  </a:spcBef>
                  <a:spcAft>
                    <a:spcPts val="0"/>
                  </a:spcAft>
                  <a:buNone/>
                </a:pPr>
                <a:r>
                  <a:rPr lang="en" sz="800" b="1">
                    <a:solidFill>
                      <a:srgbClr val="FF6B6B"/>
                    </a:solidFill>
                    <a:latin typeface="Plus Jakarta Sans"/>
                    <a:ea typeface="Plus Jakarta Sans"/>
                    <a:cs typeface="Plus Jakarta Sans"/>
                    <a:sym typeface="Plus Jakarta Sans"/>
                  </a:rPr>
                  <a:t>ADVANCEMENT VIEW</a:t>
                </a:r>
                <a:endParaRPr sz="800" b="1">
                  <a:solidFill>
                    <a:srgbClr val="FF6B6B"/>
                  </a:solidFill>
                  <a:latin typeface="Plus Jakarta Sans"/>
                  <a:ea typeface="Plus Jakarta Sans"/>
                  <a:cs typeface="Plus Jakarta Sans"/>
                  <a:sym typeface="Plus Jakarta Sans"/>
                </a:endParaRPr>
              </a:p>
            </p:txBody>
          </p:sp>
          <p:sp>
            <p:nvSpPr>
              <p:cNvPr id="399" name="Google Shape;399;p21"/>
              <p:cNvSpPr txBox="1"/>
              <p:nvPr/>
            </p:nvSpPr>
            <p:spPr>
              <a:xfrm>
                <a:off x="133350" y="571500"/>
                <a:ext cx="1495500" cy="5715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879" b="0">
                    <a:solidFill>
                      <a:srgbClr val="4A4A5A"/>
                    </a:solidFill>
                    <a:latin typeface="Plus Jakarta Sans"/>
                    <a:ea typeface="Plus Jakarta Sans"/>
                    <a:cs typeface="Plus Jakarta Sans"/>
                    <a:sym typeface="Plus Jakarta Sans"/>
                  </a:rPr>
                  <a:t>Structured pipeline guiding management toward objective promotion decisions.</a:t>
                </a:r>
                <a:endParaRPr sz="879" b="0">
                  <a:solidFill>
                    <a:srgbClr val="4A4A5A"/>
                  </a:solidFill>
                  <a:latin typeface="Plus Jakarta Sans"/>
                  <a:ea typeface="Plus Jakarta Sans"/>
                  <a:cs typeface="Plus Jakarta Sans"/>
                  <a:sym typeface="Plus Jakarta Sans"/>
                </a:endParaRPr>
              </a:p>
            </p:txBody>
          </p:sp>
        </p:grpSp>
        <p:grpSp>
          <p:nvGrpSpPr>
            <p:cNvPr id="400" name="Google Shape;400;p21"/>
            <p:cNvGrpSpPr/>
            <p:nvPr/>
          </p:nvGrpSpPr>
          <p:grpSpPr>
            <a:xfrm>
              <a:off x="2190750" y="523875"/>
              <a:ext cx="1790775" cy="1266975"/>
              <a:chOff x="0" y="0"/>
              <a:chExt cx="1790775" cy="1266975"/>
            </a:xfrm>
          </p:grpSpPr>
          <p:sp>
            <p:nvSpPr>
              <p:cNvPr id="401" name="Google Shape;401;p21"/>
              <p:cNvSpPr/>
              <p:nvPr/>
            </p:nvSpPr>
            <p:spPr>
              <a:xfrm>
                <a:off x="28575" y="28575"/>
                <a:ext cx="1762200" cy="1238400"/>
              </a:xfrm>
              <a:prstGeom prst="roundRect">
                <a:avLst>
                  <a:gd name="adj" fmla="val 7692"/>
                </a:avLst>
              </a:prstGeom>
              <a:solidFill>
                <a:srgbClr val="1A1A24"/>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02" name="Google Shape;402;p21"/>
              <p:cNvSpPr/>
              <p:nvPr/>
            </p:nvSpPr>
            <p:spPr>
              <a:xfrm>
                <a:off x="0" y="0"/>
                <a:ext cx="1762200" cy="1238400"/>
              </a:xfrm>
              <a:prstGeom prst="roundRect">
                <a:avLst>
                  <a:gd name="adj" fmla="val 7692"/>
                </a:avLst>
              </a:prstGeom>
              <a:solidFill>
                <a:srgbClr val="FFFFFF"/>
              </a:solidFill>
              <a:ln w="19050" cap="flat" cmpd="sng">
                <a:solidFill>
                  <a:srgbClr val="1A1A24"/>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03" name="Google Shape;403;p21"/>
              <p:cNvSpPr/>
              <p:nvPr/>
            </p:nvSpPr>
            <p:spPr>
              <a:xfrm>
                <a:off x="152400" y="152400"/>
                <a:ext cx="304800" cy="304800"/>
              </a:xfrm>
              <a:prstGeom prst="ellipse">
                <a:avLst/>
              </a:prstGeom>
              <a:solidFill>
                <a:srgbClr val="FFD93D"/>
              </a:solidFill>
              <a:ln w="19050" cap="flat" cmpd="sng">
                <a:solidFill>
                  <a:srgbClr val="1A1A24"/>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04" name="Google Shape;404;p21"/>
              <p:cNvSpPr/>
              <p:nvPr/>
            </p:nvSpPr>
            <p:spPr>
              <a:xfrm>
                <a:off x="238125" y="247650"/>
                <a:ext cx="133500" cy="104700"/>
              </a:xfrm>
              <a:custGeom>
                <a:avLst/>
                <a:gdLst/>
                <a:ahLst/>
                <a:cxnLst/>
                <a:rect l="l" t="t" r="r" b="b"/>
                <a:pathLst>
                  <a:path w="120000" h="120000" extrusionOk="0">
                    <a:moveTo>
                      <a:pt x="0" y="65455"/>
                    </a:moveTo>
                    <a:lnTo>
                      <a:pt x="42857" y="120000"/>
                    </a:lnTo>
                    <a:lnTo>
                      <a:pt x="120000" y="0"/>
                    </a:lnTo>
                  </a:path>
                </a:pathLst>
              </a:custGeom>
              <a:solidFill>
                <a:srgbClr val="000000">
                  <a:alpha val="0"/>
                </a:srgbClr>
              </a:solidFill>
              <a:ln w="23825" cap="rnd" cmpd="sng">
                <a:solidFill>
                  <a:srgbClr val="1A1A24"/>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05" name="Google Shape;405;p21"/>
              <p:cNvSpPr txBox="1"/>
              <p:nvPr/>
            </p:nvSpPr>
            <p:spPr>
              <a:xfrm>
                <a:off x="533400" y="114300"/>
                <a:ext cx="1143000" cy="4002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1050" b="1">
                    <a:solidFill>
                      <a:srgbClr val="1A1A24"/>
                    </a:solidFill>
                    <a:latin typeface="Plus Jakarta Sans"/>
                    <a:ea typeface="Plus Jakarta Sans"/>
                    <a:cs typeface="Plus Jakarta Sans"/>
                    <a:sym typeface="Plus Jakarta Sans"/>
                  </a:rPr>
                  <a:t>Action Ready</a:t>
                </a:r>
                <a:endParaRPr sz="1050" b="1">
                  <a:solidFill>
                    <a:srgbClr val="1A1A24"/>
                  </a:solidFill>
                  <a:latin typeface="Plus Jakarta Sans"/>
                  <a:ea typeface="Plus Jakarta Sans"/>
                  <a:cs typeface="Plus Jakarta Sans"/>
                  <a:sym typeface="Plus Jakarta Sans"/>
                </a:endParaRPr>
              </a:p>
              <a:p>
                <a:pPr marL="0" lvl="0" indent="0" algn="l" rtl="0">
                  <a:spcBef>
                    <a:spcPts val="0"/>
                  </a:spcBef>
                  <a:spcAft>
                    <a:spcPts val="0"/>
                  </a:spcAft>
                  <a:buNone/>
                </a:pPr>
                <a:r>
                  <a:rPr lang="en" sz="800" b="1">
                    <a:solidFill>
                      <a:srgbClr val="1A1A24"/>
                    </a:solidFill>
                    <a:latin typeface="Plus Jakarta Sans"/>
                    <a:ea typeface="Plus Jakarta Sans"/>
                    <a:cs typeface="Plus Jakarta Sans"/>
                    <a:sym typeface="Plus Jakarta Sans"/>
                  </a:rPr>
                  <a:t>62.3% METRIC</a:t>
                </a:r>
                <a:endParaRPr sz="800" b="1">
                  <a:solidFill>
                    <a:srgbClr val="1A1A24"/>
                  </a:solidFill>
                  <a:latin typeface="Plus Jakarta Sans"/>
                  <a:ea typeface="Plus Jakarta Sans"/>
                  <a:cs typeface="Plus Jakarta Sans"/>
                  <a:sym typeface="Plus Jakarta Sans"/>
                </a:endParaRPr>
              </a:p>
            </p:txBody>
          </p:sp>
          <p:sp>
            <p:nvSpPr>
              <p:cNvPr id="406" name="Google Shape;406;p21"/>
              <p:cNvSpPr txBox="1"/>
              <p:nvPr/>
            </p:nvSpPr>
            <p:spPr>
              <a:xfrm>
                <a:off x="133350" y="571500"/>
                <a:ext cx="1495500" cy="5715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879" b="0">
                    <a:solidFill>
                      <a:srgbClr val="4A4A5A"/>
                    </a:solidFill>
                    <a:latin typeface="Plus Jakarta Sans"/>
                    <a:ea typeface="Plus Jakarta Sans"/>
                    <a:cs typeface="Plus Jakarta Sans"/>
                    <a:sym typeface="Plus Jakarta Sans"/>
                  </a:rPr>
                  <a:t>Ensures organizational growth through transparent, data-backed career pathing.</a:t>
                </a:r>
                <a:endParaRPr sz="879" b="0">
                  <a:solidFill>
                    <a:srgbClr val="4A4A5A"/>
                  </a:solidFill>
                  <a:latin typeface="Plus Jakarta Sans"/>
                  <a:ea typeface="Plus Jakarta Sans"/>
                  <a:cs typeface="Plus Jakarta Sans"/>
                  <a:sym typeface="Plus Jakarta Sans"/>
                </a:endParaRPr>
              </a:p>
            </p:txBody>
          </p:sp>
        </p:grpSp>
      </p:grpSp>
    </p:spTree>
  </p:cSld>
  <p:clrMapOvr>
    <a:masterClrMapping/>
  </p:clrMapOvr>
  <mc:AlternateContent xmlns:mc="http://schemas.openxmlformats.org/markup-compatibility/2006">
    <mc:Choice xmlns:p14="http://schemas.microsoft.com/office/powerpoint/2010/main" Requires="p14">
      <p:transition spd="slow" p14:dur="2500">
        <p14:flash/>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4F4F0"/>
        </a:solidFill>
        <a:effectLst/>
      </p:bgPr>
    </p:bg>
    <p:spTree>
      <p:nvGrpSpPr>
        <p:cNvPr id="1" name="Shape 410"/>
        <p:cNvGrpSpPr/>
        <p:nvPr/>
      </p:nvGrpSpPr>
      <p:grpSpPr>
        <a:xfrm>
          <a:off x="0" y="0"/>
          <a:ext cx="0" cy="0"/>
          <a:chOff x="0" y="0"/>
          <a:chExt cx="0" cy="0"/>
        </a:xfrm>
      </p:grpSpPr>
      <p:grpSp>
        <p:nvGrpSpPr>
          <p:cNvPr id="411" name="Google Shape;411;p22"/>
          <p:cNvGrpSpPr/>
          <p:nvPr/>
        </p:nvGrpSpPr>
        <p:grpSpPr>
          <a:xfrm>
            <a:off x="381000" y="285750"/>
            <a:ext cx="419100" cy="419100"/>
            <a:chOff x="0" y="0"/>
            <a:chExt cx="419100" cy="419100"/>
          </a:xfrm>
        </p:grpSpPr>
        <p:sp>
          <p:nvSpPr>
            <p:cNvPr id="412" name="Google Shape;412;p22"/>
            <p:cNvSpPr/>
            <p:nvPr/>
          </p:nvSpPr>
          <p:spPr>
            <a:xfrm>
              <a:off x="38100" y="38100"/>
              <a:ext cx="381000" cy="381000"/>
            </a:xfrm>
            <a:prstGeom prst="roundRect">
              <a:avLst>
                <a:gd name="adj" fmla="val 20000"/>
              </a:avLst>
            </a:prstGeom>
            <a:solidFill>
              <a:srgbClr val="1A1A24"/>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13" name="Google Shape;413;p22"/>
            <p:cNvSpPr/>
            <p:nvPr/>
          </p:nvSpPr>
          <p:spPr>
            <a:xfrm>
              <a:off x="0" y="0"/>
              <a:ext cx="381000" cy="381000"/>
            </a:xfrm>
            <a:prstGeom prst="roundRect">
              <a:avLst>
                <a:gd name="adj" fmla="val 20000"/>
              </a:avLst>
            </a:prstGeom>
            <a:solidFill>
              <a:srgbClr val="FFD93D"/>
            </a:solidFill>
            <a:ln w="28575" cap="flat" cmpd="sng">
              <a:solidFill>
                <a:srgbClr val="1A1A24"/>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14" name="Google Shape;414;p22"/>
            <p:cNvSpPr/>
            <p:nvPr/>
          </p:nvSpPr>
          <p:spPr>
            <a:xfrm>
              <a:off x="95250" y="114300"/>
              <a:ext cx="190500" cy="152400"/>
            </a:xfrm>
            <a:custGeom>
              <a:avLst/>
              <a:gdLst/>
              <a:ahLst/>
              <a:cxnLst/>
              <a:rect l="l" t="t" r="r" b="b"/>
              <a:pathLst>
                <a:path w="120000" h="120000" extrusionOk="0">
                  <a:moveTo>
                    <a:pt x="0" y="0"/>
                  </a:moveTo>
                  <a:lnTo>
                    <a:pt x="36000" y="120000"/>
                  </a:lnTo>
                  <a:lnTo>
                    <a:pt x="60000" y="60000"/>
                  </a:lnTo>
                  <a:lnTo>
                    <a:pt x="84000" y="120000"/>
                  </a:lnTo>
                  <a:lnTo>
                    <a:pt x="120000" y="0"/>
                  </a:lnTo>
                </a:path>
              </a:pathLst>
            </a:custGeom>
            <a:solidFill>
              <a:srgbClr val="000000">
                <a:alpha val="0"/>
              </a:srgbClr>
            </a:solidFill>
            <a:ln w="28575" cap="rnd" cmpd="sng">
              <a:solidFill>
                <a:srgbClr val="1A1A24"/>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grpSp>
      <p:sp>
        <p:nvSpPr>
          <p:cNvPr id="415" name="Google Shape;415;p22"/>
          <p:cNvSpPr txBox="1"/>
          <p:nvPr/>
        </p:nvSpPr>
        <p:spPr>
          <a:xfrm>
            <a:off x="904875" y="209550"/>
            <a:ext cx="7858200" cy="6669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2800" b="1">
                <a:solidFill>
                  <a:srgbClr val="1A1A24"/>
                </a:solidFill>
                <a:latin typeface="Space Grotesk"/>
                <a:ea typeface="Space Grotesk"/>
                <a:cs typeface="Space Grotesk"/>
                <a:sym typeface="Space Grotesk"/>
              </a:rPr>
              <a:t>AI Models Predict 6-Month Attrition Trends</a:t>
            </a:r>
            <a:endParaRPr sz="2800" b="1">
              <a:solidFill>
                <a:srgbClr val="1A1A24"/>
              </a:solidFill>
              <a:latin typeface="Space Grotesk"/>
              <a:ea typeface="Space Grotesk"/>
              <a:cs typeface="Space Grotesk"/>
              <a:sym typeface="Space Grotesk"/>
            </a:endParaRPr>
          </a:p>
        </p:txBody>
      </p:sp>
      <p:cxnSp>
        <p:nvCxnSpPr>
          <p:cNvPr id="416" name="Google Shape;416;p22"/>
          <p:cNvCxnSpPr/>
          <p:nvPr/>
        </p:nvCxnSpPr>
        <p:spPr>
          <a:xfrm>
            <a:off x="381000" y="1000125"/>
            <a:ext cx="8382000" cy="0"/>
          </a:xfrm>
          <a:prstGeom prst="straightConnector1">
            <a:avLst/>
          </a:prstGeom>
          <a:solidFill>
            <a:srgbClr val="FFFFFF"/>
          </a:solidFill>
          <a:ln w="28575" cap="flat" cmpd="sng">
            <a:solidFill>
              <a:srgbClr val="1A1A24"/>
            </a:solidFill>
            <a:prstDash val="solid"/>
            <a:round/>
            <a:headEnd type="none" w="sm" len="sm"/>
            <a:tailEnd type="none" w="sm" len="sm"/>
          </a:ln>
        </p:spPr>
      </p:cxnSp>
      <p:grpSp>
        <p:nvGrpSpPr>
          <p:cNvPr id="417" name="Google Shape;417;p22"/>
          <p:cNvGrpSpPr/>
          <p:nvPr/>
        </p:nvGrpSpPr>
        <p:grpSpPr>
          <a:xfrm>
            <a:off x="381000" y="1190625"/>
            <a:ext cx="8382000" cy="1838400"/>
            <a:chOff x="381000" y="1190625"/>
            <a:chExt cx="8382000" cy="1838400"/>
          </a:xfrm>
        </p:grpSpPr>
        <p:sp>
          <p:nvSpPr>
            <p:cNvPr id="418" name="Google Shape;418;p22"/>
            <p:cNvSpPr/>
            <p:nvPr/>
          </p:nvSpPr>
          <p:spPr>
            <a:xfrm>
              <a:off x="457200" y="1266825"/>
              <a:ext cx="8305800" cy="1762200"/>
            </a:xfrm>
            <a:prstGeom prst="roundRect">
              <a:avLst>
                <a:gd name="adj" fmla="val 8648"/>
              </a:avLst>
            </a:prstGeom>
            <a:solidFill>
              <a:srgbClr val="1A1A24"/>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19" name="Google Shape;419;p22"/>
            <p:cNvSpPr/>
            <p:nvPr/>
          </p:nvSpPr>
          <p:spPr>
            <a:xfrm>
              <a:off x="381000" y="1190625"/>
              <a:ext cx="8305800" cy="1762200"/>
            </a:xfrm>
            <a:prstGeom prst="roundRect">
              <a:avLst>
                <a:gd name="adj" fmla="val 8648"/>
              </a:avLst>
            </a:prstGeom>
            <a:solidFill>
              <a:srgbClr val="E0F7FA"/>
            </a:solidFill>
            <a:ln w="28575" cap="flat" cmpd="sng">
              <a:solidFill>
                <a:srgbClr val="1A1A24"/>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grpSp>
          <p:nvGrpSpPr>
            <p:cNvPr id="420" name="Google Shape;420;p22"/>
            <p:cNvGrpSpPr/>
            <p:nvPr/>
          </p:nvGrpSpPr>
          <p:grpSpPr>
            <a:xfrm>
              <a:off x="619125" y="1352550"/>
              <a:ext cx="285900" cy="285900"/>
              <a:chOff x="0" y="0"/>
              <a:chExt cx="285900" cy="285900"/>
            </a:xfrm>
          </p:grpSpPr>
          <p:sp>
            <p:nvSpPr>
              <p:cNvPr id="421" name="Google Shape;421;p22"/>
              <p:cNvSpPr/>
              <p:nvPr/>
            </p:nvSpPr>
            <p:spPr>
              <a:xfrm>
                <a:off x="0" y="0"/>
                <a:ext cx="285900" cy="285900"/>
              </a:xfrm>
              <a:custGeom>
                <a:avLst/>
                <a:gdLst/>
                <a:ahLst/>
                <a:cxnLst/>
                <a:rect l="l" t="t" r="r" b="b"/>
                <a:pathLst>
                  <a:path w="120000" h="120000" extrusionOk="0">
                    <a:moveTo>
                      <a:pt x="60000" y="0"/>
                    </a:moveTo>
                    <a:cubicBezTo>
                      <a:pt x="60000" y="40000"/>
                      <a:pt x="100000" y="60000"/>
                      <a:pt x="120000" y="60000"/>
                    </a:cubicBezTo>
                    <a:cubicBezTo>
                      <a:pt x="100000" y="60000"/>
                      <a:pt x="60000" y="80000"/>
                      <a:pt x="60000" y="120000"/>
                    </a:cubicBezTo>
                    <a:cubicBezTo>
                      <a:pt x="60000" y="80000"/>
                      <a:pt x="20000" y="60000"/>
                      <a:pt x="0" y="60000"/>
                    </a:cubicBezTo>
                    <a:cubicBezTo>
                      <a:pt x="20000" y="60000"/>
                      <a:pt x="60000" y="40000"/>
                      <a:pt x="60000" y="0"/>
                    </a:cubicBezTo>
                    <a:close/>
                  </a:path>
                </a:pathLst>
              </a:custGeom>
              <a:solidFill>
                <a:srgbClr val="FF6B6B"/>
              </a:solidFill>
              <a:ln w="19050" cap="flat" cmpd="sng">
                <a:solidFill>
                  <a:srgbClr val="1A1A24"/>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22" name="Google Shape;422;p22"/>
              <p:cNvSpPr/>
              <p:nvPr/>
            </p:nvSpPr>
            <p:spPr>
              <a:xfrm>
                <a:off x="104775" y="104775"/>
                <a:ext cx="76200" cy="76200"/>
              </a:xfrm>
              <a:prstGeom prst="ellipse">
                <a:avLst/>
              </a:prstGeom>
              <a:solidFill>
                <a:srgbClr val="FFD93D"/>
              </a:solidFill>
              <a:ln w="19050" cap="flat" cmpd="sng">
                <a:solidFill>
                  <a:srgbClr val="1A1A24"/>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grpSp>
        <p:grpSp>
          <p:nvGrpSpPr>
            <p:cNvPr id="423" name="Google Shape;423;p22"/>
            <p:cNvGrpSpPr/>
            <p:nvPr/>
          </p:nvGrpSpPr>
          <p:grpSpPr>
            <a:xfrm>
              <a:off x="1000125" y="1352550"/>
              <a:ext cx="304800" cy="304800"/>
              <a:chOff x="0" y="0"/>
              <a:chExt cx="304800" cy="304800"/>
            </a:xfrm>
          </p:grpSpPr>
          <p:sp>
            <p:nvSpPr>
              <p:cNvPr id="424" name="Google Shape;424;p22"/>
              <p:cNvSpPr/>
              <p:nvPr/>
            </p:nvSpPr>
            <p:spPr>
              <a:xfrm>
                <a:off x="0" y="0"/>
                <a:ext cx="304800" cy="304800"/>
              </a:xfrm>
              <a:prstGeom prst="ellipse">
                <a:avLst/>
              </a:prstGeom>
              <a:solidFill>
                <a:srgbClr val="4ECDC4"/>
              </a:solidFill>
              <a:ln w="19050" cap="flat" cmpd="sng">
                <a:solidFill>
                  <a:srgbClr val="1A1A24"/>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25" name="Google Shape;425;p22"/>
              <p:cNvSpPr/>
              <p:nvPr/>
            </p:nvSpPr>
            <p:spPr>
              <a:xfrm>
                <a:off x="95250" y="95250"/>
                <a:ext cx="114300" cy="114300"/>
              </a:xfrm>
              <a:custGeom>
                <a:avLst/>
                <a:gdLst/>
                <a:ahLst/>
                <a:cxnLst/>
                <a:rect l="l" t="t" r="r" b="b"/>
                <a:pathLst>
                  <a:path w="120000" h="120000" extrusionOk="0">
                    <a:moveTo>
                      <a:pt x="0" y="120000"/>
                    </a:moveTo>
                    <a:lnTo>
                      <a:pt x="120000" y="0"/>
                    </a:lnTo>
                    <a:moveTo>
                      <a:pt x="40000" y="0"/>
                    </a:moveTo>
                    <a:lnTo>
                      <a:pt x="120000" y="0"/>
                    </a:lnTo>
                    <a:lnTo>
                      <a:pt x="120000" y="80000"/>
                    </a:lnTo>
                  </a:path>
                </a:pathLst>
              </a:custGeom>
              <a:solidFill>
                <a:srgbClr val="000000">
                  <a:alpha val="0"/>
                </a:srgbClr>
              </a:solidFill>
              <a:ln w="28575" cap="rnd" cmpd="sng">
                <a:solidFill>
                  <a:srgbClr val="1A1A24"/>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grpSp>
        <p:sp>
          <p:nvSpPr>
            <p:cNvPr id="426" name="Google Shape;426;p22"/>
            <p:cNvSpPr txBox="1"/>
            <p:nvPr/>
          </p:nvSpPr>
          <p:spPr>
            <a:xfrm>
              <a:off x="1428750" y="1352550"/>
              <a:ext cx="6953400" cy="3333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1800" b="1">
                  <a:solidFill>
                    <a:srgbClr val="1A1A24"/>
                  </a:solidFill>
                  <a:latin typeface="Space Grotesk"/>
                  <a:ea typeface="Space Grotesk"/>
                  <a:cs typeface="Space Grotesk"/>
                  <a:sym typeface="Space Grotesk"/>
                </a:rPr>
                <a:t>Machine Learning Workforce Forecasting</a:t>
              </a:r>
              <a:endParaRPr sz="1800" b="1">
                <a:solidFill>
                  <a:srgbClr val="1A1A24"/>
                </a:solidFill>
                <a:latin typeface="Space Grotesk"/>
                <a:ea typeface="Space Grotesk"/>
                <a:cs typeface="Space Grotesk"/>
                <a:sym typeface="Space Grotesk"/>
              </a:endParaRPr>
            </a:p>
          </p:txBody>
        </p:sp>
        <p:sp>
          <p:nvSpPr>
            <p:cNvPr id="427" name="Google Shape;427;p22"/>
            <p:cNvSpPr txBox="1"/>
            <p:nvPr/>
          </p:nvSpPr>
          <p:spPr>
            <a:xfrm>
              <a:off x="619125" y="1762125"/>
              <a:ext cx="7810500" cy="10479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1300" b="0">
                  <a:solidFill>
                    <a:srgbClr val="4A4A5A"/>
                  </a:solidFill>
                  <a:latin typeface="Plus Jakarta Sans"/>
                  <a:ea typeface="Plus Jakarta Sans"/>
                  <a:cs typeface="Plus Jakarta Sans"/>
                  <a:sym typeface="Plus Jakarta Sans"/>
                </a:rPr>
                <a:t>The dashboard utilizes machine learning to forecast workforce trends, specifically predicting attrition for the next six months. The AI model processes 1,470 active predictions and demonstrates strong reliability, reporting a model accuracy of 86.2% and an AUC score of 0.912. These predictive insights allow HR to proactively address potential workforce challenges.</a:t>
              </a:r>
              <a:endParaRPr sz="1300" b="0">
                <a:solidFill>
                  <a:srgbClr val="4A4A5A"/>
                </a:solidFill>
                <a:latin typeface="Plus Jakarta Sans"/>
                <a:ea typeface="Plus Jakarta Sans"/>
                <a:cs typeface="Plus Jakarta Sans"/>
                <a:sym typeface="Plus Jakarta Sans"/>
              </a:endParaRPr>
            </a:p>
          </p:txBody>
        </p:sp>
      </p:grpSp>
      <p:grpSp>
        <p:nvGrpSpPr>
          <p:cNvPr id="428" name="Google Shape;428;p22"/>
          <p:cNvGrpSpPr/>
          <p:nvPr/>
        </p:nvGrpSpPr>
        <p:grpSpPr>
          <a:xfrm>
            <a:off x="381000" y="3190875"/>
            <a:ext cx="2647950" cy="1628850"/>
            <a:chOff x="381000" y="3190875"/>
            <a:chExt cx="2647950" cy="1628850"/>
          </a:xfrm>
        </p:grpSpPr>
        <p:sp>
          <p:nvSpPr>
            <p:cNvPr id="429" name="Google Shape;429;p22"/>
            <p:cNvSpPr/>
            <p:nvPr/>
          </p:nvSpPr>
          <p:spPr>
            <a:xfrm>
              <a:off x="438150" y="3248025"/>
              <a:ext cx="2590800" cy="1571700"/>
            </a:xfrm>
            <a:prstGeom prst="roundRect">
              <a:avLst>
                <a:gd name="adj" fmla="val 7272"/>
              </a:avLst>
            </a:prstGeom>
            <a:solidFill>
              <a:srgbClr val="1A1A24"/>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30" name="Google Shape;430;p22"/>
            <p:cNvSpPr/>
            <p:nvPr/>
          </p:nvSpPr>
          <p:spPr>
            <a:xfrm>
              <a:off x="381000" y="3190875"/>
              <a:ext cx="2590800" cy="1571700"/>
            </a:xfrm>
            <a:prstGeom prst="roundRect">
              <a:avLst>
                <a:gd name="adj" fmla="val 7272"/>
              </a:avLst>
            </a:prstGeom>
            <a:solidFill>
              <a:srgbClr val="4ECDC4"/>
            </a:solidFill>
            <a:ln w="28575" cap="flat" cmpd="sng">
              <a:solidFill>
                <a:srgbClr val="1A1A24"/>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31" name="Google Shape;431;p22"/>
            <p:cNvSpPr txBox="1"/>
            <p:nvPr/>
          </p:nvSpPr>
          <p:spPr>
            <a:xfrm>
              <a:off x="571500" y="3352800"/>
              <a:ext cx="2209800" cy="2382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1100" b="1">
                  <a:solidFill>
                    <a:srgbClr val="1A1A24"/>
                  </a:solidFill>
                  <a:latin typeface="Plus Jakarta Sans"/>
                  <a:ea typeface="Plus Jakarta Sans"/>
                  <a:cs typeface="Plus Jakarta Sans"/>
                  <a:sym typeface="Plus Jakarta Sans"/>
                </a:rPr>
                <a:t>MODEL ACCURACY</a:t>
              </a:r>
              <a:endParaRPr sz="1100" b="1">
                <a:solidFill>
                  <a:srgbClr val="1A1A24"/>
                </a:solidFill>
                <a:latin typeface="Plus Jakarta Sans"/>
                <a:ea typeface="Plus Jakarta Sans"/>
                <a:cs typeface="Plus Jakarta Sans"/>
                <a:sym typeface="Plus Jakarta Sans"/>
              </a:endParaRPr>
            </a:p>
          </p:txBody>
        </p:sp>
        <p:sp>
          <p:nvSpPr>
            <p:cNvPr id="432" name="Google Shape;432;p22"/>
            <p:cNvSpPr txBox="1"/>
            <p:nvPr/>
          </p:nvSpPr>
          <p:spPr>
            <a:xfrm>
              <a:off x="571500" y="3590925"/>
              <a:ext cx="2209800" cy="6192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3910" b="1">
                  <a:solidFill>
                    <a:srgbClr val="1A1A24"/>
                  </a:solidFill>
                  <a:latin typeface="Space Grotesk"/>
                  <a:ea typeface="Space Grotesk"/>
                  <a:cs typeface="Space Grotesk"/>
                  <a:sym typeface="Space Grotesk"/>
                </a:rPr>
                <a:t>86.2%</a:t>
              </a:r>
              <a:endParaRPr sz="3910" b="1">
                <a:solidFill>
                  <a:srgbClr val="1A1A24"/>
                </a:solidFill>
                <a:latin typeface="Space Grotesk"/>
                <a:ea typeface="Space Grotesk"/>
                <a:cs typeface="Space Grotesk"/>
                <a:sym typeface="Space Grotesk"/>
              </a:endParaRPr>
            </a:p>
          </p:txBody>
        </p:sp>
        <p:sp>
          <p:nvSpPr>
            <p:cNvPr id="433" name="Google Shape;433;p22"/>
            <p:cNvSpPr txBox="1"/>
            <p:nvPr/>
          </p:nvSpPr>
          <p:spPr>
            <a:xfrm>
              <a:off x="571500" y="4305300"/>
              <a:ext cx="2209800" cy="3333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1100" b="1">
                  <a:solidFill>
                    <a:srgbClr val="1A1A24"/>
                  </a:solidFill>
                  <a:latin typeface="Plus Jakarta Sans"/>
                  <a:ea typeface="Plus Jakarta Sans"/>
                  <a:cs typeface="Plus Jakarta Sans"/>
                  <a:sym typeface="Plus Jakarta Sans"/>
                </a:rPr>
                <a:t>Strong Model Reliability</a:t>
              </a:r>
              <a:endParaRPr sz="1100" b="1">
                <a:solidFill>
                  <a:srgbClr val="1A1A24"/>
                </a:solidFill>
                <a:latin typeface="Plus Jakarta Sans"/>
                <a:ea typeface="Plus Jakarta Sans"/>
                <a:cs typeface="Plus Jakarta Sans"/>
                <a:sym typeface="Plus Jakarta Sans"/>
              </a:endParaRPr>
            </a:p>
          </p:txBody>
        </p:sp>
      </p:grpSp>
      <p:grpSp>
        <p:nvGrpSpPr>
          <p:cNvPr id="434" name="Google Shape;434;p22"/>
          <p:cNvGrpSpPr/>
          <p:nvPr/>
        </p:nvGrpSpPr>
        <p:grpSpPr>
          <a:xfrm>
            <a:off x="3238500" y="3190875"/>
            <a:ext cx="2647950" cy="1628850"/>
            <a:chOff x="3238500" y="3190875"/>
            <a:chExt cx="2647950" cy="1628850"/>
          </a:xfrm>
        </p:grpSpPr>
        <p:sp>
          <p:nvSpPr>
            <p:cNvPr id="435" name="Google Shape;435;p22"/>
            <p:cNvSpPr/>
            <p:nvPr/>
          </p:nvSpPr>
          <p:spPr>
            <a:xfrm>
              <a:off x="3295650" y="3248025"/>
              <a:ext cx="2590800" cy="1571700"/>
            </a:xfrm>
            <a:prstGeom prst="roundRect">
              <a:avLst>
                <a:gd name="adj" fmla="val 7272"/>
              </a:avLst>
            </a:prstGeom>
            <a:solidFill>
              <a:srgbClr val="1A1A24"/>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36" name="Google Shape;436;p22"/>
            <p:cNvSpPr/>
            <p:nvPr/>
          </p:nvSpPr>
          <p:spPr>
            <a:xfrm>
              <a:off x="3238500" y="3190875"/>
              <a:ext cx="2590800" cy="1571700"/>
            </a:xfrm>
            <a:prstGeom prst="roundRect">
              <a:avLst>
                <a:gd name="adj" fmla="val 7272"/>
              </a:avLst>
            </a:prstGeom>
            <a:solidFill>
              <a:srgbClr val="FFD93D"/>
            </a:solidFill>
            <a:ln w="28575" cap="flat" cmpd="sng">
              <a:solidFill>
                <a:srgbClr val="1A1A24"/>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37" name="Google Shape;437;p22"/>
            <p:cNvSpPr txBox="1"/>
            <p:nvPr/>
          </p:nvSpPr>
          <p:spPr>
            <a:xfrm>
              <a:off x="3429000" y="3352800"/>
              <a:ext cx="2209800" cy="2382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1100" b="1">
                  <a:solidFill>
                    <a:srgbClr val="1A1A24"/>
                  </a:solidFill>
                  <a:latin typeface="Plus Jakarta Sans"/>
                  <a:ea typeface="Plus Jakarta Sans"/>
                  <a:cs typeface="Plus Jakarta Sans"/>
                  <a:sym typeface="Plus Jakarta Sans"/>
                </a:rPr>
                <a:t>AUC SCORE</a:t>
              </a:r>
              <a:endParaRPr sz="1100" b="1">
                <a:solidFill>
                  <a:srgbClr val="1A1A24"/>
                </a:solidFill>
                <a:latin typeface="Plus Jakarta Sans"/>
                <a:ea typeface="Plus Jakarta Sans"/>
                <a:cs typeface="Plus Jakarta Sans"/>
                <a:sym typeface="Plus Jakarta Sans"/>
              </a:endParaRPr>
            </a:p>
          </p:txBody>
        </p:sp>
        <p:sp>
          <p:nvSpPr>
            <p:cNvPr id="438" name="Google Shape;438;p22"/>
            <p:cNvSpPr txBox="1"/>
            <p:nvPr/>
          </p:nvSpPr>
          <p:spPr>
            <a:xfrm>
              <a:off x="3429000" y="3590925"/>
              <a:ext cx="2209800" cy="6192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3910" b="1">
                  <a:solidFill>
                    <a:srgbClr val="1A1A24"/>
                  </a:solidFill>
                  <a:latin typeface="Space Grotesk"/>
                  <a:ea typeface="Space Grotesk"/>
                  <a:cs typeface="Space Grotesk"/>
                  <a:sym typeface="Space Grotesk"/>
                </a:rPr>
                <a:t>0.912</a:t>
              </a:r>
              <a:endParaRPr sz="3910" b="1">
                <a:solidFill>
                  <a:srgbClr val="1A1A24"/>
                </a:solidFill>
                <a:latin typeface="Space Grotesk"/>
                <a:ea typeface="Space Grotesk"/>
                <a:cs typeface="Space Grotesk"/>
                <a:sym typeface="Space Grotesk"/>
              </a:endParaRPr>
            </a:p>
          </p:txBody>
        </p:sp>
        <p:sp>
          <p:nvSpPr>
            <p:cNvPr id="439" name="Google Shape;439;p22"/>
            <p:cNvSpPr txBox="1"/>
            <p:nvPr/>
          </p:nvSpPr>
          <p:spPr>
            <a:xfrm>
              <a:off x="3429000" y="4305300"/>
              <a:ext cx="2209800" cy="3333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1100" b="1">
                  <a:solidFill>
                    <a:srgbClr val="1A1A24"/>
                  </a:solidFill>
                  <a:latin typeface="Plus Jakarta Sans"/>
                  <a:ea typeface="Plus Jakarta Sans"/>
                  <a:cs typeface="Plus Jakarta Sans"/>
                  <a:sym typeface="Plus Jakarta Sans"/>
                </a:rPr>
                <a:t>High Predictive Power</a:t>
              </a:r>
              <a:endParaRPr sz="1100" b="1">
                <a:solidFill>
                  <a:srgbClr val="1A1A24"/>
                </a:solidFill>
                <a:latin typeface="Plus Jakarta Sans"/>
                <a:ea typeface="Plus Jakarta Sans"/>
                <a:cs typeface="Plus Jakarta Sans"/>
                <a:sym typeface="Plus Jakarta Sans"/>
              </a:endParaRPr>
            </a:p>
          </p:txBody>
        </p:sp>
      </p:grpSp>
      <p:grpSp>
        <p:nvGrpSpPr>
          <p:cNvPr id="440" name="Google Shape;440;p22"/>
          <p:cNvGrpSpPr/>
          <p:nvPr/>
        </p:nvGrpSpPr>
        <p:grpSpPr>
          <a:xfrm>
            <a:off x="6096000" y="3190875"/>
            <a:ext cx="2647950" cy="1628850"/>
            <a:chOff x="6096000" y="3190875"/>
            <a:chExt cx="2647950" cy="1628850"/>
          </a:xfrm>
        </p:grpSpPr>
        <p:sp>
          <p:nvSpPr>
            <p:cNvPr id="441" name="Google Shape;441;p22"/>
            <p:cNvSpPr/>
            <p:nvPr/>
          </p:nvSpPr>
          <p:spPr>
            <a:xfrm>
              <a:off x="6153150" y="3248025"/>
              <a:ext cx="2590800" cy="1571700"/>
            </a:xfrm>
            <a:prstGeom prst="roundRect">
              <a:avLst>
                <a:gd name="adj" fmla="val 7272"/>
              </a:avLst>
            </a:prstGeom>
            <a:solidFill>
              <a:srgbClr val="1A1A24"/>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42" name="Google Shape;442;p22"/>
            <p:cNvSpPr/>
            <p:nvPr/>
          </p:nvSpPr>
          <p:spPr>
            <a:xfrm>
              <a:off x="6096000" y="3190875"/>
              <a:ext cx="2590800" cy="1571700"/>
            </a:xfrm>
            <a:prstGeom prst="roundRect">
              <a:avLst>
                <a:gd name="adj" fmla="val 7272"/>
              </a:avLst>
            </a:prstGeom>
            <a:solidFill>
              <a:srgbClr val="C8B6FF"/>
            </a:solidFill>
            <a:ln w="28575" cap="flat" cmpd="sng">
              <a:solidFill>
                <a:srgbClr val="1A1A24"/>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43" name="Google Shape;443;p22"/>
            <p:cNvSpPr txBox="1"/>
            <p:nvPr/>
          </p:nvSpPr>
          <p:spPr>
            <a:xfrm>
              <a:off x="6286500" y="3352800"/>
              <a:ext cx="2209800" cy="2382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1100" b="1">
                  <a:solidFill>
                    <a:srgbClr val="1A1A24"/>
                  </a:solidFill>
                  <a:latin typeface="Plus Jakarta Sans"/>
                  <a:ea typeface="Plus Jakarta Sans"/>
                  <a:cs typeface="Plus Jakarta Sans"/>
                  <a:sym typeface="Plus Jakarta Sans"/>
                </a:rPr>
                <a:t>ACTIVE PREDICTIONS</a:t>
              </a:r>
              <a:endParaRPr sz="1100" b="1">
                <a:solidFill>
                  <a:srgbClr val="1A1A24"/>
                </a:solidFill>
                <a:latin typeface="Plus Jakarta Sans"/>
                <a:ea typeface="Plus Jakarta Sans"/>
                <a:cs typeface="Plus Jakarta Sans"/>
                <a:sym typeface="Plus Jakarta Sans"/>
              </a:endParaRPr>
            </a:p>
          </p:txBody>
        </p:sp>
        <p:sp>
          <p:nvSpPr>
            <p:cNvPr id="444" name="Google Shape;444;p22"/>
            <p:cNvSpPr txBox="1"/>
            <p:nvPr/>
          </p:nvSpPr>
          <p:spPr>
            <a:xfrm>
              <a:off x="6286500" y="3590925"/>
              <a:ext cx="2209800" cy="6192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3910" b="1">
                  <a:solidFill>
                    <a:srgbClr val="1A1A24"/>
                  </a:solidFill>
                  <a:latin typeface="Space Grotesk"/>
                  <a:ea typeface="Space Grotesk"/>
                  <a:cs typeface="Space Grotesk"/>
                  <a:sym typeface="Space Grotesk"/>
                </a:rPr>
                <a:t>1,470</a:t>
              </a:r>
              <a:endParaRPr sz="3910" b="1">
                <a:solidFill>
                  <a:srgbClr val="1A1A24"/>
                </a:solidFill>
                <a:latin typeface="Space Grotesk"/>
                <a:ea typeface="Space Grotesk"/>
                <a:cs typeface="Space Grotesk"/>
                <a:sym typeface="Space Grotesk"/>
              </a:endParaRPr>
            </a:p>
          </p:txBody>
        </p:sp>
        <p:sp>
          <p:nvSpPr>
            <p:cNvPr id="445" name="Google Shape;445;p22"/>
            <p:cNvSpPr txBox="1"/>
            <p:nvPr/>
          </p:nvSpPr>
          <p:spPr>
            <a:xfrm>
              <a:off x="6286500" y="4305300"/>
              <a:ext cx="2209800" cy="3333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1100" b="1">
                  <a:solidFill>
                    <a:srgbClr val="1A1A24"/>
                  </a:solidFill>
                  <a:latin typeface="Plus Jakarta Sans"/>
                  <a:ea typeface="Plus Jakarta Sans"/>
                  <a:cs typeface="Plus Jakarta Sans"/>
                  <a:sym typeface="Plus Jakarta Sans"/>
                </a:rPr>
                <a:t>6-Month Forecast Window</a:t>
              </a:r>
              <a:endParaRPr sz="1100" b="1">
                <a:solidFill>
                  <a:srgbClr val="1A1A24"/>
                </a:solidFill>
                <a:latin typeface="Plus Jakarta Sans"/>
                <a:ea typeface="Plus Jakarta Sans"/>
                <a:cs typeface="Plus Jakarta Sans"/>
                <a:sym typeface="Plus Jakarta Sans"/>
              </a:endParaRPr>
            </a:p>
          </p:txBody>
        </p:sp>
      </p:grpSp>
    </p:spTree>
  </p:cSld>
  <p:clrMapOvr>
    <a:masterClrMapping/>
  </p:clrMapOvr>
  <mc:AlternateContent xmlns:mc="http://schemas.openxmlformats.org/markup-compatibility/2006">
    <mc:Choice xmlns:p14="http://schemas.microsoft.com/office/powerpoint/2010/main" Requires="p14">
      <p:transition spd="slow" p14:dur="2500">
        <p14:flash/>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49"/>
        <p:cNvGrpSpPr/>
        <p:nvPr/>
      </p:nvGrpSpPr>
      <p:grpSpPr>
        <a:xfrm>
          <a:off x="0" y="0"/>
          <a:ext cx="0" cy="0"/>
          <a:chOff x="0" y="0"/>
          <a:chExt cx="0" cy="0"/>
        </a:xfrm>
      </p:grpSpPr>
      <p:grpSp>
        <p:nvGrpSpPr>
          <p:cNvPr id="450" name="Google Shape;450;p23"/>
          <p:cNvGrpSpPr/>
          <p:nvPr/>
        </p:nvGrpSpPr>
        <p:grpSpPr>
          <a:xfrm>
            <a:off x="0" y="0"/>
            <a:ext cx="9144000" cy="5143500"/>
            <a:chOff x="0" y="0"/>
            <a:chExt cx="9144000" cy="5143500"/>
          </a:xfrm>
        </p:grpSpPr>
        <p:sp>
          <p:nvSpPr>
            <p:cNvPr id="451" name="Google Shape;451;p23"/>
            <p:cNvSpPr/>
            <p:nvPr/>
          </p:nvSpPr>
          <p:spPr>
            <a:xfrm>
              <a:off x="0" y="0"/>
              <a:ext cx="9144000" cy="5143500"/>
            </a:xfrm>
            <a:prstGeom prst="rect">
              <a:avLst/>
            </a:prstGeom>
            <a:solidFill>
              <a:srgbClr val="F4F4F0"/>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pic>
          <p:nvPicPr>
            <p:cNvPr id="452" name="Google Shape;452;p23"/>
            <p:cNvPicPr preferRelativeResize="0"/>
            <p:nvPr/>
          </p:nvPicPr>
          <p:blipFill rotWithShape="1">
            <a:blip r:embed="rId3">
              <a:alphaModFix/>
            </a:blip>
            <a:srcRect/>
            <a:stretch/>
          </p:blipFill>
          <p:spPr>
            <a:xfrm>
              <a:off x="4763" y="4763"/>
              <a:ext cx="8982000" cy="4981500"/>
            </a:xfrm>
            <a:prstGeom prst="rect">
              <a:avLst/>
            </a:prstGeom>
            <a:noFill/>
            <a:ln>
              <a:noFill/>
            </a:ln>
          </p:spPr>
        </p:pic>
        <p:sp>
          <p:nvSpPr>
            <p:cNvPr id="453" name="Google Shape;453;p23"/>
            <p:cNvSpPr/>
            <p:nvPr/>
          </p:nvSpPr>
          <p:spPr>
            <a:xfrm>
              <a:off x="0" y="0"/>
              <a:ext cx="9144000" cy="76200"/>
            </a:xfrm>
            <a:prstGeom prst="rect">
              <a:avLst/>
            </a:prstGeom>
            <a:solidFill>
              <a:srgbClr val="FFD93D"/>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grpSp>
          <p:nvGrpSpPr>
            <p:cNvPr id="454" name="Google Shape;454;p23"/>
            <p:cNvGrpSpPr/>
            <p:nvPr/>
          </p:nvGrpSpPr>
          <p:grpSpPr>
            <a:xfrm>
              <a:off x="381000" y="228600"/>
              <a:ext cx="381000" cy="381000"/>
              <a:chOff x="0" y="0"/>
              <a:chExt cx="381000" cy="381000"/>
            </a:xfrm>
          </p:grpSpPr>
          <p:sp>
            <p:nvSpPr>
              <p:cNvPr id="455" name="Google Shape;455;p23"/>
              <p:cNvSpPr/>
              <p:nvPr/>
            </p:nvSpPr>
            <p:spPr>
              <a:xfrm>
                <a:off x="38100" y="38100"/>
                <a:ext cx="342900" cy="342900"/>
              </a:xfrm>
              <a:prstGeom prst="roundRect">
                <a:avLst>
                  <a:gd name="adj" fmla="val 16666"/>
                </a:avLst>
              </a:prstGeom>
              <a:solidFill>
                <a:srgbClr val="1A1A24"/>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56" name="Google Shape;456;p23"/>
              <p:cNvSpPr/>
              <p:nvPr/>
            </p:nvSpPr>
            <p:spPr>
              <a:xfrm>
                <a:off x="0" y="0"/>
                <a:ext cx="342900" cy="342900"/>
              </a:xfrm>
              <a:prstGeom prst="roundRect">
                <a:avLst>
                  <a:gd name="adj" fmla="val 16666"/>
                </a:avLst>
              </a:prstGeom>
              <a:solidFill>
                <a:srgbClr val="FFD93D"/>
              </a:solidFill>
              <a:ln w="28575" cap="flat" cmpd="sng">
                <a:solidFill>
                  <a:srgbClr val="1A1A24"/>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57" name="Google Shape;457;p23"/>
              <p:cNvSpPr/>
              <p:nvPr/>
            </p:nvSpPr>
            <p:spPr>
              <a:xfrm>
                <a:off x="85725" y="104775"/>
                <a:ext cx="171600" cy="133500"/>
              </a:xfrm>
              <a:custGeom>
                <a:avLst/>
                <a:gdLst/>
                <a:ahLst/>
                <a:cxnLst/>
                <a:rect l="l" t="t" r="r" b="b"/>
                <a:pathLst>
                  <a:path w="120000" h="120000" extrusionOk="0">
                    <a:moveTo>
                      <a:pt x="0" y="0"/>
                    </a:moveTo>
                    <a:lnTo>
                      <a:pt x="33333" y="120000"/>
                    </a:lnTo>
                    <a:lnTo>
                      <a:pt x="60000" y="60000"/>
                    </a:lnTo>
                    <a:lnTo>
                      <a:pt x="86667" y="120000"/>
                    </a:lnTo>
                    <a:lnTo>
                      <a:pt x="120000" y="0"/>
                    </a:lnTo>
                  </a:path>
                </a:pathLst>
              </a:custGeom>
              <a:solidFill>
                <a:srgbClr val="000000">
                  <a:alpha val="0"/>
                </a:srgbClr>
              </a:solidFill>
              <a:ln w="23825" cap="rnd" cmpd="sng">
                <a:solidFill>
                  <a:srgbClr val="1A1A24"/>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grpSp>
      </p:grpSp>
      <p:sp>
        <p:nvSpPr>
          <p:cNvPr id="458" name="Google Shape;458;p23"/>
          <p:cNvSpPr txBox="1"/>
          <p:nvPr/>
        </p:nvSpPr>
        <p:spPr>
          <a:xfrm>
            <a:off x="857250" y="152400"/>
            <a:ext cx="7905900" cy="7143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2405" b="1">
                <a:solidFill>
                  <a:srgbClr val="1A1A24"/>
                </a:solidFill>
                <a:latin typeface="Space Grotesk"/>
                <a:ea typeface="Space Grotesk"/>
                <a:cs typeface="Space Grotesk"/>
                <a:sym typeface="Space Grotesk"/>
              </a:rPr>
              <a:t>Diversity Leads Health Dimensions, Engagement Lags</a:t>
            </a:r>
            <a:endParaRPr sz="2405" b="1">
              <a:solidFill>
                <a:srgbClr val="1A1A24"/>
              </a:solidFill>
              <a:latin typeface="Space Grotesk"/>
              <a:ea typeface="Space Grotesk"/>
              <a:cs typeface="Space Grotesk"/>
              <a:sym typeface="Space Grotesk"/>
            </a:endParaRPr>
          </a:p>
          <a:p>
            <a:pPr marL="0" lvl="0" indent="0" algn="l" rtl="0">
              <a:spcBef>
                <a:spcPts val="300"/>
              </a:spcBef>
              <a:spcAft>
                <a:spcPts val="0"/>
              </a:spcAft>
              <a:buNone/>
            </a:pPr>
            <a:r>
              <a:rPr lang="en" sz="1295" b="0">
                <a:solidFill>
                  <a:srgbClr val="4A4A5A"/>
                </a:solidFill>
                <a:latin typeface="Space Grotesk SemiBold"/>
                <a:ea typeface="Space Grotesk SemiBold"/>
                <a:cs typeface="Space Grotesk SemiBold"/>
                <a:sym typeface="Space Grotesk SemiBold"/>
              </a:rPr>
              <a:t>Overall workforce health score of 74.2/100 is driven by six distinct metrics</a:t>
            </a:r>
            <a:endParaRPr sz="1295" b="0">
              <a:solidFill>
                <a:srgbClr val="4A4A5A"/>
              </a:solidFill>
              <a:latin typeface="Space Grotesk SemiBold"/>
              <a:ea typeface="Space Grotesk SemiBold"/>
              <a:cs typeface="Space Grotesk SemiBold"/>
              <a:sym typeface="Space Grotesk SemiBold"/>
            </a:endParaRPr>
          </a:p>
        </p:txBody>
      </p:sp>
      <p:grpSp>
        <p:nvGrpSpPr>
          <p:cNvPr id="459" name="Google Shape;459;p23"/>
          <p:cNvGrpSpPr/>
          <p:nvPr/>
        </p:nvGrpSpPr>
        <p:grpSpPr>
          <a:xfrm>
            <a:off x="381000" y="1143000"/>
            <a:ext cx="2248050" cy="3914850"/>
            <a:chOff x="0" y="0"/>
            <a:chExt cx="2248050" cy="3914850"/>
          </a:xfrm>
        </p:grpSpPr>
        <p:sp>
          <p:nvSpPr>
            <p:cNvPr id="460" name="Google Shape;460;p23"/>
            <p:cNvSpPr/>
            <p:nvPr/>
          </p:nvSpPr>
          <p:spPr>
            <a:xfrm>
              <a:off x="57150" y="57150"/>
              <a:ext cx="2190900" cy="3857700"/>
            </a:xfrm>
            <a:prstGeom prst="roundRect">
              <a:avLst>
                <a:gd name="adj" fmla="val 6955"/>
              </a:avLst>
            </a:prstGeom>
            <a:solidFill>
              <a:srgbClr val="1A1A24"/>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61" name="Google Shape;461;p23"/>
            <p:cNvSpPr/>
            <p:nvPr/>
          </p:nvSpPr>
          <p:spPr>
            <a:xfrm>
              <a:off x="0" y="0"/>
              <a:ext cx="2190900" cy="3857700"/>
            </a:xfrm>
            <a:prstGeom prst="roundRect">
              <a:avLst>
                <a:gd name="adj" fmla="val 6955"/>
              </a:avLst>
            </a:prstGeom>
            <a:solidFill>
              <a:srgbClr val="FFFFFF"/>
            </a:solidFill>
            <a:ln w="28575" cap="flat" cmpd="sng">
              <a:solidFill>
                <a:srgbClr val="1A1A24"/>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62" name="Google Shape;462;p23"/>
            <p:cNvSpPr/>
            <p:nvPr/>
          </p:nvSpPr>
          <p:spPr>
            <a:xfrm>
              <a:off x="0" y="0"/>
              <a:ext cx="2190900" cy="114300"/>
            </a:xfrm>
            <a:prstGeom prst="roundRect">
              <a:avLst>
                <a:gd name="adj" fmla="val 50000"/>
              </a:avLst>
            </a:prstGeom>
            <a:solidFill>
              <a:srgbClr val="FFD93D"/>
            </a:solidFill>
            <a:ln w="28575" cap="flat" cmpd="sng">
              <a:solidFill>
                <a:srgbClr val="1A1A24"/>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63" name="Google Shape;463;p23"/>
            <p:cNvSpPr/>
            <p:nvPr/>
          </p:nvSpPr>
          <p:spPr>
            <a:xfrm>
              <a:off x="0" y="76200"/>
              <a:ext cx="2190900" cy="76200"/>
            </a:xfrm>
            <a:prstGeom prst="rect">
              <a:avLst/>
            </a:prstGeom>
            <a:solidFill>
              <a:srgbClr val="FFD93D"/>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64" name="Google Shape;464;p23"/>
            <p:cNvSpPr/>
            <p:nvPr/>
          </p:nvSpPr>
          <p:spPr>
            <a:xfrm>
              <a:off x="190500" y="266700"/>
              <a:ext cx="190500" cy="190500"/>
            </a:xfrm>
            <a:custGeom>
              <a:avLst/>
              <a:gdLst/>
              <a:ahLst/>
              <a:cxnLst/>
              <a:rect l="l" t="t" r="r" b="b"/>
              <a:pathLst>
                <a:path w="120000" h="120000" extrusionOk="0">
                  <a:moveTo>
                    <a:pt x="60000" y="0"/>
                  </a:moveTo>
                  <a:cubicBezTo>
                    <a:pt x="60000" y="36000"/>
                    <a:pt x="96000" y="60000"/>
                    <a:pt x="120000" y="60000"/>
                  </a:cubicBezTo>
                  <a:cubicBezTo>
                    <a:pt x="96000" y="60000"/>
                    <a:pt x="60000" y="84000"/>
                    <a:pt x="60000" y="120000"/>
                  </a:cubicBezTo>
                  <a:cubicBezTo>
                    <a:pt x="60000" y="84000"/>
                    <a:pt x="24000" y="60000"/>
                    <a:pt x="0" y="60000"/>
                  </a:cubicBezTo>
                  <a:cubicBezTo>
                    <a:pt x="24000" y="60000"/>
                    <a:pt x="60000" y="36000"/>
                    <a:pt x="60000" y="0"/>
                  </a:cubicBezTo>
                  <a:close/>
                </a:path>
              </a:pathLst>
            </a:custGeom>
            <a:solidFill>
              <a:srgbClr val="FF6B6B"/>
            </a:solidFill>
            <a:ln w="14300" cap="flat" cmpd="sng">
              <a:solidFill>
                <a:srgbClr val="1A1A24"/>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65" name="Google Shape;465;p23"/>
            <p:cNvSpPr txBox="1"/>
            <p:nvPr/>
          </p:nvSpPr>
          <p:spPr>
            <a:xfrm>
              <a:off x="190500" y="523875"/>
              <a:ext cx="1809600" cy="3143400"/>
            </a:xfrm>
            <a:prstGeom prst="rect">
              <a:avLst/>
            </a:prstGeom>
            <a:solidFill>
              <a:srgbClr val="000000">
                <a:alpha val="0"/>
              </a:srgbClr>
            </a:solidFill>
            <a:ln>
              <a:noFill/>
            </a:ln>
          </p:spPr>
          <p:txBody>
            <a:bodyPr spcFirstLastPara="1" wrap="square" lIns="0" tIns="0" rIns="0" bIns="0" anchor="t" anchorCtr="0">
              <a:noAutofit/>
            </a:bodyPr>
            <a:lstStyle/>
            <a:p>
              <a:pPr marL="0" lvl="0" indent="0" algn="l" rtl="0">
                <a:spcBef>
                  <a:spcPts val="0"/>
                </a:spcBef>
                <a:spcAft>
                  <a:spcPts val="0"/>
                </a:spcAft>
                <a:buNone/>
              </a:pPr>
              <a:r>
                <a:rPr lang="en" sz="1000" b="1" i="0" u="none" strike="noStrike">
                  <a:solidFill>
                    <a:srgbClr val="4A4A5A"/>
                  </a:solidFill>
                  <a:latin typeface="Plus Jakarta Sans"/>
                  <a:ea typeface="Plus Jakarta Sans"/>
                  <a:cs typeface="Plus Jakarta Sans"/>
                  <a:sym typeface="Plus Jakarta Sans"/>
                </a:rPr>
                <a:t>OVERALL HEALTH</a:t>
              </a:r>
              <a:endParaRPr sz="1000" b="1" i="0" u="none" strike="noStrike">
                <a:solidFill>
                  <a:srgbClr val="4A4A5A"/>
                </a:solidFill>
                <a:latin typeface="Plus Jakarta Sans"/>
                <a:ea typeface="Plus Jakarta Sans"/>
                <a:cs typeface="Plus Jakarta Sans"/>
                <a:sym typeface="Plus Jakarta Sans"/>
              </a:endParaRPr>
            </a:p>
            <a:p>
              <a:pPr marL="0" lvl="0" indent="0" algn="l" rtl="0">
                <a:spcBef>
                  <a:spcPts val="450"/>
                </a:spcBef>
                <a:spcAft>
                  <a:spcPts val="0"/>
                </a:spcAft>
                <a:buNone/>
              </a:pPr>
              <a:r>
                <a:rPr lang="en" sz="4400" b="1" i="0" u="none" strike="noStrike">
                  <a:solidFill>
                    <a:srgbClr val="1A1A24"/>
                  </a:solidFill>
                  <a:latin typeface="Space Grotesk"/>
                  <a:ea typeface="Space Grotesk"/>
                  <a:cs typeface="Space Grotesk"/>
                  <a:sym typeface="Space Grotesk"/>
                </a:rPr>
                <a:t>74.2</a:t>
              </a:r>
              <a:endParaRPr sz="1000" b="1" i="0" u="none" strike="noStrike">
                <a:solidFill>
                  <a:srgbClr val="4A4A5A"/>
                </a:solidFill>
                <a:latin typeface="Plus Jakarta Sans"/>
                <a:ea typeface="Plus Jakarta Sans"/>
                <a:cs typeface="Plus Jakarta Sans"/>
                <a:sym typeface="Plus Jakarta Sans"/>
              </a:endParaRPr>
            </a:p>
            <a:p>
              <a:pPr marL="0" lvl="0" indent="0" algn="l" rtl="0">
                <a:spcBef>
                  <a:spcPts val="0"/>
                </a:spcBef>
                <a:spcAft>
                  <a:spcPts val="0"/>
                </a:spcAft>
                <a:buNone/>
              </a:pPr>
              <a:r>
                <a:rPr lang="en" sz="1000" b="1" i="0" u="none" strike="noStrike">
                  <a:solidFill>
                    <a:srgbClr val="4A4A5A"/>
                  </a:solidFill>
                  <a:latin typeface="Plus Jakarta Sans"/>
                  <a:ea typeface="Plus Jakarta Sans"/>
                  <a:cs typeface="Plus Jakarta Sans"/>
                  <a:sym typeface="Plus Jakarta Sans"/>
                </a:rPr>
                <a:t>OUT OF 100</a:t>
              </a:r>
              <a:endParaRPr sz="1000" b="1" i="0" u="none" strike="noStrike">
                <a:solidFill>
                  <a:srgbClr val="4A4A5A"/>
                </a:solidFill>
                <a:latin typeface="Plus Jakarta Sans"/>
                <a:ea typeface="Plus Jakarta Sans"/>
                <a:cs typeface="Plus Jakarta Sans"/>
                <a:sym typeface="Plus Jakarta Sans"/>
              </a:endParaRPr>
            </a:p>
            <a:p>
              <a:pPr marL="0" lvl="0" indent="0" algn="l" rtl="0">
                <a:spcBef>
                  <a:spcPts val="0"/>
                </a:spcBef>
                <a:spcAft>
                  <a:spcPts val="0"/>
                </a:spcAft>
                <a:buNone/>
              </a:pPr>
              <a:r>
                <a:rPr lang="en" sz="1050" b="0" i="0" u="none" strike="noStrike">
                  <a:solidFill>
                    <a:srgbClr val="4A4A5A"/>
                  </a:solidFill>
                  <a:latin typeface="Plus Jakarta Sans"/>
                  <a:ea typeface="Plus Jakarta Sans"/>
                  <a:cs typeface="Plus Jakarta Sans"/>
                  <a:sym typeface="Plus Jakarta Sans"/>
                </a:rPr>
                <a:t>Workforce health is evaluated across six core dimensions. While top metrics showcase strong organizational resilience, targeted focus is required on lower-performing engagement drivers.</a:t>
              </a:r>
              <a:endParaRPr sz="1000" b="1" i="0" u="none" strike="noStrike">
                <a:solidFill>
                  <a:srgbClr val="4A4A5A"/>
                </a:solidFill>
                <a:latin typeface="Plus Jakarta Sans"/>
                <a:ea typeface="Plus Jakarta Sans"/>
                <a:cs typeface="Plus Jakarta Sans"/>
                <a:sym typeface="Plus Jakarta Sans"/>
              </a:endParaRPr>
            </a:p>
          </p:txBody>
        </p:sp>
      </p:grpSp>
      <p:grpSp>
        <p:nvGrpSpPr>
          <p:cNvPr id="466" name="Google Shape;466;p23"/>
          <p:cNvGrpSpPr/>
          <p:nvPr/>
        </p:nvGrpSpPr>
        <p:grpSpPr>
          <a:xfrm>
            <a:off x="2762250" y="1143000"/>
            <a:ext cx="1952625" cy="1857225"/>
            <a:chOff x="0" y="0"/>
            <a:chExt cx="1952625" cy="1857225"/>
          </a:xfrm>
        </p:grpSpPr>
        <p:sp>
          <p:nvSpPr>
            <p:cNvPr id="467" name="Google Shape;467;p23"/>
            <p:cNvSpPr/>
            <p:nvPr/>
          </p:nvSpPr>
          <p:spPr>
            <a:xfrm>
              <a:off x="47625" y="47625"/>
              <a:ext cx="1905000" cy="1809600"/>
            </a:xfrm>
            <a:prstGeom prst="roundRect">
              <a:avLst>
                <a:gd name="adj" fmla="val 6315"/>
              </a:avLst>
            </a:prstGeom>
            <a:solidFill>
              <a:srgbClr val="1A1A24"/>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68" name="Google Shape;468;p23"/>
            <p:cNvSpPr/>
            <p:nvPr/>
          </p:nvSpPr>
          <p:spPr>
            <a:xfrm>
              <a:off x="0" y="0"/>
              <a:ext cx="1905000" cy="1809600"/>
            </a:xfrm>
            <a:prstGeom prst="roundRect">
              <a:avLst>
                <a:gd name="adj" fmla="val 6315"/>
              </a:avLst>
            </a:prstGeom>
            <a:solidFill>
              <a:srgbClr val="FFFFFF"/>
            </a:solidFill>
            <a:ln w="28575" cap="flat" cmpd="sng">
              <a:solidFill>
                <a:srgbClr val="1A1A24"/>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69" name="Google Shape;469;p23"/>
            <p:cNvSpPr/>
            <p:nvPr/>
          </p:nvSpPr>
          <p:spPr>
            <a:xfrm>
              <a:off x="133350" y="133350"/>
              <a:ext cx="809700" cy="209700"/>
            </a:xfrm>
            <a:prstGeom prst="roundRect">
              <a:avLst>
                <a:gd name="adj" fmla="val 27271"/>
              </a:avLst>
            </a:prstGeom>
            <a:solidFill>
              <a:srgbClr val="4ECDC4"/>
            </a:solidFill>
            <a:ln w="19050" cap="flat" cmpd="sng">
              <a:solidFill>
                <a:srgbClr val="1A1A24"/>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70" name="Google Shape;470;p23"/>
            <p:cNvSpPr txBox="1"/>
            <p:nvPr/>
          </p:nvSpPr>
          <p:spPr>
            <a:xfrm>
              <a:off x="133350" y="133350"/>
              <a:ext cx="809700" cy="209700"/>
            </a:xfrm>
            <a:prstGeom prst="rect">
              <a:avLst/>
            </a:prstGeom>
            <a:solidFill>
              <a:srgbClr val="000000">
                <a:alpha val="0"/>
              </a:srgbClr>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800" b="1" i="0" u="none" strike="noStrike">
                  <a:solidFill>
                    <a:srgbClr val="1A1A24"/>
                  </a:solidFill>
                  <a:latin typeface="Plus Jakarta Sans"/>
                  <a:ea typeface="Plus Jakarta Sans"/>
                  <a:cs typeface="Plus Jakarta Sans"/>
                  <a:sym typeface="Plus Jakarta Sans"/>
                </a:rPr>
                <a:t>STRONGEST</a:t>
              </a:r>
              <a:endParaRPr sz="800" b="1" i="0" u="none" strike="noStrike">
                <a:solidFill>
                  <a:srgbClr val="1A1A24"/>
                </a:solidFill>
                <a:latin typeface="Plus Jakarta Sans"/>
                <a:ea typeface="Plus Jakarta Sans"/>
                <a:cs typeface="Plus Jakarta Sans"/>
                <a:sym typeface="Plus Jakarta Sans"/>
              </a:endParaRPr>
            </a:p>
          </p:txBody>
        </p:sp>
        <p:sp>
          <p:nvSpPr>
            <p:cNvPr id="471" name="Google Shape;471;p23"/>
            <p:cNvSpPr txBox="1"/>
            <p:nvPr/>
          </p:nvSpPr>
          <p:spPr>
            <a:xfrm>
              <a:off x="152400" y="419100"/>
              <a:ext cx="1600200" cy="1238400"/>
            </a:xfrm>
            <a:prstGeom prst="rect">
              <a:avLst/>
            </a:prstGeom>
            <a:solidFill>
              <a:srgbClr val="000000">
                <a:alpha val="0"/>
              </a:srgbClr>
            </a:solidFill>
            <a:ln>
              <a:noFill/>
            </a:ln>
          </p:spPr>
          <p:txBody>
            <a:bodyPr spcFirstLastPara="1" wrap="square" lIns="0" tIns="0" rIns="0" bIns="0" anchor="t" anchorCtr="0">
              <a:noAutofit/>
            </a:bodyPr>
            <a:lstStyle/>
            <a:p>
              <a:pPr marL="0" lvl="0" indent="0" algn="l" rtl="0">
                <a:spcBef>
                  <a:spcPts val="300"/>
                </a:spcBef>
                <a:spcAft>
                  <a:spcPts val="0"/>
                </a:spcAft>
                <a:buNone/>
              </a:pPr>
              <a:r>
                <a:rPr lang="en" sz="1000" b="1" i="0" u="none" strike="noStrike">
                  <a:solidFill>
                    <a:srgbClr val="1A1A24"/>
                  </a:solidFill>
                  <a:latin typeface="Plus Jakarta Sans"/>
                  <a:ea typeface="Plus Jakarta Sans"/>
                  <a:cs typeface="Plus Jakarta Sans"/>
                  <a:sym typeface="Plus Jakarta Sans"/>
                </a:rPr>
                <a:t>DIVERSITY</a:t>
              </a:r>
              <a:endParaRPr sz="1000" b="1" i="0" u="none" strike="noStrike">
                <a:solidFill>
                  <a:srgbClr val="1A1A24"/>
                </a:solidFill>
                <a:latin typeface="Plus Jakarta Sans"/>
                <a:ea typeface="Plus Jakarta Sans"/>
                <a:cs typeface="Plus Jakarta Sans"/>
                <a:sym typeface="Plus Jakarta Sans"/>
              </a:endParaRPr>
            </a:p>
            <a:p>
              <a:pPr marL="0" lvl="0" indent="0" algn="l" rtl="0">
                <a:spcBef>
                  <a:spcPts val="300"/>
                </a:spcBef>
                <a:spcAft>
                  <a:spcPts val="0"/>
                </a:spcAft>
                <a:buNone/>
              </a:pPr>
              <a:r>
                <a:rPr lang="en" sz="2800" b="1" i="0" u="none" strike="noStrike">
                  <a:solidFill>
                    <a:srgbClr val="1A1A24"/>
                  </a:solidFill>
                  <a:latin typeface="Space Grotesk"/>
                  <a:ea typeface="Space Grotesk"/>
                  <a:cs typeface="Space Grotesk"/>
                  <a:sym typeface="Space Grotesk"/>
                </a:rPr>
                <a:t>83%</a:t>
              </a:r>
              <a:endParaRPr sz="1000" b="1" i="0" u="none" strike="noStrike">
                <a:solidFill>
                  <a:srgbClr val="1A1A24"/>
                </a:solidFill>
                <a:latin typeface="Plus Jakarta Sans"/>
                <a:ea typeface="Plus Jakarta Sans"/>
                <a:cs typeface="Plus Jakarta Sans"/>
                <a:sym typeface="Plus Jakarta Sans"/>
              </a:endParaRPr>
            </a:p>
            <a:p>
              <a:pPr marL="0" lvl="0" indent="0" algn="l" rtl="0">
                <a:spcBef>
                  <a:spcPts val="300"/>
                </a:spcBef>
                <a:spcAft>
                  <a:spcPts val="0"/>
                </a:spcAft>
                <a:buNone/>
              </a:pPr>
              <a:r>
                <a:rPr lang="en" sz="950" b="0" i="0" u="none" strike="noStrike">
                  <a:solidFill>
                    <a:srgbClr val="4A4A5A"/>
                  </a:solidFill>
                  <a:latin typeface="Plus Jakarta Sans"/>
                  <a:ea typeface="Plus Jakarta Sans"/>
                  <a:cs typeface="Plus Jakarta Sans"/>
                  <a:sym typeface="Plus Jakarta Sans"/>
                </a:rPr>
                <a:t>Leading health metric across all categories.</a:t>
              </a:r>
              <a:endParaRPr sz="950" b="1" i="0" u="none" strike="noStrike">
                <a:solidFill>
                  <a:srgbClr val="1A1A24"/>
                </a:solidFill>
                <a:latin typeface="Plus Jakarta Sans"/>
                <a:ea typeface="Plus Jakarta Sans"/>
                <a:cs typeface="Plus Jakarta Sans"/>
                <a:sym typeface="Plus Jakarta Sans"/>
              </a:endParaRPr>
            </a:p>
          </p:txBody>
        </p:sp>
      </p:grpSp>
      <p:grpSp>
        <p:nvGrpSpPr>
          <p:cNvPr id="472" name="Google Shape;472;p23"/>
          <p:cNvGrpSpPr/>
          <p:nvPr/>
        </p:nvGrpSpPr>
        <p:grpSpPr>
          <a:xfrm>
            <a:off x="4857750" y="1143000"/>
            <a:ext cx="1952625" cy="1857225"/>
            <a:chOff x="0" y="0"/>
            <a:chExt cx="1952625" cy="1857225"/>
          </a:xfrm>
        </p:grpSpPr>
        <p:sp>
          <p:nvSpPr>
            <p:cNvPr id="473" name="Google Shape;473;p23"/>
            <p:cNvSpPr/>
            <p:nvPr/>
          </p:nvSpPr>
          <p:spPr>
            <a:xfrm>
              <a:off x="47625" y="47625"/>
              <a:ext cx="1905000" cy="1809600"/>
            </a:xfrm>
            <a:prstGeom prst="roundRect">
              <a:avLst>
                <a:gd name="adj" fmla="val 6315"/>
              </a:avLst>
            </a:prstGeom>
            <a:solidFill>
              <a:srgbClr val="1A1A24"/>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74" name="Google Shape;474;p23"/>
            <p:cNvSpPr/>
            <p:nvPr/>
          </p:nvSpPr>
          <p:spPr>
            <a:xfrm>
              <a:off x="0" y="0"/>
              <a:ext cx="1905000" cy="1809600"/>
            </a:xfrm>
            <a:prstGeom prst="roundRect">
              <a:avLst>
                <a:gd name="adj" fmla="val 6315"/>
              </a:avLst>
            </a:prstGeom>
            <a:solidFill>
              <a:srgbClr val="FFFFFF"/>
            </a:solidFill>
            <a:ln w="28575" cap="flat" cmpd="sng">
              <a:solidFill>
                <a:srgbClr val="1A1A24"/>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75" name="Google Shape;475;p23"/>
            <p:cNvSpPr txBox="1"/>
            <p:nvPr/>
          </p:nvSpPr>
          <p:spPr>
            <a:xfrm>
              <a:off x="152400" y="190500"/>
              <a:ext cx="1600200" cy="1467000"/>
            </a:xfrm>
            <a:prstGeom prst="rect">
              <a:avLst/>
            </a:prstGeom>
            <a:solidFill>
              <a:srgbClr val="000000">
                <a:alpha val="0"/>
              </a:srgbClr>
            </a:solidFill>
            <a:ln>
              <a:noFill/>
            </a:ln>
          </p:spPr>
          <p:txBody>
            <a:bodyPr spcFirstLastPara="1" wrap="square" lIns="0" tIns="0" rIns="0" bIns="0" anchor="t" anchorCtr="0">
              <a:noAutofit/>
            </a:bodyPr>
            <a:lstStyle/>
            <a:p>
              <a:pPr marL="0" lvl="0" indent="0" algn="l" rtl="0">
                <a:spcBef>
                  <a:spcPts val="0"/>
                </a:spcBef>
                <a:spcAft>
                  <a:spcPts val="0"/>
                </a:spcAft>
                <a:buNone/>
              </a:pPr>
              <a:r>
                <a:rPr lang="en" sz="1000" b="1" i="0" u="none" strike="noStrike">
                  <a:solidFill>
                    <a:srgbClr val="1A1A24"/>
                  </a:solidFill>
                  <a:latin typeface="Plus Jakarta Sans"/>
                  <a:ea typeface="Plus Jakarta Sans"/>
                  <a:cs typeface="Plus Jakarta Sans"/>
                  <a:sym typeface="Plus Jakarta Sans"/>
                </a:rPr>
                <a:t>PERFORMANCE</a:t>
              </a:r>
              <a:endParaRPr sz="1000" b="1" i="0" u="none" strike="noStrike">
                <a:solidFill>
                  <a:srgbClr val="1A1A24"/>
                </a:solidFill>
                <a:latin typeface="Plus Jakarta Sans"/>
                <a:ea typeface="Plus Jakarta Sans"/>
                <a:cs typeface="Plus Jakarta Sans"/>
                <a:sym typeface="Plus Jakarta Sans"/>
              </a:endParaRPr>
            </a:p>
            <a:p>
              <a:pPr marL="0" lvl="0" indent="0" algn="l" rtl="0">
                <a:spcBef>
                  <a:spcPts val="150"/>
                </a:spcBef>
                <a:spcAft>
                  <a:spcPts val="0"/>
                </a:spcAft>
                <a:buNone/>
              </a:pPr>
              <a:r>
                <a:rPr lang="en" sz="2800" b="1" i="0" u="none" strike="noStrike">
                  <a:solidFill>
                    <a:srgbClr val="1A1A24"/>
                  </a:solidFill>
                  <a:latin typeface="Space Grotesk"/>
                  <a:ea typeface="Space Grotesk"/>
                  <a:cs typeface="Space Grotesk"/>
                  <a:sym typeface="Space Grotesk"/>
                </a:rPr>
                <a:t>78%</a:t>
              </a:r>
              <a:endParaRPr sz="1000" b="1" i="0" u="none" strike="noStrike">
                <a:solidFill>
                  <a:srgbClr val="1A1A24"/>
                </a:solidFill>
                <a:latin typeface="Plus Jakarta Sans"/>
                <a:ea typeface="Plus Jakarta Sans"/>
                <a:cs typeface="Plus Jakarta Sans"/>
                <a:sym typeface="Plus Jakarta Sans"/>
              </a:endParaRPr>
            </a:p>
            <a:p>
              <a:pPr marL="0" lvl="0" indent="0" algn="l" rtl="0">
                <a:spcBef>
                  <a:spcPts val="900"/>
                </a:spcBef>
                <a:spcAft>
                  <a:spcPts val="0"/>
                </a:spcAft>
                <a:buNone/>
              </a:pPr>
              <a:r>
                <a:rPr lang="en" sz="950" b="0" i="0" u="none" strike="noStrike">
                  <a:solidFill>
                    <a:srgbClr val="4A4A5A"/>
                  </a:solidFill>
                  <a:latin typeface="Plus Jakarta Sans"/>
                  <a:ea typeface="Plus Jakarta Sans"/>
                  <a:cs typeface="Plus Jakarta Sans"/>
                  <a:sym typeface="Plus Jakarta Sans"/>
                </a:rPr>
                <a:t>Solid operational output and efficiency baseline.</a:t>
              </a:r>
              <a:endParaRPr sz="950" b="1" i="0" u="none" strike="noStrike">
                <a:solidFill>
                  <a:srgbClr val="1A1A24"/>
                </a:solidFill>
                <a:latin typeface="Plus Jakarta Sans"/>
                <a:ea typeface="Plus Jakarta Sans"/>
                <a:cs typeface="Plus Jakarta Sans"/>
                <a:sym typeface="Plus Jakarta Sans"/>
              </a:endParaRPr>
            </a:p>
          </p:txBody>
        </p:sp>
      </p:grpSp>
      <p:grpSp>
        <p:nvGrpSpPr>
          <p:cNvPr id="476" name="Google Shape;476;p23"/>
          <p:cNvGrpSpPr/>
          <p:nvPr/>
        </p:nvGrpSpPr>
        <p:grpSpPr>
          <a:xfrm>
            <a:off x="6953250" y="1143000"/>
            <a:ext cx="1857225" cy="1857225"/>
            <a:chOff x="0" y="0"/>
            <a:chExt cx="1857225" cy="1857225"/>
          </a:xfrm>
        </p:grpSpPr>
        <p:sp>
          <p:nvSpPr>
            <p:cNvPr id="477" name="Google Shape;477;p23"/>
            <p:cNvSpPr/>
            <p:nvPr/>
          </p:nvSpPr>
          <p:spPr>
            <a:xfrm>
              <a:off x="47625" y="47625"/>
              <a:ext cx="1809600" cy="1809600"/>
            </a:xfrm>
            <a:prstGeom prst="roundRect">
              <a:avLst>
                <a:gd name="adj" fmla="val 6315"/>
              </a:avLst>
            </a:prstGeom>
            <a:solidFill>
              <a:srgbClr val="1A1A24"/>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78" name="Google Shape;478;p23"/>
            <p:cNvSpPr/>
            <p:nvPr/>
          </p:nvSpPr>
          <p:spPr>
            <a:xfrm>
              <a:off x="0" y="0"/>
              <a:ext cx="1809600" cy="1809600"/>
            </a:xfrm>
            <a:prstGeom prst="roundRect">
              <a:avLst>
                <a:gd name="adj" fmla="val 6315"/>
              </a:avLst>
            </a:prstGeom>
            <a:solidFill>
              <a:srgbClr val="FFFFFF"/>
            </a:solidFill>
            <a:ln w="28575" cap="flat" cmpd="sng">
              <a:solidFill>
                <a:srgbClr val="1A1A24"/>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79" name="Google Shape;479;p23"/>
            <p:cNvSpPr txBox="1"/>
            <p:nvPr/>
          </p:nvSpPr>
          <p:spPr>
            <a:xfrm>
              <a:off x="152400" y="190500"/>
              <a:ext cx="1505100" cy="1467000"/>
            </a:xfrm>
            <a:prstGeom prst="rect">
              <a:avLst/>
            </a:prstGeom>
            <a:solidFill>
              <a:srgbClr val="000000">
                <a:alpha val="0"/>
              </a:srgbClr>
            </a:solidFill>
            <a:ln>
              <a:noFill/>
            </a:ln>
          </p:spPr>
          <p:txBody>
            <a:bodyPr spcFirstLastPara="1" wrap="square" lIns="0" tIns="0" rIns="0" bIns="0" anchor="t" anchorCtr="0">
              <a:noAutofit/>
            </a:bodyPr>
            <a:lstStyle/>
            <a:p>
              <a:pPr marL="0" lvl="0" indent="0" algn="l" rtl="0">
                <a:spcBef>
                  <a:spcPts val="0"/>
                </a:spcBef>
                <a:spcAft>
                  <a:spcPts val="0"/>
                </a:spcAft>
                <a:buNone/>
              </a:pPr>
              <a:r>
                <a:rPr lang="en" sz="1000" b="1" i="0" u="none" strike="noStrike">
                  <a:solidFill>
                    <a:srgbClr val="1A1A24"/>
                  </a:solidFill>
                  <a:latin typeface="Plus Jakarta Sans"/>
                  <a:ea typeface="Plus Jakarta Sans"/>
                  <a:cs typeface="Plus Jakarta Sans"/>
                  <a:sym typeface="Plus Jakarta Sans"/>
                </a:rPr>
                <a:t>INNOVATION</a:t>
              </a:r>
              <a:endParaRPr sz="1000" b="1" i="0" u="none" strike="noStrike">
                <a:solidFill>
                  <a:srgbClr val="1A1A24"/>
                </a:solidFill>
                <a:latin typeface="Plus Jakarta Sans"/>
                <a:ea typeface="Plus Jakarta Sans"/>
                <a:cs typeface="Plus Jakarta Sans"/>
                <a:sym typeface="Plus Jakarta Sans"/>
              </a:endParaRPr>
            </a:p>
            <a:p>
              <a:pPr marL="0" lvl="0" indent="0" algn="l" rtl="0">
                <a:spcBef>
                  <a:spcPts val="150"/>
                </a:spcBef>
                <a:spcAft>
                  <a:spcPts val="0"/>
                </a:spcAft>
                <a:buNone/>
              </a:pPr>
              <a:r>
                <a:rPr lang="en" sz="2800" b="1" i="0" u="none" strike="noStrike">
                  <a:solidFill>
                    <a:srgbClr val="1A1A24"/>
                  </a:solidFill>
                  <a:latin typeface="Space Grotesk"/>
                  <a:ea typeface="Space Grotesk"/>
                  <a:cs typeface="Space Grotesk"/>
                  <a:sym typeface="Space Grotesk"/>
                </a:rPr>
                <a:t>76%</a:t>
              </a:r>
              <a:endParaRPr sz="1000" b="1" i="0" u="none" strike="noStrike">
                <a:solidFill>
                  <a:srgbClr val="1A1A24"/>
                </a:solidFill>
                <a:latin typeface="Plus Jakarta Sans"/>
                <a:ea typeface="Plus Jakarta Sans"/>
                <a:cs typeface="Plus Jakarta Sans"/>
                <a:sym typeface="Plus Jakarta Sans"/>
              </a:endParaRPr>
            </a:p>
            <a:p>
              <a:pPr marL="0" lvl="0" indent="0" algn="l" rtl="0">
                <a:spcBef>
                  <a:spcPts val="900"/>
                </a:spcBef>
                <a:spcAft>
                  <a:spcPts val="0"/>
                </a:spcAft>
                <a:buNone/>
              </a:pPr>
              <a:r>
                <a:rPr lang="en" sz="950" b="0" i="0" u="none" strike="noStrike">
                  <a:solidFill>
                    <a:srgbClr val="4A4A5A"/>
                  </a:solidFill>
                  <a:latin typeface="Plus Jakarta Sans"/>
                  <a:ea typeface="Plus Jakarta Sans"/>
                  <a:cs typeface="Plus Jakarta Sans"/>
                  <a:sym typeface="Plus Jakarta Sans"/>
                </a:rPr>
                <a:t>Healthy creative output and problem solving.</a:t>
              </a:r>
              <a:endParaRPr sz="950" b="1" i="0" u="none" strike="noStrike">
                <a:solidFill>
                  <a:srgbClr val="1A1A24"/>
                </a:solidFill>
                <a:latin typeface="Plus Jakarta Sans"/>
                <a:ea typeface="Plus Jakarta Sans"/>
                <a:cs typeface="Plus Jakarta Sans"/>
                <a:sym typeface="Plus Jakarta Sans"/>
              </a:endParaRPr>
            </a:p>
          </p:txBody>
        </p:sp>
      </p:grpSp>
      <p:grpSp>
        <p:nvGrpSpPr>
          <p:cNvPr id="480" name="Google Shape;480;p23"/>
          <p:cNvGrpSpPr/>
          <p:nvPr/>
        </p:nvGrpSpPr>
        <p:grpSpPr>
          <a:xfrm>
            <a:off x="2762250" y="3190875"/>
            <a:ext cx="1952625" cy="1857225"/>
            <a:chOff x="0" y="0"/>
            <a:chExt cx="1952625" cy="1857225"/>
          </a:xfrm>
        </p:grpSpPr>
        <p:sp>
          <p:nvSpPr>
            <p:cNvPr id="481" name="Google Shape;481;p23"/>
            <p:cNvSpPr/>
            <p:nvPr/>
          </p:nvSpPr>
          <p:spPr>
            <a:xfrm>
              <a:off x="47625" y="47625"/>
              <a:ext cx="1905000" cy="1809600"/>
            </a:xfrm>
            <a:prstGeom prst="roundRect">
              <a:avLst>
                <a:gd name="adj" fmla="val 6315"/>
              </a:avLst>
            </a:prstGeom>
            <a:solidFill>
              <a:srgbClr val="1A1A24"/>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82" name="Google Shape;482;p23"/>
            <p:cNvSpPr/>
            <p:nvPr/>
          </p:nvSpPr>
          <p:spPr>
            <a:xfrm>
              <a:off x="0" y="0"/>
              <a:ext cx="1905000" cy="1809600"/>
            </a:xfrm>
            <a:prstGeom prst="roundRect">
              <a:avLst>
                <a:gd name="adj" fmla="val 6315"/>
              </a:avLst>
            </a:prstGeom>
            <a:solidFill>
              <a:srgbClr val="FFFFFF"/>
            </a:solidFill>
            <a:ln w="28575" cap="flat" cmpd="sng">
              <a:solidFill>
                <a:srgbClr val="1A1A24"/>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83" name="Google Shape;483;p23"/>
            <p:cNvSpPr txBox="1"/>
            <p:nvPr/>
          </p:nvSpPr>
          <p:spPr>
            <a:xfrm>
              <a:off x="152400" y="190500"/>
              <a:ext cx="1600200" cy="1467000"/>
            </a:xfrm>
            <a:prstGeom prst="rect">
              <a:avLst/>
            </a:prstGeom>
            <a:solidFill>
              <a:srgbClr val="000000">
                <a:alpha val="0"/>
              </a:srgbClr>
            </a:solidFill>
            <a:ln>
              <a:noFill/>
            </a:ln>
          </p:spPr>
          <p:txBody>
            <a:bodyPr spcFirstLastPara="1" wrap="square" lIns="0" tIns="0" rIns="0" bIns="0" anchor="t" anchorCtr="0">
              <a:noAutofit/>
            </a:bodyPr>
            <a:lstStyle/>
            <a:p>
              <a:pPr marL="0" lvl="0" indent="0" algn="l" rtl="0">
                <a:spcBef>
                  <a:spcPts val="0"/>
                </a:spcBef>
                <a:spcAft>
                  <a:spcPts val="0"/>
                </a:spcAft>
                <a:buNone/>
              </a:pPr>
              <a:r>
                <a:rPr lang="en" sz="1000" b="1" i="0" u="none" strike="noStrike">
                  <a:solidFill>
                    <a:srgbClr val="1A1A24"/>
                  </a:solidFill>
                  <a:latin typeface="Plus Jakarta Sans"/>
                  <a:ea typeface="Plus Jakarta Sans"/>
                  <a:cs typeface="Plus Jakarta Sans"/>
                  <a:sym typeface="Plus Jakarta Sans"/>
                </a:rPr>
                <a:t>DEVELOPMENT</a:t>
              </a:r>
              <a:endParaRPr sz="1000" b="1" i="0" u="none" strike="noStrike">
                <a:solidFill>
                  <a:srgbClr val="1A1A24"/>
                </a:solidFill>
                <a:latin typeface="Plus Jakarta Sans"/>
                <a:ea typeface="Plus Jakarta Sans"/>
                <a:cs typeface="Plus Jakarta Sans"/>
                <a:sym typeface="Plus Jakarta Sans"/>
              </a:endParaRPr>
            </a:p>
            <a:p>
              <a:pPr marL="0" lvl="0" indent="0" algn="l" rtl="0">
                <a:spcBef>
                  <a:spcPts val="150"/>
                </a:spcBef>
                <a:spcAft>
                  <a:spcPts val="0"/>
                </a:spcAft>
                <a:buNone/>
              </a:pPr>
              <a:r>
                <a:rPr lang="en" sz="2800" b="1" i="0" u="none" strike="noStrike">
                  <a:solidFill>
                    <a:srgbClr val="1A1A24"/>
                  </a:solidFill>
                  <a:latin typeface="Space Grotesk"/>
                  <a:ea typeface="Space Grotesk"/>
                  <a:cs typeface="Space Grotesk"/>
                  <a:sym typeface="Space Grotesk"/>
                </a:rPr>
                <a:t>72%</a:t>
              </a:r>
              <a:endParaRPr sz="1000" b="1" i="0" u="none" strike="noStrike">
                <a:solidFill>
                  <a:srgbClr val="1A1A24"/>
                </a:solidFill>
                <a:latin typeface="Plus Jakarta Sans"/>
                <a:ea typeface="Plus Jakarta Sans"/>
                <a:cs typeface="Plus Jakarta Sans"/>
                <a:sym typeface="Plus Jakarta Sans"/>
              </a:endParaRPr>
            </a:p>
            <a:p>
              <a:pPr marL="0" lvl="0" indent="0" algn="l" rtl="0">
                <a:spcBef>
                  <a:spcPts val="900"/>
                </a:spcBef>
                <a:spcAft>
                  <a:spcPts val="0"/>
                </a:spcAft>
                <a:buNone/>
              </a:pPr>
              <a:r>
                <a:rPr lang="en" sz="950" b="0" i="0" u="none" strike="noStrike">
                  <a:solidFill>
                    <a:srgbClr val="4A4A5A"/>
                  </a:solidFill>
                  <a:latin typeface="Plus Jakarta Sans"/>
                  <a:ea typeface="Plus Jakarta Sans"/>
                  <a:cs typeface="Plus Jakarta Sans"/>
                  <a:sym typeface="Plus Jakarta Sans"/>
                </a:rPr>
                <a:t>Steady learning and career progression growth.</a:t>
              </a:r>
              <a:endParaRPr sz="950" b="1" i="0" u="none" strike="noStrike">
                <a:solidFill>
                  <a:srgbClr val="1A1A24"/>
                </a:solidFill>
                <a:latin typeface="Plus Jakarta Sans"/>
                <a:ea typeface="Plus Jakarta Sans"/>
                <a:cs typeface="Plus Jakarta Sans"/>
                <a:sym typeface="Plus Jakarta Sans"/>
              </a:endParaRPr>
            </a:p>
          </p:txBody>
        </p:sp>
      </p:grpSp>
      <p:grpSp>
        <p:nvGrpSpPr>
          <p:cNvPr id="484" name="Google Shape;484;p23"/>
          <p:cNvGrpSpPr/>
          <p:nvPr/>
        </p:nvGrpSpPr>
        <p:grpSpPr>
          <a:xfrm>
            <a:off x="4857750" y="3190875"/>
            <a:ext cx="1952625" cy="1857225"/>
            <a:chOff x="0" y="0"/>
            <a:chExt cx="1952625" cy="1857225"/>
          </a:xfrm>
        </p:grpSpPr>
        <p:sp>
          <p:nvSpPr>
            <p:cNvPr id="485" name="Google Shape;485;p23"/>
            <p:cNvSpPr/>
            <p:nvPr/>
          </p:nvSpPr>
          <p:spPr>
            <a:xfrm>
              <a:off x="47625" y="47625"/>
              <a:ext cx="1905000" cy="1809600"/>
            </a:xfrm>
            <a:prstGeom prst="roundRect">
              <a:avLst>
                <a:gd name="adj" fmla="val 6315"/>
              </a:avLst>
            </a:prstGeom>
            <a:solidFill>
              <a:srgbClr val="1A1A24"/>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86" name="Google Shape;486;p23"/>
            <p:cNvSpPr/>
            <p:nvPr/>
          </p:nvSpPr>
          <p:spPr>
            <a:xfrm>
              <a:off x="0" y="0"/>
              <a:ext cx="1905000" cy="1809600"/>
            </a:xfrm>
            <a:prstGeom prst="roundRect">
              <a:avLst>
                <a:gd name="adj" fmla="val 6315"/>
              </a:avLst>
            </a:prstGeom>
            <a:solidFill>
              <a:srgbClr val="FFFFFF"/>
            </a:solidFill>
            <a:ln w="28575" cap="flat" cmpd="sng">
              <a:solidFill>
                <a:srgbClr val="1A1A24"/>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87" name="Google Shape;487;p23"/>
            <p:cNvSpPr txBox="1"/>
            <p:nvPr/>
          </p:nvSpPr>
          <p:spPr>
            <a:xfrm>
              <a:off x="152400" y="190500"/>
              <a:ext cx="1600200" cy="1467000"/>
            </a:xfrm>
            <a:prstGeom prst="rect">
              <a:avLst/>
            </a:prstGeom>
            <a:solidFill>
              <a:srgbClr val="000000">
                <a:alpha val="0"/>
              </a:srgbClr>
            </a:solidFill>
            <a:ln>
              <a:noFill/>
            </a:ln>
          </p:spPr>
          <p:txBody>
            <a:bodyPr spcFirstLastPara="1" wrap="square" lIns="0" tIns="0" rIns="0" bIns="0" anchor="t" anchorCtr="0">
              <a:noAutofit/>
            </a:bodyPr>
            <a:lstStyle/>
            <a:p>
              <a:pPr marL="0" lvl="0" indent="0" algn="l" rtl="0">
                <a:spcBef>
                  <a:spcPts val="0"/>
                </a:spcBef>
                <a:spcAft>
                  <a:spcPts val="0"/>
                </a:spcAft>
                <a:buNone/>
              </a:pPr>
              <a:r>
                <a:rPr lang="en" sz="1000" b="1" i="0" u="none" strike="noStrike">
                  <a:solidFill>
                    <a:srgbClr val="1A1A24"/>
                  </a:solidFill>
                  <a:latin typeface="Plus Jakarta Sans"/>
                  <a:ea typeface="Plus Jakarta Sans"/>
                  <a:cs typeface="Plus Jakarta Sans"/>
                  <a:sym typeface="Plus Jakarta Sans"/>
                </a:rPr>
                <a:t>RETENTION</a:t>
              </a:r>
              <a:endParaRPr sz="1000" b="1" i="0" u="none" strike="noStrike">
                <a:solidFill>
                  <a:srgbClr val="1A1A24"/>
                </a:solidFill>
                <a:latin typeface="Plus Jakarta Sans"/>
                <a:ea typeface="Plus Jakarta Sans"/>
                <a:cs typeface="Plus Jakarta Sans"/>
                <a:sym typeface="Plus Jakarta Sans"/>
              </a:endParaRPr>
            </a:p>
            <a:p>
              <a:pPr marL="0" lvl="0" indent="0" algn="l" rtl="0">
                <a:spcBef>
                  <a:spcPts val="150"/>
                </a:spcBef>
                <a:spcAft>
                  <a:spcPts val="0"/>
                </a:spcAft>
                <a:buNone/>
              </a:pPr>
              <a:r>
                <a:rPr lang="en" sz="2800" b="1" i="0" u="none" strike="noStrike">
                  <a:solidFill>
                    <a:srgbClr val="1A1A24"/>
                  </a:solidFill>
                  <a:latin typeface="Space Grotesk"/>
                  <a:ea typeface="Space Grotesk"/>
                  <a:cs typeface="Space Grotesk"/>
                  <a:sym typeface="Space Grotesk"/>
                </a:rPr>
                <a:t>71%</a:t>
              </a:r>
              <a:endParaRPr sz="1000" b="1" i="0" u="none" strike="noStrike">
                <a:solidFill>
                  <a:srgbClr val="1A1A24"/>
                </a:solidFill>
                <a:latin typeface="Plus Jakarta Sans"/>
                <a:ea typeface="Plus Jakarta Sans"/>
                <a:cs typeface="Plus Jakarta Sans"/>
                <a:sym typeface="Plus Jakarta Sans"/>
              </a:endParaRPr>
            </a:p>
            <a:p>
              <a:pPr marL="0" lvl="0" indent="0" algn="l" rtl="0">
                <a:spcBef>
                  <a:spcPts val="900"/>
                </a:spcBef>
                <a:spcAft>
                  <a:spcPts val="0"/>
                </a:spcAft>
                <a:buNone/>
              </a:pPr>
              <a:r>
                <a:rPr lang="en" sz="950" b="0" i="0" u="none" strike="noStrike">
                  <a:solidFill>
                    <a:srgbClr val="4A4A5A"/>
                  </a:solidFill>
                  <a:latin typeface="Plus Jakarta Sans"/>
                  <a:ea typeface="Plus Jakarta Sans"/>
                  <a:cs typeface="Plus Jakarta Sans"/>
                  <a:sym typeface="Plus Jakarta Sans"/>
                </a:rPr>
                <a:t>Moderate stability in organizational tenure.</a:t>
              </a:r>
              <a:endParaRPr sz="950" b="1" i="0" u="none" strike="noStrike">
                <a:solidFill>
                  <a:srgbClr val="1A1A24"/>
                </a:solidFill>
                <a:latin typeface="Plus Jakarta Sans"/>
                <a:ea typeface="Plus Jakarta Sans"/>
                <a:cs typeface="Plus Jakarta Sans"/>
                <a:sym typeface="Plus Jakarta Sans"/>
              </a:endParaRPr>
            </a:p>
          </p:txBody>
        </p:sp>
      </p:grpSp>
      <p:grpSp>
        <p:nvGrpSpPr>
          <p:cNvPr id="488" name="Google Shape;488;p23"/>
          <p:cNvGrpSpPr/>
          <p:nvPr/>
        </p:nvGrpSpPr>
        <p:grpSpPr>
          <a:xfrm>
            <a:off x="6953250" y="3190875"/>
            <a:ext cx="1857225" cy="1857225"/>
            <a:chOff x="0" y="0"/>
            <a:chExt cx="1857225" cy="1857225"/>
          </a:xfrm>
        </p:grpSpPr>
        <p:sp>
          <p:nvSpPr>
            <p:cNvPr id="489" name="Google Shape;489;p23"/>
            <p:cNvSpPr/>
            <p:nvPr/>
          </p:nvSpPr>
          <p:spPr>
            <a:xfrm>
              <a:off x="47625" y="47625"/>
              <a:ext cx="1809600" cy="1809600"/>
            </a:xfrm>
            <a:prstGeom prst="roundRect">
              <a:avLst>
                <a:gd name="adj" fmla="val 6315"/>
              </a:avLst>
            </a:prstGeom>
            <a:solidFill>
              <a:srgbClr val="1A1A24"/>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90" name="Google Shape;490;p23"/>
            <p:cNvSpPr/>
            <p:nvPr/>
          </p:nvSpPr>
          <p:spPr>
            <a:xfrm>
              <a:off x="0" y="0"/>
              <a:ext cx="1809600" cy="1809600"/>
            </a:xfrm>
            <a:prstGeom prst="roundRect">
              <a:avLst>
                <a:gd name="adj" fmla="val 6315"/>
              </a:avLst>
            </a:prstGeom>
            <a:solidFill>
              <a:srgbClr val="FFFFFF"/>
            </a:solidFill>
            <a:ln w="28575" cap="flat" cmpd="sng">
              <a:solidFill>
                <a:srgbClr val="1A1A24"/>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91" name="Google Shape;491;p23"/>
            <p:cNvSpPr/>
            <p:nvPr/>
          </p:nvSpPr>
          <p:spPr>
            <a:xfrm>
              <a:off x="133350" y="133350"/>
              <a:ext cx="904800" cy="209700"/>
            </a:xfrm>
            <a:prstGeom prst="roundRect">
              <a:avLst>
                <a:gd name="adj" fmla="val 27271"/>
              </a:avLst>
            </a:prstGeom>
            <a:solidFill>
              <a:srgbClr val="FF6B6B"/>
            </a:solidFill>
            <a:ln w="19050" cap="flat" cmpd="sng">
              <a:solidFill>
                <a:srgbClr val="1A1A24"/>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92" name="Google Shape;492;p23"/>
            <p:cNvSpPr txBox="1"/>
            <p:nvPr/>
          </p:nvSpPr>
          <p:spPr>
            <a:xfrm>
              <a:off x="133350" y="133350"/>
              <a:ext cx="904800" cy="209700"/>
            </a:xfrm>
            <a:prstGeom prst="rect">
              <a:avLst/>
            </a:prstGeom>
            <a:solidFill>
              <a:srgbClr val="000000">
                <a:alpha val="0"/>
              </a:srgbClr>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800" b="1" i="0" u="none" strike="noStrike">
                  <a:solidFill>
                    <a:srgbClr val="FFFFFF"/>
                  </a:solidFill>
                  <a:latin typeface="Plus Jakarta Sans"/>
                  <a:ea typeface="Plus Jakarta Sans"/>
                  <a:cs typeface="Plus Jakarta Sans"/>
                  <a:sym typeface="Plus Jakarta Sans"/>
                </a:rPr>
                <a:t>FOCUS AREA</a:t>
              </a:r>
              <a:endParaRPr sz="800" b="1" i="0" u="none" strike="noStrike">
                <a:solidFill>
                  <a:srgbClr val="FFFFFF"/>
                </a:solidFill>
                <a:latin typeface="Plus Jakarta Sans"/>
                <a:ea typeface="Plus Jakarta Sans"/>
                <a:cs typeface="Plus Jakarta Sans"/>
                <a:sym typeface="Plus Jakarta Sans"/>
              </a:endParaRPr>
            </a:p>
          </p:txBody>
        </p:sp>
        <p:sp>
          <p:nvSpPr>
            <p:cNvPr id="493" name="Google Shape;493;p23"/>
            <p:cNvSpPr txBox="1"/>
            <p:nvPr/>
          </p:nvSpPr>
          <p:spPr>
            <a:xfrm>
              <a:off x="152400" y="419100"/>
              <a:ext cx="1505100" cy="1238400"/>
            </a:xfrm>
            <a:prstGeom prst="rect">
              <a:avLst/>
            </a:prstGeom>
            <a:solidFill>
              <a:srgbClr val="000000">
                <a:alpha val="0"/>
              </a:srgbClr>
            </a:solidFill>
            <a:ln>
              <a:noFill/>
            </a:ln>
          </p:spPr>
          <p:txBody>
            <a:bodyPr spcFirstLastPara="1" wrap="square" lIns="0" tIns="0" rIns="0" bIns="0" anchor="t" anchorCtr="0">
              <a:noAutofit/>
            </a:bodyPr>
            <a:lstStyle/>
            <a:p>
              <a:pPr marL="0" lvl="0" indent="0" algn="l" rtl="0">
                <a:spcBef>
                  <a:spcPts val="300"/>
                </a:spcBef>
                <a:spcAft>
                  <a:spcPts val="0"/>
                </a:spcAft>
                <a:buNone/>
              </a:pPr>
              <a:r>
                <a:rPr lang="en" sz="1000" b="1" i="0" u="none" strike="noStrike">
                  <a:solidFill>
                    <a:srgbClr val="1A1A24"/>
                  </a:solidFill>
                  <a:latin typeface="Plus Jakarta Sans"/>
                  <a:ea typeface="Plus Jakarta Sans"/>
                  <a:cs typeface="Plus Jakarta Sans"/>
                  <a:sym typeface="Plus Jakarta Sans"/>
                </a:rPr>
                <a:t>ENGAGEMENT</a:t>
              </a:r>
              <a:endParaRPr sz="1000" b="1" i="0" u="none" strike="noStrike">
                <a:solidFill>
                  <a:srgbClr val="1A1A24"/>
                </a:solidFill>
                <a:latin typeface="Plus Jakarta Sans"/>
                <a:ea typeface="Plus Jakarta Sans"/>
                <a:cs typeface="Plus Jakarta Sans"/>
                <a:sym typeface="Plus Jakarta Sans"/>
              </a:endParaRPr>
            </a:p>
            <a:p>
              <a:pPr marL="0" lvl="0" indent="0" algn="l" rtl="0">
                <a:spcBef>
                  <a:spcPts val="300"/>
                </a:spcBef>
                <a:spcAft>
                  <a:spcPts val="0"/>
                </a:spcAft>
                <a:buNone/>
              </a:pPr>
              <a:r>
                <a:rPr lang="en" sz="2800" b="1" i="0" u="none" strike="noStrike">
                  <a:solidFill>
                    <a:srgbClr val="FF6B6B"/>
                  </a:solidFill>
                  <a:latin typeface="Space Grotesk"/>
                  <a:ea typeface="Space Grotesk"/>
                  <a:cs typeface="Space Grotesk"/>
                  <a:sym typeface="Space Grotesk"/>
                </a:rPr>
                <a:t>65%</a:t>
              </a:r>
              <a:endParaRPr sz="1000" b="1" i="0" u="none" strike="noStrike">
                <a:solidFill>
                  <a:srgbClr val="1A1A24"/>
                </a:solidFill>
                <a:latin typeface="Plus Jakarta Sans"/>
                <a:ea typeface="Plus Jakarta Sans"/>
                <a:cs typeface="Plus Jakarta Sans"/>
                <a:sym typeface="Plus Jakarta Sans"/>
              </a:endParaRPr>
            </a:p>
            <a:p>
              <a:pPr marL="0" lvl="0" indent="0" algn="l" rtl="0">
                <a:spcBef>
                  <a:spcPts val="300"/>
                </a:spcBef>
                <a:spcAft>
                  <a:spcPts val="0"/>
                </a:spcAft>
                <a:buNone/>
              </a:pPr>
              <a:r>
                <a:rPr lang="en" sz="950" b="0" i="0" u="none" strike="noStrike">
                  <a:solidFill>
                    <a:srgbClr val="4A4A5A"/>
                  </a:solidFill>
                  <a:latin typeface="Plus Jakarta Sans"/>
                  <a:ea typeface="Plus Jakarta Sans"/>
                  <a:cs typeface="Plus Jakarta Sans"/>
                  <a:sym typeface="Plus Jakarta Sans"/>
                </a:rPr>
                <a:t>Requires primary targeted intervention.</a:t>
              </a:r>
              <a:endParaRPr sz="950" b="1" i="0" u="none" strike="noStrike">
                <a:solidFill>
                  <a:srgbClr val="1A1A24"/>
                </a:solidFill>
                <a:latin typeface="Plus Jakarta Sans"/>
                <a:ea typeface="Plus Jakarta Sans"/>
                <a:cs typeface="Plus Jakarta Sans"/>
                <a:sym typeface="Plus Jakarta Sans"/>
              </a:endParaRPr>
            </a:p>
          </p:txBody>
        </p:sp>
      </p:grpSp>
      <p:sp>
        <p:nvSpPr>
          <p:cNvPr id="494" name="Google Shape;494;p23"/>
          <p:cNvSpPr/>
          <p:nvPr/>
        </p:nvSpPr>
        <p:spPr>
          <a:xfrm>
            <a:off x="381000" y="971550"/>
            <a:ext cx="8382000" cy="0"/>
          </a:xfrm>
          <a:custGeom>
            <a:avLst/>
            <a:gdLst/>
            <a:ahLst/>
            <a:cxnLst/>
            <a:rect l="l" t="t" r="r" b="b"/>
            <a:pathLst>
              <a:path w="120000" h="120000" fill="none" extrusionOk="0">
                <a:moveTo>
                  <a:pt x="0" y="0"/>
                </a:moveTo>
                <a:lnTo>
                  <a:pt x="120000" y="0"/>
                </a:lnTo>
              </a:path>
            </a:pathLst>
          </a:custGeom>
          <a:solidFill>
            <a:srgbClr val="FFFFFF"/>
          </a:solidFill>
          <a:ln w="28575" cap="rnd" cmpd="sng">
            <a:solidFill>
              <a:srgbClr val="1A1A24"/>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Tree>
  </p:cSld>
  <p:clrMapOvr>
    <a:masterClrMapping/>
  </p:clrMapOvr>
  <mc:AlternateContent xmlns:mc="http://schemas.openxmlformats.org/markup-compatibility/2006">
    <mc:Choice xmlns:p14="http://schemas.microsoft.com/office/powerpoint/2010/main" Requires="p14">
      <p:transition spd="slow" p14:dur="2500">
        <p14:flash/>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98"/>
        <p:cNvGrpSpPr/>
        <p:nvPr/>
      </p:nvGrpSpPr>
      <p:grpSpPr>
        <a:xfrm>
          <a:off x="0" y="0"/>
          <a:ext cx="0" cy="0"/>
          <a:chOff x="0" y="0"/>
          <a:chExt cx="0" cy="0"/>
        </a:xfrm>
      </p:grpSpPr>
      <p:grpSp>
        <p:nvGrpSpPr>
          <p:cNvPr id="499" name="Google Shape;499;p24"/>
          <p:cNvGrpSpPr/>
          <p:nvPr/>
        </p:nvGrpSpPr>
        <p:grpSpPr>
          <a:xfrm>
            <a:off x="0" y="0"/>
            <a:ext cx="9144000" cy="5143500"/>
            <a:chOff x="0" y="0"/>
            <a:chExt cx="9144000" cy="5143500"/>
          </a:xfrm>
        </p:grpSpPr>
        <p:sp>
          <p:nvSpPr>
            <p:cNvPr id="500" name="Google Shape;500;p24"/>
            <p:cNvSpPr/>
            <p:nvPr/>
          </p:nvSpPr>
          <p:spPr>
            <a:xfrm>
              <a:off x="0" y="0"/>
              <a:ext cx="9144000" cy="5143500"/>
            </a:xfrm>
            <a:prstGeom prst="rect">
              <a:avLst/>
            </a:prstGeom>
            <a:solidFill>
              <a:srgbClr val="F4F4F0"/>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grpSp>
          <p:nvGrpSpPr>
            <p:cNvPr id="501" name="Google Shape;501;p24"/>
            <p:cNvGrpSpPr/>
            <p:nvPr/>
          </p:nvGrpSpPr>
          <p:grpSpPr>
            <a:xfrm>
              <a:off x="381000" y="228600"/>
              <a:ext cx="419100" cy="419100"/>
              <a:chOff x="0" y="0"/>
              <a:chExt cx="419100" cy="419100"/>
            </a:xfrm>
          </p:grpSpPr>
          <p:sp>
            <p:nvSpPr>
              <p:cNvPr id="502" name="Google Shape;502;p24"/>
              <p:cNvSpPr/>
              <p:nvPr/>
            </p:nvSpPr>
            <p:spPr>
              <a:xfrm>
                <a:off x="38100" y="38100"/>
                <a:ext cx="381000" cy="381000"/>
              </a:xfrm>
              <a:prstGeom prst="roundRect">
                <a:avLst>
                  <a:gd name="adj" fmla="val 20000"/>
                </a:avLst>
              </a:prstGeom>
              <a:solidFill>
                <a:srgbClr val="1A1A24"/>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03" name="Google Shape;503;p24"/>
              <p:cNvSpPr/>
              <p:nvPr/>
            </p:nvSpPr>
            <p:spPr>
              <a:xfrm>
                <a:off x="0" y="0"/>
                <a:ext cx="381000" cy="381000"/>
              </a:xfrm>
              <a:prstGeom prst="roundRect">
                <a:avLst>
                  <a:gd name="adj" fmla="val 20000"/>
                </a:avLst>
              </a:prstGeom>
              <a:solidFill>
                <a:srgbClr val="FFD93D"/>
              </a:solidFill>
              <a:ln w="28575" cap="flat" cmpd="sng">
                <a:solidFill>
                  <a:srgbClr val="1A1A24"/>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04" name="Google Shape;504;p24"/>
              <p:cNvSpPr/>
              <p:nvPr/>
            </p:nvSpPr>
            <p:spPr>
              <a:xfrm>
                <a:off x="95250" y="114300"/>
                <a:ext cx="190500" cy="152400"/>
              </a:xfrm>
              <a:custGeom>
                <a:avLst/>
                <a:gdLst/>
                <a:ahLst/>
                <a:cxnLst/>
                <a:rect l="l" t="t" r="r" b="b"/>
                <a:pathLst>
                  <a:path w="120000" h="120000" extrusionOk="0">
                    <a:moveTo>
                      <a:pt x="0" y="0"/>
                    </a:moveTo>
                    <a:lnTo>
                      <a:pt x="36000" y="120000"/>
                    </a:lnTo>
                    <a:lnTo>
                      <a:pt x="60000" y="60000"/>
                    </a:lnTo>
                    <a:lnTo>
                      <a:pt x="84000" y="120000"/>
                    </a:lnTo>
                    <a:lnTo>
                      <a:pt x="120000" y="0"/>
                    </a:lnTo>
                  </a:path>
                </a:pathLst>
              </a:custGeom>
              <a:solidFill>
                <a:srgbClr val="000000">
                  <a:alpha val="0"/>
                </a:srgbClr>
              </a:solidFill>
              <a:ln w="28575" cap="rnd" cmpd="sng">
                <a:solidFill>
                  <a:srgbClr val="1A1A24"/>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grpSp>
        <p:cxnSp>
          <p:nvCxnSpPr>
            <p:cNvPr id="505" name="Google Shape;505;p24"/>
            <p:cNvCxnSpPr/>
            <p:nvPr/>
          </p:nvCxnSpPr>
          <p:spPr>
            <a:xfrm>
              <a:off x="381000" y="1000125"/>
              <a:ext cx="8382000" cy="0"/>
            </a:xfrm>
            <a:prstGeom prst="straightConnector1">
              <a:avLst/>
            </a:prstGeom>
            <a:solidFill>
              <a:srgbClr val="FFFFFF"/>
            </a:solidFill>
            <a:ln w="28575" cap="flat" cmpd="sng">
              <a:solidFill>
                <a:srgbClr val="1A1A24"/>
              </a:solidFill>
              <a:prstDash val="solid"/>
              <a:round/>
              <a:headEnd type="none" w="sm" len="sm"/>
              <a:tailEnd type="none" w="sm" len="sm"/>
            </a:ln>
          </p:spPr>
        </p:cxnSp>
      </p:grpSp>
      <p:sp>
        <p:nvSpPr>
          <p:cNvPr id="506" name="Google Shape;506;p24"/>
          <p:cNvSpPr txBox="1"/>
          <p:nvPr/>
        </p:nvSpPr>
        <p:spPr>
          <a:xfrm>
            <a:off x="952500" y="228600"/>
            <a:ext cx="7810500" cy="6669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2210" b="1">
                <a:solidFill>
                  <a:srgbClr val="1A1A24"/>
                </a:solidFill>
                <a:latin typeface="Space Grotesk"/>
                <a:ea typeface="Space Grotesk"/>
                <a:cs typeface="Space Grotesk"/>
                <a:sym typeface="Space Grotesk"/>
              </a:rPr>
              <a:t>Leverage Dashboard Insights for Workforce Decisions</a:t>
            </a:r>
            <a:endParaRPr sz="2210" b="1">
              <a:solidFill>
                <a:srgbClr val="1A1A24"/>
              </a:solidFill>
              <a:latin typeface="Space Grotesk"/>
              <a:ea typeface="Space Grotesk"/>
              <a:cs typeface="Space Grotesk"/>
              <a:sym typeface="Space Grotesk"/>
            </a:endParaRPr>
          </a:p>
        </p:txBody>
      </p:sp>
      <p:grpSp>
        <p:nvGrpSpPr>
          <p:cNvPr id="507" name="Google Shape;507;p24"/>
          <p:cNvGrpSpPr/>
          <p:nvPr/>
        </p:nvGrpSpPr>
        <p:grpSpPr>
          <a:xfrm>
            <a:off x="381000" y="1190625"/>
            <a:ext cx="8420100" cy="847800"/>
            <a:chOff x="0" y="0"/>
            <a:chExt cx="8420100" cy="847800"/>
          </a:xfrm>
        </p:grpSpPr>
        <p:sp>
          <p:nvSpPr>
            <p:cNvPr id="508" name="Google Shape;508;p24"/>
            <p:cNvSpPr/>
            <p:nvPr/>
          </p:nvSpPr>
          <p:spPr>
            <a:xfrm>
              <a:off x="38100" y="38100"/>
              <a:ext cx="8382000" cy="809700"/>
            </a:xfrm>
            <a:prstGeom prst="roundRect">
              <a:avLst>
                <a:gd name="adj" fmla="val 14117"/>
              </a:avLst>
            </a:prstGeom>
            <a:solidFill>
              <a:srgbClr val="1A1A24"/>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09" name="Google Shape;509;p24"/>
            <p:cNvSpPr/>
            <p:nvPr/>
          </p:nvSpPr>
          <p:spPr>
            <a:xfrm>
              <a:off x="0" y="0"/>
              <a:ext cx="8382000" cy="809700"/>
            </a:xfrm>
            <a:prstGeom prst="roundRect">
              <a:avLst>
                <a:gd name="adj" fmla="val 14117"/>
              </a:avLst>
            </a:prstGeom>
            <a:solidFill>
              <a:srgbClr val="FFFFFF"/>
            </a:solidFill>
            <a:ln w="28575" cap="flat" cmpd="sng">
              <a:solidFill>
                <a:srgbClr val="1A1A24"/>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10" name="Google Shape;510;p24"/>
            <p:cNvSpPr txBox="1"/>
            <p:nvPr/>
          </p:nvSpPr>
          <p:spPr>
            <a:xfrm>
              <a:off x="190500" y="114300"/>
              <a:ext cx="8001000" cy="5811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1100" b="0">
                  <a:solidFill>
                    <a:srgbClr val="4A4A5A"/>
                  </a:solidFill>
                  <a:latin typeface="Plus Jakarta Sans"/>
                  <a:ea typeface="Plus Jakarta Sans"/>
                  <a:cs typeface="Plus Jakarta Sans"/>
                  <a:sym typeface="Plus Jakarta Sans"/>
                </a:rPr>
                <a:t>The centralized dashboard converts employee data into understandable insights for HR leadership. By utilizing provided KPIs, visual analytics, and AI-based predictions, HR can effectively monitor performance trends, understand attrition risks, identify top talent, and make data-backed workforce decisions.</a:t>
              </a:r>
              <a:endParaRPr sz="1100" b="0">
                <a:solidFill>
                  <a:srgbClr val="4A4A5A"/>
                </a:solidFill>
                <a:latin typeface="Plus Jakarta Sans"/>
                <a:ea typeface="Plus Jakarta Sans"/>
                <a:cs typeface="Plus Jakarta Sans"/>
                <a:sym typeface="Plus Jakarta Sans"/>
              </a:endParaRPr>
            </a:p>
          </p:txBody>
        </p:sp>
      </p:grpSp>
      <p:grpSp>
        <p:nvGrpSpPr>
          <p:cNvPr id="511" name="Google Shape;511;p24"/>
          <p:cNvGrpSpPr/>
          <p:nvPr/>
        </p:nvGrpSpPr>
        <p:grpSpPr>
          <a:xfrm>
            <a:off x="381000" y="2238375"/>
            <a:ext cx="8382000" cy="2467125"/>
            <a:chOff x="0" y="0"/>
            <a:chExt cx="8382000" cy="2467125"/>
          </a:xfrm>
        </p:grpSpPr>
        <p:sp>
          <p:nvSpPr>
            <p:cNvPr id="512" name="Google Shape;512;p24"/>
            <p:cNvSpPr txBox="1"/>
            <p:nvPr/>
          </p:nvSpPr>
          <p:spPr>
            <a:xfrm>
              <a:off x="0" y="0"/>
              <a:ext cx="8382000" cy="2859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1100" b="1">
                  <a:solidFill>
                    <a:srgbClr val="4A4A5A"/>
                  </a:solidFill>
                  <a:latin typeface="Plus Jakarta Sans"/>
                  <a:ea typeface="Plus Jakarta Sans"/>
                  <a:cs typeface="Plus Jakarta Sans"/>
                  <a:sym typeface="Plus Jakarta Sans"/>
                </a:rPr>
                <a:t>ACTION-ORIENTED WORKFORCE STRATEGY PIPELINE</a:t>
              </a:r>
              <a:endParaRPr sz="1100" b="1">
                <a:solidFill>
                  <a:srgbClr val="4A4A5A"/>
                </a:solidFill>
                <a:latin typeface="Plus Jakarta Sans"/>
                <a:ea typeface="Plus Jakarta Sans"/>
                <a:cs typeface="Plus Jakarta Sans"/>
                <a:sym typeface="Plus Jakarta Sans"/>
              </a:endParaRPr>
            </a:p>
          </p:txBody>
        </p:sp>
        <p:grpSp>
          <p:nvGrpSpPr>
            <p:cNvPr id="513" name="Google Shape;513;p24"/>
            <p:cNvGrpSpPr/>
            <p:nvPr/>
          </p:nvGrpSpPr>
          <p:grpSpPr>
            <a:xfrm>
              <a:off x="0" y="438150"/>
              <a:ext cx="8325000" cy="2028975"/>
              <a:chOff x="0" y="57150"/>
              <a:chExt cx="8325000" cy="2028975"/>
            </a:xfrm>
          </p:grpSpPr>
          <p:pic>
            <p:nvPicPr>
              <p:cNvPr id="514" name="Google Shape;514;p24"/>
              <p:cNvPicPr preferRelativeResize="0"/>
              <p:nvPr/>
            </p:nvPicPr>
            <p:blipFill rotWithShape="1">
              <a:blip r:embed="rId3">
                <a:alphaModFix/>
              </a:blip>
              <a:srcRect/>
              <a:stretch/>
            </p:blipFill>
            <p:spPr>
              <a:xfrm>
                <a:off x="1333500" y="271463"/>
                <a:ext cx="5715000" cy="28500"/>
              </a:xfrm>
              <a:prstGeom prst="rect">
                <a:avLst/>
              </a:prstGeom>
              <a:noFill/>
              <a:ln>
                <a:noFill/>
              </a:ln>
            </p:spPr>
          </p:pic>
          <p:grpSp>
            <p:nvGrpSpPr>
              <p:cNvPr id="515" name="Google Shape;515;p24"/>
              <p:cNvGrpSpPr/>
              <p:nvPr/>
            </p:nvGrpSpPr>
            <p:grpSpPr>
              <a:xfrm>
                <a:off x="0" y="57150"/>
                <a:ext cx="2610000" cy="2028975"/>
                <a:chOff x="0" y="57150"/>
                <a:chExt cx="2610000" cy="2028975"/>
              </a:xfrm>
            </p:grpSpPr>
            <p:sp>
              <p:nvSpPr>
                <p:cNvPr id="516" name="Google Shape;516;p24"/>
                <p:cNvSpPr/>
                <p:nvPr/>
              </p:nvSpPr>
              <p:spPr>
                <a:xfrm>
                  <a:off x="1123950" y="76200"/>
                  <a:ext cx="419100" cy="419100"/>
                </a:xfrm>
                <a:prstGeom prst="ellipse">
                  <a:avLst/>
                </a:prstGeom>
                <a:solidFill>
                  <a:srgbClr val="1A1A24"/>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17" name="Google Shape;517;p24"/>
                <p:cNvSpPr/>
                <p:nvPr/>
              </p:nvSpPr>
              <p:spPr>
                <a:xfrm>
                  <a:off x="1104900" y="57150"/>
                  <a:ext cx="419100" cy="419100"/>
                </a:xfrm>
                <a:prstGeom prst="ellipse">
                  <a:avLst/>
                </a:prstGeom>
                <a:solidFill>
                  <a:srgbClr val="FFD93D"/>
                </a:solidFill>
                <a:ln w="28575" cap="flat" cmpd="sng">
                  <a:solidFill>
                    <a:srgbClr val="1A1A24"/>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18" name="Google Shape;518;p24"/>
                <p:cNvSpPr txBox="1"/>
                <p:nvPr/>
              </p:nvSpPr>
              <p:spPr>
                <a:xfrm>
                  <a:off x="1104900" y="57150"/>
                  <a:ext cx="419100" cy="4191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1400" b="1">
                      <a:solidFill>
                        <a:srgbClr val="1A1A24"/>
                      </a:solidFill>
                      <a:latin typeface="Space Grotesk"/>
                      <a:ea typeface="Space Grotesk"/>
                      <a:cs typeface="Space Grotesk"/>
                      <a:sym typeface="Space Grotesk"/>
                    </a:rPr>
                    <a:t>01</a:t>
                  </a:r>
                  <a:endParaRPr/>
                </a:p>
              </p:txBody>
            </p:sp>
            <p:grpSp>
              <p:nvGrpSpPr>
                <p:cNvPr id="519" name="Google Shape;519;p24"/>
                <p:cNvGrpSpPr/>
                <p:nvPr/>
              </p:nvGrpSpPr>
              <p:grpSpPr>
                <a:xfrm>
                  <a:off x="0" y="619125"/>
                  <a:ext cx="2610000" cy="1467000"/>
                  <a:chOff x="0" y="0"/>
                  <a:chExt cx="2610000" cy="1467000"/>
                </a:xfrm>
              </p:grpSpPr>
              <p:sp>
                <p:nvSpPr>
                  <p:cNvPr id="520" name="Google Shape;520;p24"/>
                  <p:cNvSpPr/>
                  <p:nvPr/>
                </p:nvSpPr>
                <p:spPr>
                  <a:xfrm>
                    <a:off x="38100" y="38100"/>
                    <a:ext cx="2571900" cy="1428900"/>
                  </a:xfrm>
                  <a:prstGeom prst="roundRect">
                    <a:avLst>
                      <a:gd name="adj" fmla="val 8000"/>
                    </a:avLst>
                  </a:prstGeom>
                  <a:solidFill>
                    <a:srgbClr val="1A1A24"/>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21" name="Google Shape;521;p24"/>
                  <p:cNvSpPr/>
                  <p:nvPr/>
                </p:nvSpPr>
                <p:spPr>
                  <a:xfrm>
                    <a:off x="0" y="0"/>
                    <a:ext cx="2571900" cy="1428900"/>
                  </a:xfrm>
                  <a:prstGeom prst="roundRect">
                    <a:avLst>
                      <a:gd name="adj" fmla="val 8000"/>
                    </a:avLst>
                  </a:prstGeom>
                  <a:solidFill>
                    <a:srgbClr val="FFFFFF"/>
                  </a:solidFill>
                  <a:ln w="28575" cap="flat" cmpd="sng">
                    <a:solidFill>
                      <a:srgbClr val="1A1A24"/>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22" name="Google Shape;522;p24"/>
                  <p:cNvSpPr/>
                  <p:nvPr/>
                </p:nvSpPr>
                <p:spPr>
                  <a:xfrm>
                    <a:off x="0" y="0"/>
                    <a:ext cx="2571900" cy="114300"/>
                  </a:xfrm>
                  <a:custGeom>
                    <a:avLst/>
                    <a:gdLst/>
                    <a:ahLst/>
                    <a:cxnLst/>
                    <a:rect l="l" t="t" r="r" b="b"/>
                    <a:pathLst>
                      <a:path w="120000" h="120000" extrusionOk="0">
                        <a:moveTo>
                          <a:pt x="0" y="120000"/>
                        </a:moveTo>
                        <a:cubicBezTo>
                          <a:pt x="0" y="53700"/>
                          <a:pt x="2387" y="0"/>
                          <a:pt x="5333" y="0"/>
                        </a:cubicBezTo>
                        <a:lnTo>
                          <a:pt x="114667" y="0"/>
                        </a:lnTo>
                        <a:cubicBezTo>
                          <a:pt x="117613" y="0"/>
                          <a:pt x="120000" y="53700"/>
                          <a:pt x="120000" y="120000"/>
                        </a:cubicBezTo>
                        <a:lnTo>
                          <a:pt x="120000" y="100000"/>
                        </a:lnTo>
                        <a:lnTo>
                          <a:pt x="0" y="100000"/>
                        </a:lnTo>
                        <a:close/>
                      </a:path>
                    </a:pathLst>
                  </a:custGeom>
                  <a:solidFill>
                    <a:srgbClr val="FFD93D"/>
                  </a:solidFill>
                  <a:ln w="28575" cap="flat" cmpd="sng">
                    <a:solidFill>
                      <a:srgbClr val="1A1A24"/>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23" name="Google Shape;523;p24"/>
                  <p:cNvSpPr txBox="1"/>
                  <p:nvPr/>
                </p:nvSpPr>
                <p:spPr>
                  <a:xfrm>
                    <a:off x="152400" y="209550"/>
                    <a:ext cx="2267100" cy="10953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1600" b="1">
                        <a:solidFill>
                          <a:srgbClr val="1A1A24"/>
                        </a:solidFill>
                        <a:latin typeface="Space Grotesk"/>
                        <a:ea typeface="Space Grotesk"/>
                        <a:cs typeface="Space Grotesk"/>
                        <a:sym typeface="Space Grotesk"/>
                      </a:rPr>
                      <a:t>1. Monitor Overtime &amp; Retention Risks</a:t>
                    </a:r>
                    <a:endParaRPr sz="1600" b="1">
                      <a:solidFill>
                        <a:srgbClr val="1A1A24"/>
                      </a:solidFill>
                      <a:latin typeface="Space Grotesk"/>
                      <a:ea typeface="Space Grotesk"/>
                      <a:cs typeface="Space Grotesk"/>
                      <a:sym typeface="Space Grotesk"/>
                    </a:endParaRPr>
                  </a:p>
                  <a:p>
                    <a:pPr marL="0" lvl="0" indent="0" algn="l" rtl="0">
                      <a:spcBef>
                        <a:spcPts val="600"/>
                      </a:spcBef>
                      <a:spcAft>
                        <a:spcPts val="0"/>
                      </a:spcAft>
                      <a:buNone/>
                    </a:pPr>
                    <a:r>
                      <a:rPr lang="en" sz="1100" b="0">
                        <a:solidFill>
                          <a:srgbClr val="4A4A5A"/>
                        </a:solidFill>
                        <a:latin typeface="Plus Jakarta Sans"/>
                        <a:ea typeface="Plus Jakarta Sans"/>
                        <a:cs typeface="Plus Jakarta Sans"/>
                        <a:sym typeface="Plus Jakarta Sans"/>
                      </a:rPr>
                      <a:t>Track workload anomalies and real-time KPI burnout indicators to resolve turnover risks proactively.</a:t>
                    </a:r>
                    <a:endParaRPr sz="1100" b="0">
                      <a:solidFill>
                        <a:srgbClr val="4A4A5A"/>
                      </a:solidFill>
                      <a:latin typeface="Plus Jakarta Sans"/>
                      <a:ea typeface="Plus Jakarta Sans"/>
                      <a:cs typeface="Plus Jakarta Sans"/>
                      <a:sym typeface="Plus Jakarta Sans"/>
                    </a:endParaRPr>
                  </a:p>
                </p:txBody>
              </p:sp>
            </p:grpSp>
          </p:grpSp>
          <p:grpSp>
            <p:nvGrpSpPr>
              <p:cNvPr id="524" name="Google Shape;524;p24"/>
              <p:cNvGrpSpPr/>
              <p:nvPr/>
            </p:nvGrpSpPr>
            <p:grpSpPr>
              <a:xfrm>
                <a:off x="2857500" y="57150"/>
                <a:ext cx="2610000" cy="2028975"/>
                <a:chOff x="0" y="57150"/>
                <a:chExt cx="2610000" cy="2028975"/>
              </a:xfrm>
            </p:grpSpPr>
            <p:sp>
              <p:nvSpPr>
                <p:cNvPr id="525" name="Google Shape;525;p24"/>
                <p:cNvSpPr/>
                <p:nvPr/>
              </p:nvSpPr>
              <p:spPr>
                <a:xfrm>
                  <a:off x="1123950" y="76200"/>
                  <a:ext cx="419100" cy="419100"/>
                </a:xfrm>
                <a:prstGeom prst="ellipse">
                  <a:avLst/>
                </a:prstGeom>
                <a:solidFill>
                  <a:srgbClr val="1A1A24"/>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26" name="Google Shape;526;p24"/>
                <p:cNvSpPr/>
                <p:nvPr/>
              </p:nvSpPr>
              <p:spPr>
                <a:xfrm>
                  <a:off x="1104900" y="57150"/>
                  <a:ext cx="419100" cy="419100"/>
                </a:xfrm>
                <a:prstGeom prst="ellipse">
                  <a:avLst/>
                </a:prstGeom>
                <a:solidFill>
                  <a:srgbClr val="FF6B6B"/>
                </a:solidFill>
                <a:ln w="28575" cap="flat" cmpd="sng">
                  <a:solidFill>
                    <a:srgbClr val="1A1A24"/>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27" name="Google Shape;527;p24"/>
                <p:cNvSpPr txBox="1"/>
                <p:nvPr/>
              </p:nvSpPr>
              <p:spPr>
                <a:xfrm>
                  <a:off x="1104900" y="57150"/>
                  <a:ext cx="419100" cy="4191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1400" b="1">
                      <a:solidFill>
                        <a:srgbClr val="FFFFFF"/>
                      </a:solidFill>
                      <a:latin typeface="Space Grotesk"/>
                      <a:ea typeface="Space Grotesk"/>
                      <a:cs typeface="Space Grotesk"/>
                      <a:sym typeface="Space Grotesk"/>
                    </a:rPr>
                    <a:t>02</a:t>
                  </a:r>
                  <a:endParaRPr/>
                </a:p>
              </p:txBody>
            </p:sp>
            <p:grpSp>
              <p:nvGrpSpPr>
                <p:cNvPr id="528" name="Google Shape;528;p24"/>
                <p:cNvGrpSpPr/>
                <p:nvPr/>
              </p:nvGrpSpPr>
              <p:grpSpPr>
                <a:xfrm>
                  <a:off x="0" y="619125"/>
                  <a:ext cx="2610000" cy="1467000"/>
                  <a:chOff x="0" y="0"/>
                  <a:chExt cx="2610000" cy="1467000"/>
                </a:xfrm>
              </p:grpSpPr>
              <p:sp>
                <p:nvSpPr>
                  <p:cNvPr id="529" name="Google Shape;529;p24"/>
                  <p:cNvSpPr/>
                  <p:nvPr/>
                </p:nvSpPr>
                <p:spPr>
                  <a:xfrm>
                    <a:off x="38100" y="38100"/>
                    <a:ext cx="2571900" cy="1428900"/>
                  </a:xfrm>
                  <a:prstGeom prst="roundRect">
                    <a:avLst>
                      <a:gd name="adj" fmla="val 8000"/>
                    </a:avLst>
                  </a:prstGeom>
                  <a:solidFill>
                    <a:srgbClr val="1A1A24"/>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30" name="Google Shape;530;p24"/>
                  <p:cNvSpPr/>
                  <p:nvPr/>
                </p:nvSpPr>
                <p:spPr>
                  <a:xfrm>
                    <a:off x="0" y="0"/>
                    <a:ext cx="2571900" cy="1428900"/>
                  </a:xfrm>
                  <a:prstGeom prst="roundRect">
                    <a:avLst>
                      <a:gd name="adj" fmla="val 8000"/>
                    </a:avLst>
                  </a:prstGeom>
                  <a:solidFill>
                    <a:srgbClr val="FFFFFF"/>
                  </a:solidFill>
                  <a:ln w="28575" cap="flat" cmpd="sng">
                    <a:solidFill>
                      <a:srgbClr val="1A1A24"/>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31" name="Google Shape;531;p24"/>
                  <p:cNvSpPr/>
                  <p:nvPr/>
                </p:nvSpPr>
                <p:spPr>
                  <a:xfrm>
                    <a:off x="0" y="0"/>
                    <a:ext cx="2571900" cy="114300"/>
                  </a:xfrm>
                  <a:custGeom>
                    <a:avLst/>
                    <a:gdLst/>
                    <a:ahLst/>
                    <a:cxnLst/>
                    <a:rect l="l" t="t" r="r" b="b"/>
                    <a:pathLst>
                      <a:path w="120000" h="120000" extrusionOk="0">
                        <a:moveTo>
                          <a:pt x="0" y="120000"/>
                        </a:moveTo>
                        <a:cubicBezTo>
                          <a:pt x="0" y="53700"/>
                          <a:pt x="2387" y="0"/>
                          <a:pt x="5333" y="0"/>
                        </a:cubicBezTo>
                        <a:lnTo>
                          <a:pt x="114667" y="0"/>
                        </a:lnTo>
                        <a:cubicBezTo>
                          <a:pt x="117613" y="0"/>
                          <a:pt x="120000" y="53700"/>
                          <a:pt x="120000" y="120000"/>
                        </a:cubicBezTo>
                        <a:lnTo>
                          <a:pt x="120000" y="100000"/>
                        </a:lnTo>
                        <a:lnTo>
                          <a:pt x="0" y="100000"/>
                        </a:lnTo>
                        <a:close/>
                      </a:path>
                    </a:pathLst>
                  </a:custGeom>
                  <a:solidFill>
                    <a:srgbClr val="FF6B6B"/>
                  </a:solidFill>
                  <a:ln w="28575" cap="flat" cmpd="sng">
                    <a:solidFill>
                      <a:srgbClr val="1A1A24"/>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32" name="Google Shape;532;p24"/>
                  <p:cNvSpPr txBox="1"/>
                  <p:nvPr/>
                </p:nvSpPr>
                <p:spPr>
                  <a:xfrm>
                    <a:off x="152400" y="209550"/>
                    <a:ext cx="2267100" cy="10953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1480" b="1">
                        <a:solidFill>
                          <a:srgbClr val="1A1A24"/>
                        </a:solidFill>
                        <a:latin typeface="Space Grotesk"/>
                        <a:ea typeface="Space Grotesk"/>
                        <a:cs typeface="Space Grotesk"/>
                        <a:sym typeface="Space Grotesk"/>
                      </a:rPr>
                      <a:t>2. Fast-Track Promotion Pipeline</a:t>
                    </a:r>
                    <a:endParaRPr sz="1480" b="1">
                      <a:solidFill>
                        <a:srgbClr val="1A1A24"/>
                      </a:solidFill>
                      <a:latin typeface="Space Grotesk"/>
                      <a:ea typeface="Space Grotesk"/>
                      <a:cs typeface="Space Grotesk"/>
                      <a:sym typeface="Space Grotesk"/>
                    </a:endParaRPr>
                  </a:p>
                  <a:p>
                    <a:pPr marL="0" lvl="0" indent="0" algn="l" rtl="0">
                      <a:spcBef>
                        <a:spcPts val="600"/>
                      </a:spcBef>
                      <a:spcAft>
                        <a:spcPts val="0"/>
                      </a:spcAft>
                      <a:buNone/>
                    </a:pPr>
                    <a:r>
                      <a:rPr lang="en" sz="1018" b="0">
                        <a:solidFill>
                          <a:srgbClr val="4A4A5A"/>
                        </a:solidFill>
                        <a:latin typeface="Plus Jakarta Sans"/>
                        <a:ea typeface="Plus Jakarta Sans"/>
                        <a:cs typeface="Plus Jakarta Sans"/>
                        <a:sym typeface="Plus Jakarta Sans"/>
                      </a:rPr>
                      <a:t>Identify high-performing team members and map clear succession tracks to retain top-tier talent.</a:t>
                    </a:r>
                    <a:endParaRPr sz="1018" b="0">
                      <a:solidFill>
                        <a:srgbClr val="4A4A5A"/>
                      </a:solidFill>
                      <a:latin typeface="Plus Jakarta Sans"/>
                      <a:ea typeface="Plus Jakarta Sans"/>
                      <a:cs typeface="Plus Jakarta Sans"/>
                      <a:sym typeface="Plus Jakarta Sans"/>
                    </a:endParaRPr>
                  </a:p>
                </p:txBody>
              </p:sp>
            </p:grpSp>
          </p:grpSp>
          <p:grpSp>
            <p:nvGrpSpPr>
              <p:cNvPr id="533" name="Google Shape;533;p24"/>
              <p:cNvGrpSpPr/>
              <p:nvPr/>
            </p:nvGrpSpPr>
            <p:grpSpPr>
              <a:xfrm>
                <a:off x="5715000" y="57150"/>
                <a:ext cx="2610000" cy="2028975"/>
                <a:chOff x="0" y="57150"/>
                <a:chExt cx="2610000" cy="2028975"/>
              </a:xfrm>
            </p:grpSpPr>
            <p:sp>
              <p:nvSpPr>
                <p:cNvPr id="534" name="Google Shape;534;p24"/>
                <p:cNvSpPr/>
                <p:nvPr/>
              </p:nvSpPr>
              <p:spPr>
                <a:xfrm>
                  <a:off x="1123950" y="76200"/>
                  <a:ext cx="419100" cy="419100"/>
                </a:xfrm>
                <a:prstGeom prst="ellipse">
                  <a:avLst/>
                </a:prstGeom>
                <a:solidFill>
                  <a:srgbClr val="1A1A24"/>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35" name="Google Shape;535;p24"/>
                <p:cNvSpPr/>
                <p:nvPr/>
              </p:nvSpPr>
              <p:spPr>
                <a:xfrm>
                  <a:off x="1104900" y="57150"/>
                  <a:ext cx="419100" cy="419100"/>
                </a:xfrm>
                <a:prstGeom prst="ellipse">
                  <a:avLst/>
                </a:prstGeom>
                <a:solidFill>
                  <a:srgbClr val="4ECDC4"/>
                </a:solidFill>
                <a:ln w="28575" cap="flat" cmpd="sng">
                  <a:solidFill>
                    <a:srgbClr val="1A1A24"/>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36" name="Google Shape;536;p24"/>
                <p:cNvSpPr txBox="1"/>
                <p:nvPr/>
              </p:nvSpPr>
              <p:spPr>
                <a:xfrm>
                  <a:off x="1104900" y="57150"/>
                  <a:ext cx="419100" cy="4191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1400" b="1">
                      <a:solidFill>
                        <a:srgbClr val="1A1A24"/>
                      </a:solidFill>
                      <a:latin typeface="Space Grotesk"/>
                      <a:ea typeface="Space Grotesk"/>
                      <a:cs typeface="Space Grotesk"/>
                      <a:sym typeface="Space Grotesk"/>
                    </a:rPr>
                    <a:t>03</a:t>
                  </a:r>
                  <a:endParaRPr/>
                </a:p>
              </p:txBody>
            </p:sp>
            <p:grpSp>
              <p:nvGrpSpPr>
                <p:cNvPr id="537" name="Google Shape;537;p24"/>
                <p:cNvGrpSpPr/>
                <p:nvPr/>
              </p:nvGrpSpPr>
              <p:grpSpPr>
                <a:xfrm>
                  <a:off x="0" y="619125"/>
                  <a:ext cx="2610000" cy="1467000"/>
                  <a:chOff x="0" y="0"/>
                  <a:chExt cx="2610000" cy="1467000"/>
                </a:xfrm>
              </p:grpSpPr>
              <p:sp>
                <p:nvSpPr>
                  <p:cNvPr id="538" name="Google Shape;538;p24"/>
                  <p:cNvSpPr/>
                  <p:nvPr/>
                </p:nvSpPr>
                <p:spPr>
                  <a:xfrm>
                    <a:off x="38100" y="38100"/>
                    <a:ext cx="2571900" cy="1428900"/>
                  </a:xfrm>
                  <a:prstGeom prst="roundRect">
                    <a:avLst>
                      <a:gd name="adj" fmla="val 8000"/>
                    </a:avLst>
                  </a:prstGeom>
                  <a:solidFill>
                    <a:srgbClr val="1A1A24"/>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39" name="Google Shape;539;p24"/>
                  <p:cNvSpPr/>
                  <p:nvPr/>
                </p:nvSpPr>
                <p:spPr>
                  <a:xfrm>
                    <a:off x="0" y="0"/>
                    <a:ext cx="2571900" cy="1428900"/>
                  </a:xfrm>
                  <a:prstGeom prst="roundRect">
                    <a:avLst>
                      <a:gd name="adj" fmla="val 8000"/>
                    </a:avLst>
                  </a:prstGeom>
                  <a:solidFill>
                    <a:srgbClr val="FFFFFF"/>
                  </a:solidFill>
                  <a:ln w="28575" cap="flat" cmpd="sng">
                    <a:solidFill>
                      <a:srgbClr val="1A1A24"/>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40" name="Google Shape;540;p24"/>
                  <p:cNvSpPr/>
                  <p:nvPr/>
                </p:nvSpPr>
                <p:spPr>
                  <a:xfrm>
                    <a:off x="0" y="0"/>
                    <a:ext cx="2571900" cy="114300"/>
                  </a:xfrm>
                  <a:custGeom>
                    <a:avLst/>
                    <a:gdLst/>
                    <a:ahLst/>
                    <a:cxnLst/>
                    <a:rect l="l" t="t" r="r" b="b"/>
                    <a:pathLst>
                      <a:path w="120000" h="120000" extrusionOk="0">
                        <a:moveTo>
                          <a:pt x="0" y="120000"/>
                        </a:moveTo>
                        <a:cubicBezTo>
                          <a:pt x="0" y="53700"/>
                          <a:pt x="2387" y="0"/>
                          <a:pt x="5333" y="0"/>
                        </a:cubicBezTo>
                        <a:lnTo>
                          <a:pt x="114667" y="0"/>
                        </a:lnTo>
                        <a:cubicBezTo>
                          <a:pt x="117613" y="0"/>
                          <a:pt x="120000" y="53700"/>
                          <a:pt x="120000" y="120000"/>
                        </a:cubicBezTo>
                        <a:lnTo>
                          <a:pt x="120000" y="100000"/>
                        </a:lnTo>
                        <a:lnTo>
                          <a:pt x="0" y="100000"/>
                        </a:lnTo>
                        <a:close/>
                      </a:path>
                    </a:pathLst>
                  </a:custGeom>
                  <a:solidFill>
                    <a:srgbClr val="4ECDC4"/>
                  </a:solidFill>
                  <a:ln w="28575" cap="flat" cmpd="sng">
                    <a:solidFill>
                      <a:srgbClr val="1A1A24"/>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41" name="Google Shape;541;p24"/>
                  <p:cNvSpPr txBox="1"/>
                  <p:nvPr/>
                </p:nvSpPr>
                <p:spPr>
                  <a:xfrm>
                    <a:off x="152400" y="209550"/>
                    <a:ext cx="2267100" cy="10953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1480" b="1">
                        <a:solidFill>
                          <a:srgbClr val="1A1A24"/>
                        </a:solidFill>
                        <a:latin typeface="Space Grotesk"/>
                        <a:ea typeface="Space Grotesk"/>
                        <a:cs typeface="Space Grotesk"/>
                        <a:sym typeface="Space Grotesk"/>
                      </a:rPr>
                      <a:t>3. Predictive AI Talent Strategy</a:t>
                    </a:r>
                    <a:endParaRPr sz="1480" b="1">
                      <a:solidFill>
                        <a:srgbClr val="1A1A24"/>
                      </a:solidFill>
                      <a:latin typeface="Space Grotesk"/>
                      <a:ea typeface="Space Grotesk"/>
                      <a:cs typeface="Space Grotesk"/>
                      <a:sym typeface="Space Grotesk"/>
                    </a:endParaRPr>
                  </a:p>
                  <a:p>
                    <a:pPr marL="0" lvl="0" indent="0" algn="l" rtl="0">
                      <a:spcBef>
                        <a:spcPts val="600"/>
                      </a:spcBef>
                      <a:spcAft>
                        <a:spcPts val="0"/>
                      </a:spcAft>
                      <a:buNone/>
                    </a:pPr>
                    <a:r>
                      <a:rPr lang="en" sz="1018" b="0">
                        <a:solidFill>
                          <a:srgbClr val="4A4A5A"/>
                        </a:solidFill>
                        <a:latin typeface="Plus Jakarta Sans"/>
                        <a:ea typeface="Plus Jakarta Sans"/>
                        <a:cs typeface="Plus Jakarta Sans"/>
                        <a:sym typeface="Plus Jakarta Sans"/>
                      </a:rPr>
                      <a:t>Utilize forward-looking analytics models to project future headcount needs and drive strategic decisions.</a:t>
                    </a:r>
                    <a:endParaRPr sz="1018" b="0">
                      <a:solidFill>
                        <a:srgbClr val="4A4A5A"/>
                      </a:solidFill>
                      <a:latin typeface="Plus Jakarta Sans"/>
                      <a:ea typeface="Plus Jakarta Sans"/>
                      <a:cs typeface="Plus Jakarta Sans"/>
                      <a:sym typeface="Plus Jakarta Sans"/>
                    </a:endParaRPr>
                  </a:p>
                </p:txBody>
              </p:sp>
            </p:grpSp>
          </p:grpSp>
        </p:grpSp>
      </p:grpSp>
      <p:grpSp>
        <p:nvGrpSpPr>
          <p:cNvPr id="542" name="Google Shape;542;p24"/>
          <p:cNvGrpSpPr/>
          <p:nvPr/>
        </p:nvGrpSpPr>
        <p:grpSpPr>
          <a:xfrm>
            <a:off x="8477250" y="266700"/>
            <a:ext cx="285900" cy="285900"/>
            <a:chOff x="0" y="0"/>
            <a:chExt cx="285900" cy="285900"/>
          </a:xfrm>
        </p:grpSpPr>
        <p:sp>
          <p:nvSpPr>
            <p:cNvPr id="543" name="Google Shape;543;p24"/>
            <p:cNvSpPr/>
            <p:nvPr/>
          </p:nvSpPr>
          <p:spPr>
            <a:xfrm>
              <a:off x="0" y="0"/>
              <a:ext cx="285900" cy="285900"/>
            </a:xfrm>
            <a:custGeom>
              <a:avLst/>
              <a:gdLst/>
              <a:ahLst/>
              <a:cxnLst/>
              <a:rect l="l" t="t" r="r" b="b"/>
              <a:pathLst>
                <a:path w="120000" h="120000" extrusionOk="0">
                  <a:moveTo>
                    <a:pt x="60000" y="0"/>
                  </a:moveTo>
                  <a:cubicBezTo>
                    <a:pt x="60000" y="40000"/>
                    <a:pt x="100000" y="60000"/>
                    <a:pt x="120000" y="60000"/>
                  </a:cubicBezTo>
                  <a:cubicBezTo>
                    <a:pt x="100000" y="60000"/>
                    <a:pt x="60000" y="80000"/>
                    <a:pt x="60000" y="120000"/>
                  </a:cubicBezTo>
                  <a:cubicBezTo>
                    <a:pt x="60000" y="80000"/>
                    <a:pt x="20000" y="60000"/>
                    <a:pt x="0" y="60000"/>
                  </a:cubicBezTo>
                  <a:cubicBezTo>
                    <a:pt x="20000" y="60000"/>
                    <a:pt x="60000" y="40000"/>
                    <a:pt x="60000" y="0"/>
                  </a:cubicBezTo>
                  <a:close/>
                </a:path>
              </a:pathLst>
            </a:custGeom>
            <a:solidFill>
              <a:srgbClr val="FF6B6B"/>
            </a:solidFill>
            <a:ln w="19050" cap="flat" cmpd="sng">
              <a:solidFill>
                <a:srgbClr val="1A1A24"/>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44" name="Google Shape;544;p24"/>
            <p:cNvSpPr/>
            <p:nvPr/>
          </p:nvSpPr>
          <p:spPr>
            <a:xfrm>
              <a:off x="104775" y="104775"/>
              <a:ext cx="76200" cy="76200"/>
            </a:xfrm>
            <a:prstGeom prst="ellipse">
              <a:avLst/>
            </a:prstGeom>
            <a:solidFill>
              <a:srgbClr val="FFD93D"/>
            </a:solidFill>
            <a:ln w="19050" cap="flat" cmpd="sng">
              <a:solidFill>
                <a:srgbClr val="1A1A24"/>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grpSp>
    </p:spTree>
  </p:cSld>
  <p:clrMapOvr>
    <a:masterClrMapping/>
  </p:clrMapOvr>
  <mc:AlternateContent xmlns:mc="http://schemas.openxmlformats.org/markup-compatibility/2006">
    <mc:Choice xmlns:p14="http://schemas.microsoft.com/office/powerpoint/2010/main" Requires="p14">
      <p:transition spd="slow" p14:dur="2500">
        <p14:flash/>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548"/>
        <p:cNvGrpSpPr/>
        <p:nvPr/>
      </p:nvGrpSpPr>
      <p:grpSpPr>
        <a:xfrm>
          <a:off x="0" y="0"/>
          <a:ext cx="0" cy="0"/>
          <a:chOff x="0" y="0"/>
          <a:chExt cx="0" cy="0"/>
        </a:xfrm>
      </p:grpSpPr>
      <p:sp>
        <p:nvSpPr>
          <p:cNvPr id="549" name="Google Shape;549;p25"/>
          <p:cNvSpPr/>
          <p:nvPr/>
        </p:nvSpPr>
        <p:spPr>
          <a:xfrm>
            <a:off x="0" y="0"/>
            <a:ext cx="9144000" cy="5143500"/>
          </a:xfrm>
          <a:prstGeom prst="rect">
            <a:avLst/>
          </a:prstGeom>
          <a:solidFill>
            <a:srgbClr val="F4F4F0"/>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grpSp>
        <p:nvGrpSpPr>
          <p:cNvPr id="550" name="Google Shape;550;p25"/>
          <p:cNvGrpSpPr/>
          <p:nvPr/>
        </p:nvGrpSpPr>
        <p:grpSpPr>
          <a:xfrm>
            <a:off x="381000" y="228600"/>
            <a:ext cx="419100" cy="419100"/>
            <a:chOff x="0" y="0"/>
            <a:chExt cx="419100" cy="419100"/>
          </a:xfrm>
        </p:grpSpPr>
        <p:sp>
          <p:nvSpPr>
            <p:cNvPr id="551" name="Google Shape;551;p25"/>
            <p:cNvSpPr/>
            <p:nvPr/>
          </p:nvSpPr>
          <p:spPr>
            <a:xfrm>
              <a:off x="38100" y="38100"/>
              <a:ext cx="381000" cy="381000"/>
            </a:xfrm>
            <a:prstGeom prst="roundRect">
              <a:avLst>
                <a:gd name="adj" fmla="val 20000"/>
              </a:avLst>
            </a:prstGeom>
            <a:solidFill>
              <a:srgbClr val="1A1A24"/>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52" name="Google Shape;552;p25"/>
            <p:cNvSpPr/>
            <p:nvPr/>
          </p:nvSpPr>
          <p:spPr>
            <a:xfrm>
              <a:off x="0" y="0"/>
              <a:ext cx="381000" cy="381000"/>
            </a:xfrm>
            <a:prstGeom prst="roundRect">
              <a:avLst>
                <a:gd name="adj" fmla="val 20000"/>
              </a:avLst>
            </a:prstGeom>
            <a:solidFill>
              <a:srgbClr val="FFD93D"/>
            </a:solidFill>
            <a:ln w="28575" cap="flat" cmpd="sng">
              <a:solidFill>
                <a:srgbClr val="1A1A24"/>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53" name="Google Shape;553;p25"/>
            <p:cNvSpPr/>
            <p:nvPr/>
          </p:nvSpPr>
          <p:spPr>
            <a:xfrm>
              <a:off x="95250" y="114300"/>
              <a:ext cx="190500" cy="152400"/>
            </a:xfrm>
            <a:custGeom>
              <a:avLst/>
              <a:gdLst/>
              <a:ahLst/>
              <a:cxnLst/>
              <a:rect l="l" t="t" r="r" b="b"/>
              <a:pathLst>
                <a:path w="120000" h="120000" extrusionOk="0">
                  <a:moveTo>
                    <a:pt x="0" y="0"/>
                  </a:moveTo>
                  <a:lnTo>
                    <a:pt x="36000" y="120000"/>
                  </a:lnTo>
                  <a:lnTo>
                    <a:pt x="60000" y="60000"/>
                  </a:lnTo>
                  <a:lnTo>
                    <a:pt x="84000" y="120000"/>
                  </a:lnTo>
                  <a:lnTo>
                    <a:pt x="120000" y="0"/>
                  </a:lnTo>
                </a:path>
              </a:pathLst>
            </a:custGeom>
            <a:solidFill>
              <a:srgbClr val="000000">
                <a:alpha val="0"/>
              </a:srgbClr>
            </a:solidFill>
            <a:ln w="28575" cap="rnd" cmpd="sng">
              <a:solidFill>
                <a:srgbClr val="1A1A24"/>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grpSp>
      <p:sp>
        <p:nvSpPr>
          <p:cNvPr id="554" name="Google Shape;554;p25"/>
          <p:cNvSpPr txBox="1"/>
          <p:nvPr/>
        </p:nvSpPr>
        <p:spPr>
          <a:xfrm>
            <a:off x="904875" y="190500"/>
            <a:ext cx="7858200" cy="7143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2400" b="1">
                <a:solidFill>
                  <a:srgbClr val="1A1A24"/>
                </a:solidFill>
                <a:latin typeface="Space Grotesk"/>
                <a:ea typeface="Space Grotesk"/>
                <a:cs typeface="Space Grotesk"/>
                <a:sym typeface="Space Grotesk"/>
              </a:rPr>
              <a:t>Conclusion: Empowering Strategic HR Decisions</a:t>
            </a:r>
            <a:endParaRPr sz="2400" b="1">
              <a:solidFill>
                <a:srgbClr val="1A1A24"/>
              </a:solidFill>
              <a:latin typeface="Space Grotesk"/>
              <a:ea typeface="Space Grotesk"/>
              <a:cs typeface="Space Grotesk"/>
              <a:sym typeface="Space Grotesk"/>
            </a:endParaRPr>
          </a:p>
          <a:p>
            <a:pPr marL="0" lvl="0" indent="0" algn="l" rtl="0">
              <a:spcBef>
                <a:spcPts val="200"/>
              </a:spcBef>
              <a:spcAft>
                <a:spcPts val="0"/>
              </a:spcAft>
              <a:buNone/>
            </a:pPr>
            <a:r>
              <a:rPr lang="en" sz="1100" b="0">
                <a:solidFill>
                  <a:srgbClr val="4A4A5A"/>
                </a:solidFill>
                <a:latin typeface="Plus Jakarta Sans"/>
                <a:ea typeface="Plus Jakarta Sans"/>
                <a:cs typeface="Plus Jakarta Sans"/>
                <a:sym typeface="Plus Jakarta Sans"/>
              </a:rPr>
              <a:t>Centralized insights drive proactive retention, talent growth, and predictive planning</a:t>
            </a:r>
            <a:endParaRPr sz="1100" b="0">
              <a:solidFill>
                <a:srgbClr val="4A4A5A"/>
              </a:solidFill>
              <a:latin typeface="Plus Jakarta Sans"/>
              <a:ea typeface="Plus Jakarta Sans"/>
              <a:cs typeface="Plus Jakarta Sans"/>
              <a:sym typeface="Plus Jakarta Sans"/>
            </a:endParaRPr>
          </a:p>
        </p:txBody>
      </p:sp>
      <p:cxnSp>
        <p:nvCxnSpPr>
          <p:cNvPr id="555" name="Google Shape;555;p25"/>
          <p:cNvCxnSpPr/>
          <p:nvPr/>
        </p:nvCxnSpPr>
        <p:spPr>
          <a:xfrm>
            <a:off x="381000" y="971550"/>
            <a:ext cx="8382000" cy="0"/>
          </a:xfrm>
          <a:prstGeom prst="straightConnector1">
            <a:avLst/>
          </a:prstGeom>
          <a:solidFill>
            <a:srgbClr val="FFFFFF"/>
          </a:solidFill>
          <a:ln w="28575" cap="flat" cmpd="sng">
            <a:solidFill>
              <a:srgbClr val="1A1A24"/>
            </a:solidFill>
            <a:prstDash val="solid"/>
            <a:round/>
            <a:headEnd type="none" w="sm" len="sm"/>
            <a:tailEnd type="none" w="sm" len="sm"/>
          </a:ln>
        </p:spPr>
      </p:cxnSp>
      <p:grpSp>
        <p:nvGrpSpPr>
          <p:cNvPr id="556" name="Google Shape;556;p25"/>
          <p:cNvGrpSpPr/>
          <p:nvPr/>
        </p:nvGrpSpPr>
        <p:grpSpPr>
          <a:xfrm>
            <a:off x="381000" y="1143000"/>
            <a:ext cx="4057650" cy="1866750"/>
            <a:chOff x="0" y="0"/>
            <a:chExt cx="4057650" cy="1866750"/>
          </a:xfrm>
        </p:grpSpPr>
        <p:sp>
          <p:nvSpPr>
            <p:cNvPr id="557" name="Google Shape;557;p25"/>
            <p:cNvSpPr/>
            <p:nvPr/>
          </p:nvSpPr>
          <p:spPr>
            <a:xfrm>
              <a:off x="57150" y="57150"/>
              <a:ext cx="4000500" cy="1809600"/>
            </a:xfrm>
            <a:prstGeom prst="roundRect">
              <a:avLst>
                <a:gd name="adj" fmla="val 6315"/>
              </a:avLst>
            </a:prstGeom>
            <a:solidFill>
              <a:srgbClr val="1A1A24"/>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58" name="Google Shape;558;p25"/>
            <p:cNvSpPr/>
            <p:nvPr/>
          </p:nvSpPr>
          <p:spPr>
            <a:xfrm>
              <a:off x="0" y="0"/>
              <a:ext cx="4000500" cy="1809600"/>
            </a:xfrm>
            <a:prstGeom prst="roundRect">
              <a:avLst>
                <a:gd name="adj" fmla="val 6315"/>
              </a:avLst>
            </a:prstGeom>
            <a:solidFill>
              <a:srgbClr val="FFFFFF"/>
            </a:solidFill>
            <a:ln w="28575" cap="flat" cmpd="sng">
              <a:solidFill>
                <a:srgbClr val="1A1A24"/>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grpSp>
          <p:nvGrpSpPr>
            <p:cNvPr id="559" name="Google Shape;559;p25"/>
            <p:cNvGrpSpPr/>
            <p:nvPr/>
          </p:nvGrpSpPr>
          <p:grpSpPr>
            <a:xfrm>
              <a:off x="190500" y="171450"/>
              <a:ext cx="1238400" cy="209700"/>
              <a:chOff x="0" y="0"/>
              <a:chExt cx="1238400" cy="209700"/>
            </a:xfrm>
          </p:grpSpPr>
          <p:sp>
            <p:nvSpPr>
              <p:cNvPr id="560" name="Google Shape;560;p25"/>
              <p:cNvSpPr/>
              <p:nvPr/>
            </p:nvSpPr>
            <p:spPr>
              <a:xfrm>
                <a:off x="0" y="0"/>
                <a:ext cx="1238400" cy="209700"/>
              </a:xfrm>
              <a:prstGeom prst="roundRect">
                <a:avLst>
                  <a:gd name="adj" fmla="val 27272"/>
                </a:avLst>
              </a:prstGeom>
              <a:solidFill>
                <a:srgbClr val="4ECDC4"/>
              </a:solidFill>
              <a:ln w="19050" cap="flat" cmpd="sng">
                <a:solidFill>
                  <a:srgbClr val="1A1A24"/>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61" name="Google Shape;561;p25"/>
              <p:cNvSpPr txBox="1"/>
              <p:nvPr/>
            </p:nvSpPr>
            <p:spPr>
              <a:xfrm>
                <a:off x="0" y="0"/>
                <a:ext cx="1238400" cy="2097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833" b="1">
                    <a:solidFill>
                      <a:srgbClr val="1A1A24"/>
                    </a:solidFill>
                    <a:latin typeface="Plus Jakarta Sans"/>
                    <a:ea typeface="Plus Jakarta Sans"/>
                    <a:cs typeface="Plus Jakarta Sans"/>
                    <a:sym typeface="Plus Jakarta Sans"/>
                  </a:rPr>
                  <a:t>CORE CAPABILITY</a:t>
                </a:r>
                <a:endParaRPr sz="833" b="1">
                  <a:solidFill>
                    <a:srgbClr val="1A1A24"/>
                  </a:solidFill>
                  <a:latin typeface="Plus Jakarta Sans"/>
                  <a:ea typeface="Plus Jakarta Sans"/>
                  <a:cs typeface="Plus Jakarta Sans"/>
                  <a:sym typeface="Plus Jakarta Sans"/>
                </a:endParaRPr>
              </a:p>
            </p:txBody>
          </p:sp>
        </p:grpSp>
        <p:sp>
          <p:nvSpPr>
            <p:cNvPr id="562" name="Google Shape;562;p25"/>
            <p:cNvSpPr txBox="1"/>
            <p:nvPr/>
          </p:nvSpPr>
          <p:spPr>
            <a:xfrm>
              <a:off x="190500" y="457200"/>
              <a:ext cx="3619500" cy="11907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1500" b="1">
                  <a:solidFill>
                    <a:srgbClr val="1A1A24"/>
                  </a:solidFill>
                  <a:latin typeface="Space Grotesk"/>
                  <a:ea typeface="Space Grotesk"/>
                  <a:cs typeface="Space Grotesk"/>
                  <a:sym typeface="Space Grotesk"/>
                </a:rPr>
                <a:t>Centralized Intelligence</a:t>
              </a:r>
              <a:endParaRPr sz="1500" b="1">
                <a:solidFill>
                  <a:srgbClr val="1A1A24"/>
                </a:solidFill>
                <a:latin typeface="Space Grotesk"/>
                <a:ea typeface="Space Grotesk"/>
                <a:cs typeface="Space Grotesk"/>
                <a:sym typeface="Space Grotesk"/>
              </a:endParaRPr>
            </a:p>
            <a:p>
              <a:pPr marL="0" lvl="0" indent="0" algn="l" rtl="0">
                <a:spcBef>
                  <a:spcPts val="600"/>
                </a:spcBef>
                <a:spcAft>
                  <a:spcPts val="0"/>
                </a:spcAft>
                <a:buNone/>
              </a:pPr>
              <a:r>
                <a:rPr lang="en" sz="1050" b="0">
                  <a:solidFill>
                    <a:srgbClr val="4A4A5A"/>
                  </a:solidFill>
                  <a:latin typeface="Plus Jakarta Sans"/>
                  <a:ea typeface="Plus Jakarta Sans"/>
                  <a:cs typeface="Plus Jakarta Sans"/>
                  <a:sym typeface="Plus Jakarta Sans"/>
                </a:rPr>
                <a:t>Unifies employee data into actionable HR analytics, eliminating manual analysis bottlenecks and providing an immediate view of overall workforce health (74.2/100).</a:t>
              </a:r>
              <a:endParaRPr sz="1050" b="0">
                <a:solidFill>
                  <a:srgbClr val="4A4A5A"/>
                </a:solidFill>
                <a:latin typeface="Plus Jakarta Sans"/>
                <a:ea typeface="Plus Jakarta Sans"/>
                <a:cs typeface="Plus Jakarta Sans"/>
                <a:sym typeface="Plus Jakarta Sans"/>
              </a:endParaRPr>
            </a:p>
          </p:txBody>
        </p:sp>
      </p:grpSp>
      <p:grpSp>
        <p:nvGrpSpPr>
          <p:cNvPr id="563" name="Google Shape;563;p25"/>
          <p:cNvGrpSpPr/>
          <p:nvPr/>
        </p:nvGrpSpPr>
        <p:grpSpPr>
          <a:xfrm>
            <a:off x="4572000" y="1143000"/>
            <a:ext cx="4248150" cy="1866750"/>
            <a:chOff x="0" y="0"/>
            <a:chExt cx="4248150" cy="1866750"/>
          </a:xfrm>
        </p:grpSpPr>
        <p:sp>
          <p:nvSpPr>
            <p:cNvPr id="564" name="Google Shape;564;p25"/>
            <p:cNvSpPr/>
            <p:nvPr/>
          </p:nvSpPr>
          <p:spPr>
            <a:xfrm>
              <a:off x="57150" y="57150"/>
              <a:ext cx="4191000" cy="1809600"/>
            </a:xfrm>
            <a:prstGeom prst="roundRect">
              <a:avLst>
                <a:gd name="adj" fmla="val 6315"/>
              </a:avLst>
            </a:prstGeom>
            <a:solidFill>
              <a:srgbClr val="1A1A24"/>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65" name="Google Shape;565;p25"/>
            <p:cNvSpPr/>
            <p:nvPr/>
          </p:nvSpPr>
          <p:spPr>
            <a:xfrm>
              <a:off x="0" y="0"/>
              <a:ext cx="4191000" cy="1809600"/>
            </a:xfrm>
            <a:prstGeom prst="roundRect">
              <a:avLst>
                <a:gd name="adj" fmla="val 6315"/>
              </a:avLst>
            </a:prstGeom>
            <a:solidFill>
              <a:srgbClr val="FFFFFF"/>
            </a:solidFill>
            <a:ln w="28575" cap="flat" cmpd="sng">
              <a:solidFill>
                <a:srgbClr val="1A1A24"/>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grpSp>
          <p:nvGrpSpPr>
            <p:cNvPr id="566" name="Google Shape;566;p25"/>
            <p:cNvGrpSpPr/>
            <p:nvPr/>
          </p:nvGrpSpPr>
          <p:grpSpPr>
            <a:xfrm>
              <a:off x="190500" y="171450"/>
              <a:ext cx="1238400" cy="209700"/>
              <a:chOff x="0" y="0"/>
              <a:chExt cx="1238400" cy="209700"/>
            </a:xfrm>
          </p:grpSpPr>
          <p:sp>
            <p:nvSpPr>
              <p:cNvPr id="567" name="Google Shape;567;p25"/>
              <p:cNvSpPr/>
              <p:nvPr/>
            </p:nvSpPr>
            <p:spPr>
              <a:xfrm>
                <a:off x="0" y="0"/>
                <a:ext cx="1238400" cy="209700"/>
              </a:xfrm>
              <a:prstGeom prst="roundRect">
                <a:avLst>
                  <a:gd name="adj" fmla="val 27272"/>
                </a:avLst>
              </a:prstGeom>
              <a:solidFill>
                <a:srgbClr val="FF6B6B"/>
              </a:solidFill>
              <a:ln w="19050" cap="flat" cmpd="sng">
                <a:solidFill>
                  <a:srgbClr val="1A1A24"/>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68" name="Google Shape;568;p25"/>
              <p:cNvSpPr txBox="1"/>
              <p:nvPr/>
            </p:nvSpPr>
            <p:spPr>
              <a:xfrm>
                <a:off x="0" y="0"/>
                <a:ext cx="1238400" cy="2097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833" b="1">
                    <a:solidFill>
                      <a:srgbClr val="FFFFFF"/>
                    </a:solidFill>
                    <a:latin typeface="Plus Jakarta Sans"/>
                    <a:ea typeface="Plus Jakarta Sans"/>
                    <a:cs typeface="Plus Jakarta Sans"/>
                    <a:sym typeface="Plus Jakarta Sans"/>
                  </a:rPr>
                  <a:t>RISK MITIGATION</a:t>
                </a:r>
                <a:endParaRPr sz="833" b="1">
                  <a:solidFill>
                    <a:srgbClr val="1A1A24"/>
                  </a:solidFill>
                  <a:latin typeface="Plus Jakarta Sans"/>
                  <a:ea typeface="Plus Jakarta Sans"/>
                  <a:cs typeface="Plus Jakarta Sans"/>
                  <a:sym typeface="Plus Jakarta Sans"/>
                </a:endParaRPr>
              </a:p>
            </p:txBody>
          </p:sp>
        </p:grpSp>
        <p:sp>
          <p:nvSpPr>
            <p:cNvPr id="569" name="Google Shape;569;p25"/>
            <p:cNvSpPr txBox="1"/>
            <p:nvPr/>
          </p:nvSpPr>
          <p:spPr>
            <a:xfrm>
              <a:off x="190500" y="457200"/>
              <a:ext cx="3810000" cy="11907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1500" b="1">
                  <a:solidFill>
                    <a:srgbClr val="1A1A24"/>
                  </a:solidFill>
                  <a:latin typeface="Space Grotesk"/>
                  <a:ea typeface="Space Grotesk"/>
                  <a:cs typeface="Space Grotesk"/>
                  <a:sym typeface="Space Grotesk"/>
                </a:rPr>
                <a:t>Proactive Retention Strategy</a:t>
              </a:r>
              <a:endParaRPr sz="1500" b="1">
                <a:solidFill>
                  <a:srgbClr val="1A1A24"/>
                </a:solidFill>
                <a:latin typeface="Space Grotesk"/>
                <a:ea typeface="Space Grotesk"/>
                <a:cs typeface="Space Grotesk"/>
                <a:sym typeface="Space Grotesk"/>
              </a:endParaRPr>
            </a:p>
            <a:p>
              <a:pPr marL="0" lvl="0" indent="0" algn="l" rtl="0">
                <a:spcBef>
                  <a:spcPts val="600"/>
                </a:spcBef>
                <a:spcAft>
                  <a:spcPts val="0"/>
                </a:spcAft>
                <a:buNone/>
              </a:pPr>
              <a:r>
                <a:rPr lang="en" sz="1050" b="0">
                  <a:solidFill>
                    <a:srgbClr val="4A4A5A"/>
                  </a:solidFill>
                  <a:latin typeface="Plus Jakarta Sans"/>
                  <a:ea typeface="Plus Jakarta Sans"/>
                  <a:cs typeface="Plus Jakarta Sans"/>
                  <a:sym typeface="Plus Jakarta Sans"/>
                </a:rPr>
                <a:t>Identifies 288 high-risk employees early by targeting key drivers like overtime (30.2%) and low satisfaction, allowing timely intervention before burnout occurs.</a:t>
              </a:r>
              <a:endParaRPr sz="1050" b="0">
                <a:solidFill>
                  <a:srgbClr val="4A4A5A"/>
                </a:solidFill>
                <a:latin typeface="Plus Jakarta Sans"/>
                <a:ea typeface="Plus Jakarta Sans"/>
                <a:cs typeface="Plus Jakarta Sans"/>
                <a:sym typeface="Plus Jakarta Sans"/>
              </a:endParaRPr>
            </a:p>
          </p:txBody>
        </p:sp>
      </p:grpSp>
      <p:grpSp>
        <p:nvGrpSpPr>
          <p:cNvPr id="570" name="Google Shape;570;p25"/>
          <p:cNvGrpSpPr/>
          <p:nvPr/>
        </p:nvGrpSpPr>
        <p:grpSpPr>
          <a:xfrm>
            <a:off x="381000" y="3143250"/>
            <a:ext cx="4057650" cy="1771650"/>
            <a:chOff x="0" y="0"/>
            <a:chExt cx="4057650" cy="1771650"/>
          </a:xfrm>
        </p:grpSpPr>
        <p:sp>
          <p:nvSpPr>
            <p:cNvPr id="571" name="Google Shape;571;p25"/>
            <p:cNvSpPr/>
            <p:nvPr/>
          </p:nvSpPr>
          <p:spPr>
            <a:xfrm>
              <a:off x="57150" y="57150"/>
              <a:ext cx="4000500" cy="1714500"/>
            </a:xfrm>
            <a:prstGeom prst="roundRect">
              <a:avLst>
                <a:gd name="adj" fmla="val 6666"/>
              </a:avLst>
            </a:prstGeom>
            <a:solidFill>
              <a:srgbClr val="1A1A24"/>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72" name="Google Shape;572;p25"/>
            <p:cNvSpPr/>
            <p:nvPr/>
          </p:nvSpPr>
          <p:spPr>
            <a:xfrm>
              <a:off x="0" y="0"/>
              <a:ext cx="4000500" cy="1714500"/>
            </a:xfrm>
            <a:prstGeom prst="roundRect">
              <a:avLst>
                <a:gd name="adj" fmla="val 6666"/>
              </a:avLst>
            </a:prstGeom>
            <a:solidFill>
              <a:srgbClr val="FFFFFF"/>
            </a:solidFill>
            <a:ln w="28575" cap="flat" cmpd="sng">
              <a:solidFill>
                <a:srgbClr val="1A1A24"/>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grpSp>
          <p:nvGrpSpPr>
            <p:cNvPr id="573" name="Google Shape;573;p25"/>
            <p:cNvGrpSpPr/>
            <p:nvPr/>
          </p:nvGrpSpPr>
          <p:grpSpPr>
            <a:xfrm>
              <a:off x="190500" y="171450"/>
              <a:ext cx="1333500" cy="209700"/>
              <a:chOff x="0" y="0"/>
              <a:chExt cx="1333500" cy="209700"/>
            </a:xfrm>
          </p:grpSpPr>
          <p:sp>
            <p:nvSpPr>
              <p:cNvPr id="574" name="Google Shape;574;p25"/>
              <p:cNvSpPr/>
              <p:nvPr/>
            </p:nvSpPr>
            <p:spPr>
              <a:xfrm>
                <a:off x="0" y="0"/>
                <a:ext cx="1333500" cy="209700"/>
              </a:xfrm>
              <a:prstGeom prst="roundRect">
                <a:avLst>
                  <a:gd name="adj" fmla="val 27272"/>
                </a:avLst>
              </a:prstGeom>
              <a:solidFill>
                <a:srgbClr val="FFD93D"/>
              </a:solidFill>
              <a:ln w="19050" cap="flat" cmpd="sng">
                <a:solidFill>
                  <a:srgbClr val="1A1A24"/>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75" name="Google Shape;575;p25"/>
              <p:cNvSpPr txBox="1"/>
              <p:nvPr/>
            </p:nvSpPr>
            <p:spPr>
              <a:xfrm>
                <a:off x="0" y="0"/>
                <a:ext cx="1333500" cy="2097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833" b="1">
                    <a:solidFill>
                      <a:srgbClr val="1A1A24"/>
                    </a:solidFill>
                    <a:latin typeface="Plus Jakarta Sans"/>
                    <a:ea typeface="Plus Jakarta Sans"/>
                    <a:cs typeface="Plus Jakarta Sans"/>
                    <a:sym typeface="Plus Jakarta Sans"/>
                  </a:rPr>
                  <a:t>TALENT PIPELINE</a:t>
                </a:r>
                <a:endParaRPr sz="833" b="1">
                  <a:solidFill>
                    <a:srgbClr val="1A1A24"/>
                  </a:solidFill>
                  <a:latin typeface="Plus Jakarta Sans"/>
                  <a:ea typeface="Plus Jakarta Sans"/>
                  <a:cs typeface="Plus Jakarta Sans"/>
                  <a:sym typeface="Plus Jakarta Sans"/>
                </a:endParaRPr>
              </a:p>
            </p:txBody>
          </p:sp>
        </p:grpSp>
        <p:sp>
          <p:nvSpPr>
            <p:cNvPr id="576" name="Google Shape;576;p25"/>
            <p:cNvSpPr txBox="1"/>
            <p:nvPr/>
          </p:nvSpPr>
          <p:spPr>
            <a:xfrm>
              <a:off x="190500" y="457200"/>
              <a:ext cx="3619500" cy="10953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1500" b="1">
                  <a:solidFill>
                    <a:srgbClr val="1A1A24"/>
                  </a:solidFill>
                  <a:latin typeface="Space Grotesk"/>
                  <a:ea typeface="Space Grotesk"/>
                  <a:cs typeface="Space Grotesk"/>
                  <a:sym typeface="Space Grotesk"/>
                </a:rPr>
                <a:t>Data-Backed Promotions</a:t>
              </a:r>
              <a:endParaRPr sz="1500" b="1">
                <a:solidFill>
                  <a:srgbClr val="1A1A24"/>
                </a:solidFill>
                <a:latin typeface="Space Grotesk"/>
                <a:ea typeface="Space Grotesk"/>
                <a:cs typeface="Space Grotesk"/>
                <a:sym typeface="Space Grotesk"/>
              </a:endParaRPr>
            </a:p>
            <a:p>
              <a:pPr marL="0" lvl="0" indent="0" algn="l" rtl="0">
                <a:spcBef>
                  <a:spcPts val="600"/>
                </a:spcBef>
                <a:spcAft>
                  <a:spcPts val="0"/>
                </a:spcAft>
                <a:buNone/>
              </a:pPr>
              <a:r>
                <a:rPr lang="en" sz="1050" b="0">
                  <a:solidFill>
                    <a:srgbClr val="4A4A5A"/>
                  </a:solidFill>
                  <a:latin typeface="Plus Jakarta Sans"/>
                  <a:ea typeface="Plus Jakarta Sans"/>
                  <a:cs typeface="Plus Jakarta Sans"/>
                  <a:sym typeface="Plus Jakarta Sans"/>
                </a:rPr>
                <a:t>Supports succession planning across 127 promotion-eligible candidates with a 62.3% advancement probability, retaining top performers transparently.</a:t>
              </a:r>
              <a:endParaRPr sz="1050" b="0">
                <a:solidFill>
                  <a:srgbClr val="4A4A5A"/>
                </a:solidFill>
                <a:latin typeface="Plus Jakarta Sans"/>
                <a:ea typeface="Plus Jakarta Sans"/>
                <a:cs typeface="Plus Jakarta Sans"/>
                <a:sym typeface="Plus Jakarta Sans"/>
              </a:endParaRPr>
            </a:p>
          </p:txBody>
        </p:sp>
      </p:grpSp>
      <p:grpSp>
        <p:nvGrpSpPr>
          <p:cNvPr id="577" name="Google Shape;577;p25"/>
          <p:cNvGrpSpPr/>
          <p:nvPr/>
        </p:nvGrpSpPr>
        <p:grpSpPr>
          <a:xfrm>
            <a:off x="4572000" y="3143250"/>
            <a:ext cx="4248150" cy="1771650"/>
            <a:chOff x="0" y="0"/>
            <a:chExt cx="4248150" cy="1771650"/>
          </a:xfrm>
        </p:grpSpPr>
        <p:sp>
          <p:nvSpPr>
            <p:cNvPr id="578" name="Google Shape;578;p25"/>
            <p:cNvSpPr/>
            <p:nvPr/>
          </p:nvSpPr>
          <p:spPr>
            <a:xfrm>
              <a:off x="57150" y="57150"/>
              <a:ext cx="4191000" cy="1714500"/>
            </a:xfrm>
            <a:prstGeom prst="roundRect">
              <a:avLst>
                <a:gd name="adj" fmla="val 6666"/>
              </a:avLst>
            </a:prstGeom>
            <a:solidFill>
              <a:srgbClr val="1A1A24"/>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79" name="Google Shape;579;p25"/>
            <p:cNvSpPr/>
            <p:nvPr/>
          </p:nvSpPr>
          <p:spPr>
            <a:xfrm>
              <a:off x="0" y="0"/>
              <a:ext cx="4191000" cy="1714500"/>
            </a:xfrm>
            <a:prstGeom prst="roundRect">
              <a:avLst>
                <a:gd name="adj" fmla="val 6666"/>
              </a:avLst>
            </a:prstGeom>
            <a:solidFill>
              <a:srgbClr val="C8B6FF"/>
            </a:solidFill>
            <a:ln w="28575" cap="flat" cmpd="sng">
              <a:solidFill>
                <a:srgbClr val="1A1A24"/>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grpSp>
          <p:nvGrpSpPr>
            <p:cNvPr id="580" name="Google Shape;580;p25"/>
            <p:cNvGrpSpPr/>
            <p:nvPr/>
          </p:nvGrpSpPr>
          <p:grpSpPr>
            <a:xfrm>
              <a:off x="190500" y="171450"/>
              <a:ext cx="1238400" cy="209700"/>
              <a:chOff x="0" y="0"/>
              <a:chExt cx="1238400" cy="209700"/>
            </a:xfrm>
          </p:grpSpPr>
          <p:sp>
            <p:nvSpPr>
              <p:cNvPr id="581" name="Google Shape;581;p25"/>
              <p:cNvSpPr/>
              <p:nvPr/>
            </p:nvSpPr>
            <p:spPr>
              <a:xfrm>
                <a:off x="0" y="0"/>
                <a:ext cx="1238400" cy="209700"/>
              </a:xfrm>
              <a:prstGeom prst="roundRect">
                <a:avLst>
                  <a:gd name="adj" fmla="val 27272"/>
                </a:avLst>
              </a:prstGeom>
              <a:solidFill>
                <a:srgbClr val="FFFFFF"/>
              </a:solidFill>
              <a:ln w="19050" cap="flat" cmpd="sng">
                <a:solidFill>
                  <a:srgbClr val="1A1A24"/>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82" name="Google Shape;582;p25"/>
              <p:cNvSpPr txBox="1"/>
              <p:nvPr/>
            </p:nvSpPr>
            <p:spPr>
              <a:xfrm>
                <a:off x="0" y="0"/>
                <a:ext cx="1238400" cy="2097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833" b="1">
                    <a:solidFill>
                      <a:srgbClr val="1A1A24"/>
                    </a:solidFill>
                    <a:latin typeface="Plus Jakarta Sans"/>
                    <a:ea typeface="Plus Jakarta Sans"/>
                    <a:cs typeface="Plus Jakarta Sans"/>
                    <a:sym typeface="Plus Jakarta Sans"/>
                  </a:rPr>
                  <a:t>FUTURE FORECASTING</a:t>
                </a:r>
                <a:endParaRPr sz="833" b="1">
                  <a:solidFill>
                    <a:srgbClr val="1A1A24"/>
                  </a:solidFill>
                  <a:latin typeface="Plus Jakarta Sans"/>
                  <a:ea typeface="Plus Jakarta Sans"/>
                  <a:cs typeface="Plus Jakarta Sans"/>
                  <a:sym typeface="Plus Jakarta Sans"/>
                </a:endParaRPr>
              </a:p>
            </p:txBody>
          </p:sp>
        </p:grpSp>
        <p:sp>
          <p:nvSpPr>
            <p:cNvPr id="583" name="Google Shape;583;p25"/>
            <p:cNvSpPr txBox="1"/>
            <p:nvPr/>
          </p:nvSpPr>
          <p:spPr>
            <a:xfrm>
              <a:off x="190500" y="457200"/>
              <a:ext cx="3810000" cy="10953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1500" b="1">
                  <a:solidFill>
                    <a:srgbClr val="1A1A24"/>
                  </a:solidFill>
                  <a:latin typeface="Space Grotesk"/>
                  <a:ea typeface="Space Grotesk"/>
                  <a:cs typeface="Space Grotesk"/>
                  <a:sym typeface="Space Grotesk"/>
                </a:rPr>
                <a:t>AI Predictive Modeling</a:t>
              </a:r>
              <a:endParaRPr sz="1500" b="1">
                <a:solidFill>
                  <a:srgbClr val="1A1A24"/>
                </a:solidFill>
                <a:latin typeface="Space Grotesk"/>
                <a:ea typeface="Space Grotesk"/>
                <a:cs typeface="Space Grotesk"/>
                <a:sym typeface="Space Grotesk"/>
              </a:endParaRPr>
            </a:p>
            <a:p>
              <a:pPr marL="0" lvl="0" indent="0" algn="l" rtl="0">
                <a:spcBef>
                  <a:spcPts val="600"/>
                </a:spcBef>
                <a:spcAft>
                  <a:spcPts val="0"/>
                </a:spcAft>
                <a:buNone/>
              </a:pPr>
              <a:r>
                <a:rPr lang="en" sz="1050" b="0">
                  <a:solidFill>
                    <a:srgbClr val="4A4A5A"/>
                  </a:solidFill>
                  <a:latin typeface="Plus Jakarta Sans"/>
                  <a:ea typeface="Plus Jakarta Sans"/>
                  <a:cs typeface="Plus Jakarta Sans"/>
                  <a:sym typeface="Plus Jakarta Sans"/>
                </a:rPr>
                <a:t>Leverages machine learning (86.2% accuracy, 0.912 AUC) to forecast 6-month attrition trends across 1,470 active predictions for long-term workforce stability.</a:t>
              </a:r>
              <a:endParaRPr sz="1050" b="0">
                <a:solidFill>
                  <a:srgbClr val="4A4A5A"/>
                </a:solidFill>
                <a:latin typeface="Plus Jakarta Sans"/>
                <a:ea typeface="Plus Jakarta Sans"/>
                <a:cs typeface="Plus Jakarta Sans"/>
                <a:sym typeface="Plus Jakarta Sans"/>
              </a:endParaRPr>
            </a:p>
          </p:txBody>
        </p:sp>
      </p:grpSp>
    </p:spTree>
  </p:cSld>
  <p:clrMapOvr>
    <a:masterClrMapping/>
  </p:clrMapOvr>
  <mc:AlternateContent xmlns:mc="http://schemas.openxmlformats.org/markup-compatibility/2006">
    <mc:Choice xmlns:p14="http://schemas.microsoft.com/office/powerpoint/2010/main" Requires="p14">
      <p:transition spd="slow" p14:dur="2500">
        <p14:flash/>
      </p:transition>
    </mc:Choice>
    <mc:Fallback>
      <p:transition spd="slow">
        <p:fade/>
      </p:transition>
    </mc:Fallback>
  </mc:AlternateContent>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TotalTime>
  <Words>1289</Words>
  <Application>Microsoft Office PowerPoint</Application>
  <PresentationFormat>On-screen Show (16:9)</PresentationFormat>
  <Paragraphs>218</Paragraphs>
  <Slides>12</Slides>
  <Notes>12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12</vt:i4>
      </vt:variant>
    </vt:vector>
  </HeadingPairs>
  <TitlesOfParts>
    <vt:vector size="21" baseType="lpstr">
      <vt:lpstr>Space Grotesk</vt:lpstr>
      <vt:lpstr>Space Grotesk SemiBold</vt:lpstr>
      <vt:lpstr>Plus Jakarta Sans ExtraBold</vt:lpstr>
      <vt:lpstr>Plus Jakarta Sans</vt:lpstr>
      <vt:lpstr>Plus Jakarta Sans SemiBold</vt:lpstr>
      <vt:lpstr>Space Grotesk Medium</vt:lpstr>
      <vt:lpstr>Arial</vt:lpstr>
      <vt:lpstr>Plus Jakarta Sans Medium</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Sanjay bhargav</cp:lastModifiedBy>
  <cp:revision>1</cp:revision>
  <dcterms:modified xsi:type="dcterms:W3CDTF">2026-09-11T18:51:59Z</dcterms:modified>
</cp:coreProperties>
</file>